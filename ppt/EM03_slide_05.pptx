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522" r:id="rId6"/>
    <p:sldId id="528" r:id="rId7"/>
    <p:sldId id="529" r:id="rId8"/>
    <p:sldId id="531" r:id="rId9"/>
    <p:sldId id="530" r:id="rId10"/>
    <p:sldId id="532" r:id="rId11"/>
    <p:sldId id="525" r:id="rId12"/>
    <p:sldId id="526" r:id="rId13"/>
    <p:sldId id="527" r:id="rId14"/>
  </p:sldIdLst>
  <p:sldSz cx="9906000" cy="6858000" type="A4"/>
  <p:notesSz cx="7104063" cy="10234613"/>
  <p:defaultTextStyle>
    <a:defPPr>
      <a:defRPr lang="en-US"/>
    </a:defPPr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15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07" autoAdjust="0"/>
    <p:restoredTop sz="94667" autoAdjust="0"/>
  </p:normalViewPr>
  <p:slideViewPr>
    <p:cSldViewPr snapToGrid="0">
      <p:cViewPr varScale="1">
        <p:scale>
          <a:sx n="74" d="100"/>
          <a:sy n="74" d="100"/>
        </p:scale>
        <p:origin x="1536" y="72"/>
      </p:cViewPr>
      <p:guideLst>
        <p:guide orient="horz" pos="1440"/>
        <p:guide pos="15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2337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91D68A4-3080-DB10-A46F-97BFD0CC26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F2F2363-DFEA-7A2B-2CE6-E1AA8701A9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CBB43-E31D-44A0-A53C-703516A088F9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EB16FE3-5221-238E-D460-2DAC269E49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2B5AC95-9C93-152E-BE48-A43D7E86BE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34-BF4B-405D-8914-167741DAB7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08310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F5249E7-E526-41BC-878D-DBB27AF3BCB6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9E39443-4C2A-4AA4-9DFB-12BD22F5BB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7324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_日付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2E60C66A-5246-0C33-7EFB-B03F24BFA4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262" y="948258"/>
            <a:ext cx="5241925" cy="21547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025" y="4629151"/>
            <a:ext cx="5365750" cy="1716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32184" indent="-232184">
              <a:buFont typeface="Wingdings" panose="05000000000000000000" pitchFamily="2" charset="2"/>
              <a:buChar char="u"/>
              <a:defRPr sz="1800" b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586" y="0"/>
            <a:ext cx="3164417" cy="6858000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454026" y="4008967"/>
            <a:ext cx="9458854" cy="423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15743" y="5816607"/>
            <a:ext cx="2483379" cy="529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7C654B0C-B33A-8D8D-ACEC-BB834B95B8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15743" y="5054599"/>
            <a:ext cx="2483379" cy="529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（所属）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38704C9-B8A5-3B2A-734D-4CEEF6C32AF9}"/>
              </a:ext>
            </a:extLst>
          </p:cNvPr>
          <p:cNvCxnSpPr>
            <a:cxnSpLocks/>
          </p:cNvCxnSpPr>
          <p:nvPr userDrawn="1"/>
        </p:nvCxnSpPr>
        <p:spPr>
          <a:xfrm flipH="1">
            <a:off x="7415741" y="55880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 userDrawn="1"/>
        </p:nvCxnSpPr>
        <p:spPr>
          <a:xfrm flipH="1">
            <a:off x="7415741" y="63500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6FBA7A68-C898-560C-CB3E-ADD8B948CB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15743" y="677338"/>
            <a:ext cx="2483379" cy="541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0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20XX.XX.XX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9BA9C-1175-8A0A-1481-F936CED2E7E7}"/>
              </a:ext>
            </a:extLst>
          </p:cNvPr>
          <p:cNvCxnSpPr>
            <a:cxnSpLocks/>
          </p:cNvCxnSpPr>
          <p:nvPr/>
        </p:nvCxnSpPr>
        <p:spPr>
          <a:xfrm flipH="1">
            <a:off x="7415741" y="12192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69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区切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586" y="0"/>
            <a:ext cx="3164417" cy="6858000"/>
          </a:xfrm>
          <a:prstGeom prst="rect">
            <a:avLst/>
          </a:prstGeom>
        </p:spPr>
      </p:pic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1" y="2647876"/>
            <a:ext cx="1114750" cy="126959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48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AC37C91-B49D-89A9-E0AC-8107531AC8E2}"/>
              </a:ext>
            </a:extLst>
          </p:cNvPr>
          <p:cNvCxnSpPr>
            <a:cxnSpLocks/>
          </p:cNvCxnSpPr>
          <p:nvPr/>
        </p:nvCxnSpPr>
        <p:spPr>
          <a:xfrm flipH="1">
            <a:off x="774691" y="5193467"/>
            <a:ext cx="913131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4;p3">
            <a:extLst>
              <a:ext uri="{FF2B5EF4-FFF2-40B4-BE49-F238E27FC236}">
                <a16:creationId xmlns:a16="http://schemas.microsoft.com/office/drawing/2014/main" id="{69C38065-EA1F-9A97-BBFE-4F92E612E1F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74691" y="4064718"/>
            <a:ext cx="913131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44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9669B9E8-8BFE-9E3C-BD38-68177AB2768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774691" y="5195583"/>
            <a:ext cx="9131310" cy="1150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78620" lvl="0" indent="-27862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18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 dirty="0"/>
              <a:t>（サブタイトル）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374529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8F4FBA-23B1-E7BC-55EA-C92157C76A8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94231" y="864129"/>
            <a:ext cx="5533910" cy="9525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  <p:sp>
        <p:nvSpPr>
          <p:cNvPr id="46" name="テキスト プレースホルダー 45">
            <a:extLst>
              <a:ext uri="{FF2B5EF4-FFF2-40B4-BE49-F238E27FC236}">
                <a16:creationId xmlns:a16="http://schemas.microsoft.com/office/drawing/2014/main" id="{A02B195C-D26F-AEBF-35FD-AFFE38E679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6067" y="873076"/>
            <a:ext cx="938207" cy="95250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016D126-5BFD-DCAD-051B-6AFFA7CB486E}"/>
              </a:ext>
            </a:extLst>
          </p:cNvPr>
          <p:cNvSpPr txBox="1"/>
          <p:nvPr/>
        </p:nvSpPr>
        <p:spPr>
          <a:xfrm>
            <a:off x="0" y="864129"/>
            <a:ext cx="2238723" cy="9482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ja-JP" altLang="en-US" sz="4388" b="0" dirty="0">
                <a:solidFill>
                  <a:srgbClr val="222222"/>
                </a:solidFill>
                <a:latin typeface="+mn-ea"/>
                <a:ea typeface="+mn-ea"/>
              </a:rPr>
              <a:t>目次</a:t>
            </a:r>
          </a:p>
        </p:txBody>
      </p:sp>
      <p:sp>
        <p:nvSpPr>
          <p:cNvPr id="48" name="テキスト プレースホルダー 45">
            <a:extLst>
              <a:ext uri="{FF2B5EF4-FFF2-40B4-BE49-F238E27FC236}">
                <a16:creationId xmlns:a16="http://schemas.microsoft.com/office/drawing/2014/main" id="{FF58D3B2-4F5A-697D-B687-F1780927D1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86067" y="2954992"/>
            <a:ext cx="938206" cy="95250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50" name="テキスト プレースホルダー 45">
            <a:extLst>
              <a:ext uri="{FF2B5EF4-FFF2-40B4-BE49-F238E27FC236}">
                <a16:creationId xmlns:a16="http://schemas.microsoft.com/office/drawing/2014/main" id="{DD732C78-41F6-EF18-3FA8-ED21F4BC6F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86067" y="5045379"/>
            <a:ext cx="938205" cy="952500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4960C4E-CEB3-B901-89C2-3CEA6ACA3694}"/>
              </a:ext>
            </a:extLst>
          </p:cNvPr>
          <p:cNvCxnSpPr>
            <a:cxnSpLocks/>
          </p:cNvCxnSpPr>
          <p:nvPr/>
        </p:nvCxnSpPr>
        <p:spPr>
          <a:xfrm>
            <a:off x="2238724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910A060F-F713-D733-95DE-DEC083F7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906000" cy="118533"/>
          </a:xfrm>
          <a:prstGeom prst="rect">
            <a:avLst/>
          </a:prstGeom>
        </p:spPr>
      </p:pic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28F37403-90D7-BC04-FE36-2BFFC707CA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4231" y="2952750"/>
            <a:ext cx="5533910" cy="9525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5C8A0F62-5953-6705-A53D-7E6C608978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94231" y="5041371"/>
            <a:ext cx="5533910" cy="9525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 dirty="0"/>
              <a:t>（タイトル）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804486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7">
            <a:extLst>
              <a:ext uri="{FF2B5EF4-FFF2-40B4-BE49-F238E27FC236}">
                <a16:creationId xmlns:a16="http://schemas.microsoft.com/office/drawing/2014/main" id="{894DFE0A-23DB-321A-C61C-D109C8EFEFD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195131"/>
            <a:ext cx="9906000" cy="5336227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Arial" panose="020B0604020202020204" pitchFamily="34" charset="0"/>
              <a:buChar char="•"/>
              <a:defRPr sz="54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2603888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903F63D6-75C4-873E-9AEB-48A0A594F2B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4385887"/>
            <a:ext cx="9906000" cy="2145471"/>
          </a:xfrm>
          <a:prstGeom prst="rect">
            <a:avLst/>
          </a:prstGeom>
        </p:spPr>
        <p:txBody>
          <a:bodyPr anchor="ctr"/>
          <a:lstStyle>
            <a:lvl1pPr marL="571500" indent="-571500">
              <a:buFont typeface="Wingdings" panose="05000000000000000000" pitchFamily="2" charset="2"/>
              <a:buChar char="u"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C99DC69-B2BE-AF3C-2016-7072E86F3ADF}"/>
              </a:ext>
            </a:extLst>
          </p:cNvPr>
          <p:cNvCxnSpPr>
            <a:cxnSpLocks/>
          </p:cNvCxnSpPr>
          <p:nvPr userDrawn="1"/>
        </p:nvCxnSpPr>
        <p:spPr>
          <a:xfrm>
            <a:off x="529698" y="4385887"/>
            <a:ext cx="88466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02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11CDBE10-81F4-8A38-6D5A-AF98C75BB63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53000" y="1195131"/>
            <a:ext cx="4953000" cy="5661084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Wingdings" panose="05000000000000000000" pitchFamily="2" charset="2"/>
              <a:buChar char="u"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  <a:endParaRPr kumimoji="1" lang="en-US" altLang="ja-JP" dirty="0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6271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E7852104-1467-691B-B27B-A4C34267C1C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843505" cy="719689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DCB1C015-A3C0-D2EB-C569-9A9530B204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732177"/>
            <a:ext cx="9906000" cy="4244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+mn-lt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0D17589A-FF8B-457E-3793-602EE0F910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3457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B989BA91-A029-83C8-8B85-B5DC0A72F6E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080147" y="2430882"/>
            <a:ext cx="3745706" cy="1996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9345" b="0">
                <a:solidFill>
                  <a:schemeClr val="tx1"/>
                </a:solidFill>
                <a:latin typeface="+mn-ea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（終）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911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3" r:id="rId2"/>
    <p:sldLayoutId id="2147483657" r:id="rId3"/>
    <p:sldLayoutId id="2147483666" r:id="rId4"/>
    <p:sldLayoutId id="2147483672" r:id="rId5"/>
    <p:sldLayoutId id="2147483673" r:id="rId6"/>
    <p:sldLayoutId id="2147483668" r:id="rId7"/>
    <p:sldLayoutId id="2147483667" r:id="rId8"/>
  </p:sldLayoutIdLst>
  <p:hf hdr="0" ftr="0" dt="0"/>
  <p:txStyles>
    <p:titleStyle>
      <a:lvl1pPr algn="ctr" defTabSz="495350" rtl="0" eaLnBrk="1" latinLnBrk="0" hangingPunct="1">
        <a:spcBef>
          <a:spcPct val="0"/>
        </a:spcBef>
        <a:buNone/>
        <a:defRPr kumimoji="1" sz="23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55" indent="-185755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02472" indent="-154797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619187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6862" indent="-123838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4pPr>
      <a:lvl5pPr marL="1114537" indent="-123838" algn="l" defTabSz="495350" rtl="0" eaLnBrk="1" latinLnBrk="0" hangingPunct="1">
        <a:spcBef>
          <a:spcPct val="20000"/>
        </a:spcBef>
        <a:buFont typeface="Arial" pitchFamily="34" charset="0"/>
        <a:buChar char="»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5pPr>
      <a:lvl6pPr marL="136221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6pPr>
      <a:lvl7pPr marL="160988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7pPr>
      <a:lvl8pPr marL="185756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8pPr>
      <a:lvl9pPr marL="210523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76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9535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4302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9070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383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8604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33723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8139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x.com/hojicya_study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939978-DAE0-509B-8746-9CD0295F6C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4025" y="948260"/>
            <a:ext cx="5235046" cy="215899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95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1" lang="ja-JP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中学理科 物理分野</a:t>
            </a:r>
            <a:endParaRPr kumimoji="1" lang="en-US" altLang="ja-JP" sz="40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495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1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～エネルギーと発電～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1F006FB-7360-663F-300D-D083AC6B32F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415743" y="5816607"/>
            <a:ext cx="2483379" cy="529163"/>
          </a:xfrm>
          <a:prstGeom prst="rect">
            <a:avLst/>
          </a:prstGeom>
        </p:spPr>
        <p:txBody>
          <a:bodyPr anchor="ctr"/>
          <a:lstStyle/>
          <a:p>
            <a:pPr marL="0" indent="0">
              <a:buNone/>
            </a:pPr>
            <a:r>
              <a:rPr kumimoji="1" lang="en-US" altLang="ja-JP" sz="2000" dirty="0">
                <a:hlinkClick r:id="rId2"/>
              </a:rPr>
              <a:t>@hojicya_study</a:t>
            </a:r>
            <a:endParaRPr kumimoji="1" lang="ja-JP" altLang="en-US" sz="20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4D7783-37F6-E1C3-6D6E-A13051B99D0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415743" y="5054599"/>
            <a:ext cx="2483379" cy="529168"/>
          </a:xfrm>
          <a:prstGeom prst="rect">
            <a:avLst/>
          </a:prstGeom>
        </p:spPr>
        <p:txBody>
          <a:bodyPr anchor="ctr"/>
          <a:lstStyle/>
          <a:p>
            <a:pPr marL="0" indent="0">
              <a:buNone/>
            </a:pPr>
            <a:r>
              <a:rPr kumimoji="1" lang="ja-JP" altLang="en-US" sz="2000" dirty="0"/>
              <a:t>ほうじ茶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2E33FE69-0438-B936-B7E3-91746A1F44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kumimoji="1" lang="en-US" altLang="ja-JP" sz="2000" dirty="0"/>
              <a:t>Yr. 2025</a:t>
            </a:r>
            <a:endParaRPr kumimoji="1" lang="ja-JP" altLang="en-US" sz="2000" dirty="0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2248125E-6993-14C1-E70F-B0AB3EAC28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46722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水の循環のイラスト">
            <a:extLst>
              <a:ext uri="{FF2B5EF4-FFF2-40B4-BE49-F238E27FC236}">
                <a16:creationId xmlns:a16="http://schemas.microsoft.com/office/drawing/2014/main" id="{0EA134C5-CC13-B10E-6271-85301767C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1756" y="464451"/>
            <a:ext cx="2191161" cy="177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103CA40-562D-0E59-1382-80CE08523A5D}"/>
              </a:ext>
            </a:extLst>
          </p:cNvPr>
          <p:cNvSpPr/>
          <p:nvPr/>
        </p:nvSpPr>
        <p:spPr>
          <a:xfrm>
            <a:off x="7658398" y="554261"/>
            <a:ext cx="494797" cy="9562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136" name="グループ化 1135">
            <a:extLst>
              <a:ext uri="{FF2B5EF4-FFF2-40B4-BE49-F238E27FC236}">
                <a16:creationId xmlns:a16="http://schemas.microsoft.com/office/drawing/2014/main" id="{8E759071-6572-B8CE-628C-0257E05A52F0}"/>
              </a:ext>
            </a:extLst>
          </p:cNvPr>
          <p:cNvGrpSpPr/>
          <p:nvPr/>
        </p:nvGrpSpPr>
        <p:grpSpPr>
          <a:xfrm>
            <a:off x="4160014" y="1150979"/>
            <a:ext cx="2583818" cy="1617984"/>
            <a:chOff x="3428763" y="1536770"/>
            <a:chExt cx="2583818" cy="1617984"/>
          </a:xfrm>
        </p:grpSpPr>
        <p:pic>
          <p:nvPicPr>
            <p:cNvPr id="1044" name="Picture 20" descr="海辺・ビーチのイラスト（背景素材）">
              <a:extLst>
                <a:ext uri="{FF2B5EF4-FFF2-40B4-BE49-F238E27FC236}">
                  <a16:creationId xmlns:a16="http://schemas.microsoft.com/office/drawing/2014/main" id="{E7C425FC-DB8D-EBCC-30A0-49984BF3A3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5" r="5184"/>
            <a:stretch>
              <a:fillRect/>
            </a:stretch>
          </p:blipFill>
          <p:spPr bwMode="auto">
            <a:xfrm>
              <a:off x="3428763" y="1536770"/>
              <a:ext cx="2583818" cy="1617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BB6A01E1-2C54-0C6F-F334-C307BC1B4860}"/>
                </a:ext>
              </a:extLst>
            </p:cNvPr>
            <p:cNvSpPr txBox="1"/>
            <p:nvPr/>
          </p:nvSpPr>
          <p:spPr>
            <a:xfrm>
              <a:off x="4004179" y="242664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>
                  <a:solidFill>
                    <a:schemeClr val="accent2"/>
                  </a:solidFill>
                </a:rPr>
                <a:t>海</a:t>
              </a:r>
            </a:p>
          </p:txBody>
        </p:sp>
      </p:grp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A3D87DF7-4CFF-D780-6F18-C4378D3F49A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3C57A22-2A19-A6E0-6A13-642A640E9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身近なエネルギー相関</a:t>
            </a:r>
          </a:p>
        </p:txBody>
      </p:sp>
      <p:grpSp>
        <p:nvGrpSpPr>
          <p:cNvPr id="1142" name="グループ化 1141">
            <a:extLst>
              <a:ext uri="{FF2B5EF4-FFF2-40B4-BE49-F238E27FC236}">
                <a16:creationId xmlns:a16="http://schemas.microsoft.com/office/drawing/2014/main" id="{2089C9C3-6B2C-B77C-1823-C19B81FB1948}"/>
              </a:ext>
            </a:extLst>
          </p:cNvPr>
          <p:cNvGrpSpPr/>
          <p:nvPr/>
        </p:nvGrpSpPr>
        <p:grpSpPr>
          <a:xfrm>
            <a:off x="688311" y="3884058"/>
            <a:ext cx="1661906" cy="757351"/>
            <a:chOff x="688311" y="3884058"/>
            <a:chExt cx="1661906" cy="757351"/>
          </a:xfrm>
        </p:grpSpPr>
        <p:pic>
          <p:nvPicPr>
            <p:cNvPr id="1032" name="Picture 8" descr="石炭のイラスト">
              <a:extLst>
                <a:ext uri="{FF2B5EF4-FFF2-40B4-BE49-F238E27FC236}">
                  <a16:creationId xmlns:a16="http://schemas.microsoft.com/office/drawing/2014/main" id="{B3C3A643-D907-3F6D-68C6-3EEC247099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8871" y="3884058"/>
              <a:ext cx="681346" cy="681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ドラム缶に入った石油のイラスト">
              <a:extLst>
                <a:ext uri="{FF2B5EF4-FFF2-40B4-BE49-F238E27FC236}">
                  <a16:creationId xmlns:a16="http://schemas.microsoft.com/office/drawing/2014/main" id="{3AB45EAA-BA05-81E3-FE1C-AF4CEE5724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311" y="3892677"/>
              <a:ext cx="681346" cy="748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6" name="Picture 12" descr="オープンカーのイラスト（車）">
            <a:extLst>
              <a:ext uri="{FF2B5EF4-FFF2-40B4-BE49-F238E27FC236}">
                <a16:creationId xmlns:a16="http://schemas.microsoft.com/office/drawing/2014/main" id="{7ACCE160-7BFF-2889-3F25-AD887F2A6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97" y="5589695"/>
            <a:ext cx="1397479" cy="88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41" name="グループ化 1140">
            <a:extLst>
              <a:ext uri="{FF2B5EF4-FFF2-40B4-BE49-F238E27FC236}">
                <a16:creationId xmlns:a16="http://schemas.microsoft.com/office/drawing/2014/main" id="{54F3BB4B-356F-F54A-D823-7C569DEB3ADB}"/>
              </a:ext>
            </a:extLst>
          </p:cNvPr>
          <p:cNvGrpSpPr/>
          <p:nvPr/>
        </p:nvGrpSpPr>
        <p:grpSpPr>
          <a:xfrm>
            <a:off x="619286" y="1984117"/>
            <a:ext cx="1760761" cy="1145338"/>
            <a:chOff x="619286" y="1984117"/>
            <a:chExt cx="1760761" cy="1145338"/>
          </a:xfrm>
        </p:grpSpPr>
        <p:pic>
          <p:nvPicPr>
            <p:cNvPr id="1038" name="Picture 14" descr="温室植物園のイラスト">
              <a:extLst>
                <a:ext uri="{FF2B5EF4-FFF2-40B4-BE49-F238E27FC236}">
                  <a16:creationId xmlns:a16="http://schemas.microsoft.com/office/drawing/2014/main" id="{BDC0D6DF-EEB6-DDEC-0B47-CDA022D753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4973" y="2384381"/>
              <a:ext cx="745074" cy="7450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ウインクする猫のイラスト（茶トラ）">
              <a:extLst>
                <a:ext uri="{FF2B5EF4-FFF2-40B4-BE49-F238E27FC236}">
                  <a16:creationId xmlns:a16="http://schemas.microsoft.com/office/drawing/2014/main" id="{55D20675-E34F-63BB-40DA-E5CFD33F0F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286" y="1984117"/>
              <a:ext cx="812808" cy="7450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8" name="Picture 4" descr="雲のイラスト">
            <a:extLst>
              <a:ext uri="{FF2B5EF4-FFF2-40B4-BE49-F238E27FC236}">
                <a16:creationId xmlns:a16="http://schemas.microsoft.com/office/drawing/2014/main" id="{45491EAA-6359-CD00-1665-56856CDC7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643" y="610352"/>
            <a:ext cx="797441" cy="71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D20CACC1-E93C-081A-A6FC-0872BE74FDAA}"/>
              </a:ext>
            </a:extLst>
          </p:cNvPr>
          <p:cNvGrpSpPr/>
          <p:nvPr/>
        </p:nvGrpSpPr>
        <p:grpSpPr>
          <a:xfrm>
            <a:off x="2280496" y="668977"/>
            <a:ext cx="1224140" cy="1240683"/>
            <a:chOff x="2280496" y="668977"/>
            <a:chExt cx="1224140" cy="1240683"/>
          </a:xfrm>
        </p:grpSpPr>
        <p:pic>
          <p:nvPicPr>
            <p:cNvPr id="1030" name="Picture 6" descr="太陽のイラスト（黄）">
              <a:extLst>
                <a:ext uri="{FF2B5EF4-FFF2-40B4-BE49-F238E27FC236}">
                  <a16:creationId xmlns:a16="http://schemas.microsoft.com/office/drawing/2014/main" id="{D8008923-320E-ED88-2ABB-BB63A44B82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0496" y="668977"/>
              <a:ext cx="1224140" cy="12406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6DFEAD52-AB72-D9E0-FA90-17BFA8307FEA}"/>
                </a:ext>
              </a:extLst>
            </p:cNvPr>
            <p:cNvSpPr txBox="1"/>
            <p:nvPr/>
          </p:nvSpPr>
          <p:spPr>
            <a:xfrm>
              <a:off x="2543752" y="1093276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太陽</a:t>
              </a:r>
            </a:p>
          </p:txBody>
        </p:sp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E6C00AE-E6A5-9309-FF0A-26FB2D0CFED2}"/>
              </a:ext>
            </a:extLst>
          </p:cNvPr>
          <p:cNvSpPr txBox="1"/>
          <p:nvPr/>
        </p:nvSpPr>
        <p:spPr>
          <a:xfrm>
            <a:off x="635909" y="981978"/>
            <a:ext cx="1467068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光エネルギ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5567B80-676A-8E4D-6F4F-CCAC60791893}"/>
              </a:ext>
            </a:extLst>
          </p:cNvPr>
          <p:cNvSpPr txBox="1"/>
          <p:nvPr/>
        </p:nvSpPr>
        <p:spPr>
          <a:xfrm>
            <a:off x="3631733" y="1548321"/>
            <a:ext cx="1467068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熱エネルギ</a:t>
            </a: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643410AA-4AE3-6271-83C8-B115825016E4}"/>
              </a:ext>
            </a:extLst>
          </p:cNvPr>
          <p:cNvCxnSpPr>
            <a:cxnSpLocks/>
          </p:cNvCxnSpPr>
          <p:nvPr/>
        </p:nvCxnSpPr>
        <p:spPr>
          <a:xfrm flipH="1">
            <a:off x="1369657" y="1630663"/>
            <a:ext cx="756185" cy="278997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06D41D43-8D07-FDE2-43DE-6A00E0646E8C}"/>
              </a:ext>
            </a:extLst>
          </p:cNvPr>
          <p:cNvCxnSpPr>
            <a:cxnSpLocks/>
          </p:cNvCxnSpPr>
          <p:nvPr/>
        </p:nvCxnSpPr>
        <p:spPr>
          <a:xfrm flipH="1">
            <a:off x="1762125" y="1783063"/>
            <a:ext cx="516117" cy="550562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214DAFC6-B7F4-82A8-3C15-4A99B2CFF5D9}"/>
              </a:ext>
            </a:extLst>
          </p:cNvPr>
          <p:cNvCxnSpPr>
            <a:cxnSpLocks/>
          </p:cNvCxnSpPr>
          <p:nvPr/>
        </p:nvCxnSpPr>
        <p:spPr>
          <a:xfrm flipH="1">
            <a:off x="2350217" y="1983916"/>
            <a:ext cx="139134" cy="431513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629EE3D-0B92-8EBA-06CB-FD852C61F763}"/>
              </a:ext>
            </a:extLst>
          </p:cNvPr>
          <p:cNvCxnSpPr>
            <a:cxnSpLocks/>
          </p:cNvCxnSpPr>
          <p:nvPr/>
        </p:nvCxnSpPr>
        <p:spPr>
          <a:xfrm flipV="1">
            <a:off x="5505008" y="1330041"/>
            <a:ext cx="12893" cy="813589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F26EF27-5AF6-C9A1-3001-0D2D88AECA49}"/>
              </a:ext>
            </a:extLst>
          </p:cNvPr>
          <p:cNvCxnSpPr>
            <a:cxnSpLocks/>
            <a:stCxn id="1034" idx="2"/>
            <a:endCxn id="1036" idx="0"/>
          </p:cNvCxnSpPr>
          <p:nvPr/>
        </p:nvCxnSpPr>
        <p:spPr>
          <a:xfrm flipH="1">
            <a:off x="914537" y="4641409"/>
            <a:ext cx="114447" cy="948286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0CCC0226-789D-33D1-CE61-69826E8629F9}"/>
              </a:ext>
            </a:extLst>
          </p:cNvPr>
          <p:cNvCxnSpPr>
            <a:cxnSpLocks/>
            <a:stCxn id="1032" idx="2"/>
          </p:cNvCxnSpPr>
          <p:nvPr/>
        </p:nvCxnSpPr>
        <p:spPr>
          <a:xfrm>
            <a:off x="2009544" y="4565404"/>
            <a:ext cx="295767" cy="941504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3DD7F12-9E0A-A892-201A-AF8F9A37AE32}"/>
              </a:ext>
            </a:extLst>
          </p:cNvPr>
          <p:cNvSpPr txBox="1"/>
          <p:nvPr/>
        </p:nvSpPr>
        <p:spPr>
          <a:xfrm>
            <a:off x="865042" y="4804183"/>
            <a:ext cx="1467068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熱エネルギ</a:t>
            </a:r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71A3FC8A-757B-2FCE-A2BB-B77CD11E9689}"/>
              </a:ext>
            </a:extLst>
          </p:cNvPr>
          <p:cNvCxnSpPr>
            <a:cxnSpLocks/>
          </p:cNvCxnSpPr>
          <p:nvPr/>
        </p:nvCxnSpPr>
        <p:spPr>
          <a:xfrm flipH="1">
            <a:off x="1062710" y="2857709"/>
            <a:ext cx="167400" cy="95429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4" name="直線矢印コネクタ 1023">
            <a:extLst>
              <a:ext uri="{FF2B5EF4-FFF2-40B4-BE49-F238E27FC236}">
                <a16:creationId xmlns:a16="http://schemas.microsoft.com/office/drawing/2014/main" id="{19306246-2927-B95B-BAB7-EDA69946D6C6}"/>
              </a:ext>
            </a:extLst>
          </p:cNvPr>
          <p:cNvCxnSpPr>
            <a:cxnSpLocks/>
          </p:cNvCxnSpPr>
          <p:nvPr/>
        </p:nvCxnSpPr>
        <p:spPr>
          <a:xfrm>
            <a:off x="1613276" y="3071803"/>
            <a:ext cx="199419" cy="75094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27" name="テキスト ボックス 1026">
            <a:extLst>
              <a:ext uri="{FF2B5EF4-FFF2-40B4-BE49-F238E27FC236}">
                <a16:creationId xmlns:a16="http://schemas.microsoft.com/office/drawing/2014/main" id="{0707098B-BD6D-F59B-F30D-5DDB416BCDF9}"/>
              </a:ext>
            </a:extLst>
          </p:cNvPr>
          <p:cNvSpPr txBox="1"/>
          <p:nvPr/>
        </p:nvSpPr>
        <p:spPr>
          <a:xfrm>
            <a:off x="531378" y="3172073"/>
            <a:ext cx="1723549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化学エネルギ</a:t>
            </a:r>
          </a:p>
        </p:txBody>
      </p:sp>
      <p:grpSp>
        <p:nvGrpSpPr>
          <p:cNvPr id="1130" name="グループ化 1129">
            <a:extLst>
              <a:ext uri="{FF2B5EF4-FFF2-40B4-BE49-F238E27FC236}">
                <a16:creationId xmlns:a16="http://schemas.microsoft.com/office/drawing/2014/main" id="{82DC555F-0D4F-5747-53C0-E793EDEC0625}"/>
              </a:ext>
            </a:extLst>
          </p:cNvPr>
          <p:cNvGrpSpPr/>
          <p:nvPr/>
        </p:nvGrpSpPr>
        <p:grpSpPr>
          <a:xfrm>
            <a:off x="4740298" y="3087955"/>
            <a:ext cx="2156166" cy="1627626"/>
            <a:chOff x="4740299" y="3496820"/>
            <a:chExt cx="2156166" cy="1627626"/>
          </a:xfrm>
        </p:grpSpPr>
        <p:pic>
          <p:nvPicPr>
            <p:cNvPr id="22" name="図 21" descr="設計図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F5C7975-6573-0AA1-68FD-930A2846D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6" t="51041" r="72380" b="26423"/>
            <a:stretch>
              <a:fillRect/>
            </a:stretch>
          </p:blipFill>
          <p:spPr>
            <a:xfrm>
              <a:off x="4784908" y="3496820"/>
              <a:ext cx="1253725" cy="1110842"/>
            </a:xfrm>
            <a:prstGeom prst="rect">
              <a:avLst/>
            </a:prstGeom>
          </p:spPr>
        </p:pic>
        <p:pic>
          <p:nvPicPr>
            <p:cNvPr id="23" name="図 22" descr="設計図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250AB70C-94AC-6483-50E0-E1936F514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95" t="51041" r="37252" b="26423"/>
            <a:stretch>
              <a:fillRect/>
            </a:stretch>
          </p:blipFill>
          <p:spPr>
            <a:xfrm>
              <a:off x="5630413" y="4013604"/>
              <a:ext cx="1266052" cy="1110842"/>
            </a:xfrm>
            <a:prstGeom prst="rect">
              <a:avLst/>
            </a:prstGeom>
          </p:spPr>
        </p:pic>
        <p:sp>
          <p:nvSpPr>
            <p:cNvPr id="1033" name="テキスト ボックス 1032">
              <a:extLst>
                <a:ext uri="{FF2B5EF4-FFF2-40B4-BE49-F238E27FC236}">
                  <a16:creationId xmlns:a16="http://schemas.microsoft.com/office/drawing/2014/main" id="{DBC4FB80-5467-9CBD-FFC0-49321C0DD2CB}"/>
                </a:ext>
              </a:extLst>
            </p:cNvPr>
            <p:cNvSpPr txBox="1"/>
            <p:nvPr/>
          </p:nvSpPr>
          <p:spPr>
            <a:xfrm>
              <a:off x="4740299" y="4658966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/>
                <a:t>変電所</a:t>
              </a:r>
            </a:p>
          </p:txBody>
        </p:sp>
      </p:grpSp>
      <p:grpSp>
        <p:nvGrpSpPr>
          <p:cNvPr id="1133" name="グループ化 1132">
            <a:extLst>
              <a:ext uri="{FF2B5EF4-FFF2-40B4-BE49-F238E27FC236}">
                <a16:creationId xmlns:a16="http://schemas.microsoft.com/office/drawing/2014/main" id="{A52E37D3-0F7F-CD5A-A924-DD4C01B385F8}"/>
              </a:ext>
            </a:extLst>
          </p:cNvPr>
          <p:cNvGrpSpPr/>
          <p:nvPr/>
        </p:nvGrpSpPr>
        <p:grpSpPr>
          <a:xfrm>
            <a:off x="7539332" y="2390932"/>
            <a:ext cx="2327125" cy="1017887"/>
            <a:chOff x="7477845" y="2305743"/>
            <a:chExt cx="2327125" cy="1017887"/>
          </a:xfrm>
        </p:grpSpPr>
        <p:pic>
          <p:nvPicPr>
            <p:cNvPr id="14" name="図 13" descr="グラフィカル ユーザー インターフェイス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BF6A21C-E32E-029B-1E33-D9E1B6665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001" t="35177" r="34623" b="37131"/>
            <a:stretch>
              <a:fillRect/>
            </a:stretch>
          </p:blipFill>
          <p:spPr>
            <a:xfrm>
              <a:off x="7477845" y="2305743"/>
              <a:ext cx="1116537" cy="1017887"/>
            </a:xfrm>
            <a:prstGeom prst="rect">
              <a:avLst/>
            </a:prstGeom>
          </p:spPr>
        </p:pic>
        <p:sp>
          <p:nvSpPr>
            <p:cNvPr id="1037" name="テキスト ボックス 1036">
              <a:extLst>
                <a:ext uri="{FF2B5EF4-FFF2-40B4-BE49-F238E27FC236}">
                  <a16:creationId xmlns:a16="http://schemas.microsoft.com/office/drawing/2014/main" id="{4C9A9DAB-D76E-0700-C0C2-F55B14393FB8}"/>
                </a:ext>
              </a:extLst>
            </p:cNvPr>
            <p:cNvSpPr txBox="1"/>
            <p:nvPr/>
          </p:nvSpPr>
          <p:spPr>
            <a:xfrm>
              <a:off x="8594382" y="2857133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/>
                <a:t>水力発電</a:t>
              </a:r>
            </a:p>
          </p:txBody>
        </p:sp>
      </p:grpSp>
      <p:grpSp>
        <p:nvGrpSpPr>
          <p:cNvPr id="1138" name="グループ化 1137">
            <a:extLst>
              <a:ext uri="{FF2B5EF4-FFF2-40B4-BE49-F238E27FC236}">
                <a16:creationId xmlns:a16="http://schemas.microsoft.com/office/drawing/2014/main" id="{2732BE17-241C-20DE-16C7-DC16235DF277}"/>
              </a:ext>
            </a:extLst>
          </p:cNvPr>
          <p:cNvGrpSpPr/>
          <p:nvPr/>
        </p:nvGrpSpPr>
        <p:grpSpPr>
          <a:xfrm>
            <a:off x="2465966" y="3136056"/>
            <a:ext cx="1726876" cy="1363982"/>
            <a:chOff x="2465966" y="3136056"/>
            <a:chExt cx="1726876" cy="1363982"/>
          </a:xfrm>
        </p:grpSpPr>
        <p:pic>
          <p:nvPicPr>
            <p:cNvPr id="24" name="図 23" descr="グラフィカル ユーザー インターフェイス, アプリケーション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1F8C71F7-E5EF-0D96-D3BF-FCB7343AA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542" t="1922" r="49083" b="59451"/>
            <a:stretch>
              <a:fillRect/>
            </a:stretch>
          </p:blipFill>
          <p:spPr>
            <a:xfrm>
              <a:off x="2772294" y="3136056"/>
              <a:ext cx="1420548" cy="1363982"/>
            </a:xfrm>
            <a:prstGeom prst="rect">
              <a:avLst/>
            </a:prstGeom>
          </p:spPr>
        </p:pic>
        <p:sp>
          <p:nvSpPr>
            <p:cNvPr id="1039" name="テキスト ボックス 1038">
              <a:extLst>
                <a:ext uri="{FF2B5EF4-FFF2-40B4-BE49-F238E27FC236}">
                  <a16:creationId xmlns:a16="http://schemas.microsoft.com/office/drawing/2014/main" id="{580C6FD0-C7DF-B644-E65C-1ABBB271B15F}"/>
                </a:ext>
              </a:extLst>
            </p:cNvPr>
            <p:cNvSpPr txBox="1"/>
            <p:nvPr/>
          </p:nvSpPr>
          <p:spPr>
            <a:xfrm>
              <a:off x="2465966" y="3373026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/>
                <a:t>太陽光発電</a:t>
              </a:r>
            </a:p>
          </p:txBody>
        </p:sp>
      </p:grpSp>
      <p:grpSp>
        <p:nvGrpSpPr>
          <p:cNvPr id="1137" name="グループ化 1136">
            <a:extLst>
              <a:ext uri="{FF2B5EF4-FFF2-40B4-BE49-F238E27FC236}">
                <a16:creationId xmlns:a16="http://schemas.microsoft.com/office/drawing/2014/main" id="{0F76C273-278F-01CB-B873-035AFF3B8D7C}"/>
              </a:ext>
            </a:extLst>
          </p:cNvPr>
          <p:cNvGrpSpPr/>
          <p:nvPr/>
        </p:nvGrpSpPr>
        <p:grpSpPr>
          <a:xfrm>
            <a:off x="2112207" y="5651319"/>
            <a:ext cx="2236140" cy="1056185"/>
            <a:chOff x="2078436" y="5795400"/>
            <a:chExt cx="2236140" cy="1056185"/>
          </a:xfrm>
        </p:grpSpPr>
        <p:pic>
          <p:nvPicPr>
            <p:cNvPr id="25" name="図 24" descr="グラフィカル ユーザー インターフェイス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2BA2467-36EA-7D45-B6F0-7BD94D43D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101" t="1855" r="3889" b="70492"/>
            <a:stretch>
              <a:fillRect/>
            </a:stretch>
          </p:blipFill>
          <p:spPr>
            <a:xfrm>
              <a:off x="2078436" y="5795400"/>
              <a:ext cx="1106422" cy="1019500"/>
            </a:xfrm>
            <a:prstGeom prst="rect">
              <a:avLst/>
            </a:prstGeom>
          </p:spPr>
        </p:pic>
        <p:sp>
          <p:nvSpPr>
            <p:cNvPr id="1041" name="テキスト ボックス 1040">
              <a:extLst>
                <a:ext uri="{FF2B5EF4-FFF2-40B4-BE49-F238E27FC236}">
                  <a16:creationId xmlns:a16="http://schemas.microsoft.com/office/drawing/2014/main" id="{39269864-21AA-6079-11EB-38D7C415EA78}"/>
                </a:ext>
              </a:extLst>
            </p:cNvPr>
            <p:cNvSpPr txBox="1"/>
            <p:nvPr/>
          </p:nvSpPr>
          <p:spPr>
            <a:xfrm>
              <a:off x="3103988" y="6451475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/>
                <a:t>火力発電</a:t>
              </a:r>
            </a:p>
          </p:txBody>
        </p:sp>
      </p:grpSp>
      <p:grpSp>
        <p:nvGrpSpPr>
          <p:cNvPr id="1132" name="グループ化 1131">
            <a:extLst>
              <a:ext uri="{FF2B5EF4-FFF2-40B4-BE49-F238E27FC236}">
                <a16:creationId xmlns:a16="http://schemas.microsoft.com/office/drawing/2014/main" id="{FE09AF4A-64F8-0EE9-0C5C-3BBBDFBDBDB8}"/>
              </a:ext>
            </a:extLst>
          </p:cNvPr>
          <p:cNvGrpSpPr/>
          <p:nvPr/>
        </p:nvGrpSpPr>
        <p:grpSpPr>
          <a:xfrm>
            <a:off x="7905796" y="3591549"/>
            <a:ext cx="1694629" cy="1292071"/>
            <a:chOff x="7932501" y="3692622"/>
            <a:chExt cx="1694629" cy="1292071"/>
          </a:xfrm>
        </p:grpSpPr>
        <p:pic>
          <p:nvPicPr>
            <p:cNvPr id="1050" name="Picture 26" descr="旋盤のイラスト">
              <a:extLst>
                <a:ext uri="{FF2B5EF4-FFF2-40B4-BE49-F238E27FC236}">
                  <a16:creationId xmlns:a16="http://schemas.microsoft.com/office/drawing/2014/main" id="{D3EEBE3F-B2F8-63E0-C73A-C5ACB345FA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2501" y="3934177"/>
              <a:ext cx="1479600" cy="1050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3" name="テキスト ボックス 1042">
              <a:extLst>
                <a:ext uri="{FF2B5EF4-FFF2-40B4-BE49-F238E27FC236}">
                  <a16:creationId xmlns:a16="http://schemas.microsoft.com/office/drawing/2014/main" id="{98D009D6-2D96-63EF-AA13-F764309F9696}"/>
                </a:ext>
              </a:extLst>
            </p:cNvPr>
            <p:cNvSpPr txBox="1"/>
            <p:nvPr/>
          </p:nvSpPr>
          <p:spPr>
            <a:xfrm>
              <a:off x="8929503" y="3692622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/>
                <a:t>機械</a:t>
              </a:r>
            </a:p>
          </p:txBody>
        </p:sp>
      </p:grpSp>
      <p:grpSp>
        <p:nvGrpSpPr>
          <p:cNvPr id="1139" name="グループ化 1138">
            <a:extLst>
              <a:ext uri="{FF2B5EF4-FFF2-40B4-BE49-F238E27FC236}">
                <a16:creationId xmlns:a16="http://schemas.microsoft.com/office/drawing/2014/main" id="{29935C89-ACA0-C128-9170-82C297CC80BE}"/>
              </a:ext>
            </a:extLst>
          </p:cNvPr>
          <p:cNvGrpSpPr/>
          <p:nvPr/>
        </p:nvGrpSpPr>
        <p:grpSpPr>
          <a:xfrm>
            <a:off x="7658092" y="5276858"/>
            <a:ext cx="1879709" cy="1479600"/>
            <a:chOff x="7761734" y="5436281"/>
            <a:chExt cx="1879709" cy="1479600"/>
          </a:xfrm>
        </p:grpSpPr>
        <p:pic>
          <p:nvPicPr>
            <p:cNvPr id="1046" name="Picture 22" descr="新幹線のフリーイラスト Clip art of shinkansen">
              <a:extLst>
                <a:ext uri="{FF2B5EF4-FFF2-40B4-BE49-F238E27FC236}">
                  <a16:creationId xmlns:a16="http://schemas.microsoft.com/office/drawing/2014/main" id="{541D069B-2564-8BF7-CDD6-01FEA59DB8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1734" y="5436281"/>
              <a:ext cx="1479600" cy="147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5" name="テキスト ボックス 1044">
              <a:extLst>
                <a:ext uri="{FF2B5EF4-FFF2-40B4-BE49-F238E27FC236}">
                  <a16:creationId xmlns:a16="http://schemas.microsoft.com/office/drawing/2014/main" id="{EC1B8E47-D9F2-0EE6-D374-AC26ABE4D601}"/>
                </a:ext>
              </a:extLst>
            </p:cNvPr>
            <p:cNvSpPr txBox="1"/>
            <p:nvPr/>
          </p:nvSpPr>
          <p:spPr>
            <a:xfrm>
              <a:off x="8687336" y="6363038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/>
                <a:t>新幹線</a:t>
              </a:r>
            </a:p>
          </p:txBody>
        </p:sp>
      </p:grpSp>
      <p:grpSp>
        <p:nvGrpSpPr>
          <p:cNvPr id="1131" name="グループ化 1130">
            <a:extLst>
              <a:ext uri="{FF2B5EF4-FFF2-40B4-BE49-F238E27FC236}">
                <a16:creationId xmlns:a16="http://schemas.microsoft.com/office/drawing/2014/main" id="{211583A2-04F6-4BB0-EC6E-6D93F8C2DE22}"/>
              </a:ext>
            </a:extLst>
          </p:cNvPr>
          <p:cNvGrpSpPr/>
          <p:nvPr/>
        </p:nvGrpSpPr>
        <p:grpSpPr>
          <a:xfrm>
            <a:off x="5432636" y="5701151"/>
            <a:ext cx="1785908" cy="1023440"/>
            <a:chOff x="5459370" y="5801263"/>
            <a:chExt cx="1785908" cy="1023440"/>
          </a:xfrm>
        </p:grpSpPr>
        <p:pic>
          <p:nvPicPr>
            <p:cNvPr id="1048" name="Picture 24" descr="家のイラスト1">
              <a:extLst>
                <a:ext uri="{FF2B5EF4-FFF2-40B4-BE49-F238E27FC236}">
                  <a16:creationId xmlns:a16="http://schemas.microsoft.com/office/drawing/2014/main" id="{7E02A5C3-1981-EA57-83A7-B0626D0FDE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9370" y="5801263"/>
              <a:ext cx="1106422" cy="1023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7" name="テキスト ボックス 1046">
              <a:extLst>
                <a:ext uri="{FF2B5EF4-FFF2-40B4-BE49-F238E27FC236}">
                  <a16:creationId xmlns:a16="http://schemas.microsoft.com/office/drawing/2014/main" id="{6F90A1EF-7C11-3639-E144-E5A1792A49CC}"/>
                </a:ext>
              </a:extLst>
            </p:cNvPr>
            <p:cNvSpPr txBox="1"/>
            <p:nvPr/>
          </p:nvSpPr>
          <p:spPr>
            <a:xfrm>
              <a:off x="6547651" y="6424593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/>
                <a:t>家庭</a:t>
              </a:r>
            </a:p>
          </p:txBody>
        </p:sp>
      </p:grpSp>
      <p:grpSp>
        <p:nvGrpSpPr>
          <p:cNvPr id="1135" name="グループ化 1134">
            <a:extLst>
              <a:ext uri="{FF2B5EF4-FFF2-40B4-BE49-F238E27FC236}">
                <a16:creationId xmlns:a16="http://schemas.microsoft.com/office/drawing/2014/main" id="{F940CA9E-455F-5A1B-4B82-771B2F0159DD}"/>
              </a:ext>
            </a:extLst>
          </p:cNvPr>
          <p:cNvGrpSpPr/>
          <p:nvPr/>
        </p:nvGrpSpPr>
        <p:grpSpPr>
          <a:xfrm>
            <a:off x="4766886" y="1572267"/>
            <a:ext cx="1784623" cy="1189237"/>
            <a:chOff x="4224752" y="1943521"/>
            <a:chExt cx="1784623" cy="1189237"/>
          </a:xfrm>
        </p:grpSpPr>
        <p:pic>
          <p:nvPicPr>
            <p:cNvPr id="20" name="図 19" descr="グラフィカル ユーザー インターフェイス, アプリケーション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7DEF953C-A3C4-693D-F4DC-6F2A4D3E2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3" t="3300" r="76853" b="59344"/>
            <a:stretch>
              <a:fillRect/>
            </a:stretch>
          </p:blipFill>
          <p:spPr>
            <a:xfrm flipH="1">
              <a:off x="5345670" y="1943521"/>
              <a:ext cx="663705" cy="780207"/>
            </a:xfrm>
            <a:prstGeom prst="rect">
              <a:avLst/>
            </a:prstGeom>
          </p:spPr>
        </p:pic>
        <p:sp>
          <p:nvSpPr>
            <p:cNvPr id="1049" name="テキスト ボックス 1048">
              <a:extLst>
                <a:ext uri="{FF2B5EF4-FFF2-40B4-BE49-F238E27FC236}">
                  <a16:creationId xmlns:a16="http://schemas.microsoft.com/office/drawing/2014/main" id="{3D77291F-CEAF-0CFB-FA40-CE7BCF828BFC}"/>
                </a:ext>
              </a:extLst>
            </p:cNvPr>
            <p:cNvSpPr txBox="1"/>
            <p:nvPr/>
          </p:nvSpPr>
          <p:spPr>
            <a:xfrm>
              <a:off x="4224752" y="2732648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/>
                <a:t>風力発電</a:t>
              </a:r>
            </a:p>
          </p:txBody>
        </p:sp>
      </p:grpSp>
      <p:sp>
        <p:nvSpPr>
          <p:cNvPr id="1051" name="テキスト ボックス 1050">
            <a:extLst>
              <a:ext uri="{FF2B5EF4-FFF2-40B4-BE49-F238E27FC236}">
                <a16:creationId xmlns:a16="http://schemas.microsoft.com/office/drawing/2014/main" id="{A714557C-9193-941D-51DE-B559A8B65E42}"/>
              </a:ext>
            </a:extLst>
          </p:cNvPr>
          <p:cNvSpPr txBox="1"/>
          <p:nvPr/>
        </p:nvSpPr>
        <p:spPr>
          <a:xfrm>
            <a:off x="106771" y="6377510"/>
            <a:ext cx="1723549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運動エネルギ</a:t>
            </a:r>
          </a:p>
        </p:txBody>
      </p:sp>
      <p:sp>
        <p:nvSpPr>
          <p:cNvPr id="1064" name="テキスト ボックス 1063">
            <a:extLst>
              <a:ext uri="{FF2B5EF4-FFF2-40B4-BE49-F238E27FC236}">
                <a16:creationId xmlns:a16="http://schemas.microsoft.com/office/drawing/2014/main" id="{DA219EBE-1C8B-A709-E8A7-8782E6294DB6}"/>
              </a:ext>
            </a:extLst>
          </p:cNvPr>
          <p:cNvSpPr txBox="1"/>
          <p:nvPr/>
        </p:nvSpPr>
        <p:spPr>
          <a:xfrm>
            <a:off x="8127876" y="1922035"/>
            <a:ext cx="1723549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位置エネルギ</a:t>
            </a:r>
          </a:p>
        </p:txBody>
      </p:sp>
      <p:sp>
        <p:nvSpPr>
          <p:cNvPr id="1065" name="テキスト ボックス 1064">
            <a:extLst>
              <a:ext uri="{FF2B5EF4-FFF2-40B4-BE49-F238E27FC236}">
                <a16:creationId xmlns:a16="http://schemas.microsoft.com/office/drawing/2014/main" id="{FF9C0729-EABB-DEA3-D102-C42DF9CFA1D3}"/>
              </a:ext>
            </a:extLst>
          </p:cNvPr>
          <p:cNvSpPr txBox="1"/>
          <p:nvPr/>
        </p:nvSpPr>
        <p:spPr>
          <a:xfrm>
            <a:off x="5591970" y="125797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chemeClr val="accent6"/>
                </a:solidFill>
              </a:rPr>
              <a:t>蒸発</a:t>
            </a:r>
          </a:p>
        </p:txBody>
      </p:sp>
      <p:cxnSp>
        <p:nvCxnSpPr>
          <p:cNvPr id="1066" name="直線矢印コネクタ 1065">
            <a:extLst>
              <a:ext uri="{FF2B5EF4-FFF2-40B4-BE49-F238E27FC236}">
                <a16:creationId xmlns:a16="http://schemas.microsoft.com/office/drawing/2014/main" id="{8E289CE8-42E0-A070-1BC0-564C212A1A2D}"/>
              </a:ext>
            </a:extLst>
          </p:cNvPr>
          <p:cNvCxnSpPr>
            <a:cxnSpLocks/>
          </p:cNvCxnSpPr>
          <p:nvPr/>
        </p:nvCxnSpPr>
        <p:spPr>
          <a:xfrm>
            <a:off x="5979776" y="770993"/>
            <a:ext cx="2148100" cy="0"/>
          </a:xfrm>
          <a:prstGeom prst="straightConnector1">
            <a:avLst/>
          </a:prstGeom>
          <a:ln w="57150">
            <a:solidFill>
              <a:schemeClr val="accent2">
                <a:lumMod val="9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69" name="テキスト ボックス 1068">
            <a:extLst>
              <a:ext uri="{FF2B5EF4-FFF2-40B4-BE49-F238E27FC236}">
                <a16:creationId xmlns:a16="http://schemas.microsoft.com/office/drawing/2014/main" id="{B29B3305-CDBE-01E5-F94C-919A1221C9A1}"/>
              </a:ext>
            </a:extLst>
          </p:cNvPr>
          <p:cNvSpPr txBox="1"/>
          <p:nvPr/>
        </p:nvSpPr>
        <p:spPr>
          <a:xfrm>
            <a:off x="7598599" y="94062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chemeClr val="accent2">
                    <a:lumMod val="75000"/>
                  </a:schemeClr>
                </a:solidFill>
              </a:rPr>
              <a:t>凝縮</a:t>
            </a:r>
          </a:p>
        </p:txBody>
      </p:sp>
      <p:cxnSp>
        <p:nvCxnSpPr>
          <p:cNvPr id="1101" name="直線コネクタ 1100">
            <a:extLst>
              <a:ext uri="{FF2B5EF4-FFF2-40B4-BE49-F238E27FC236}">
                <a16:creationId xmlns:a16="http://schemas.microsoft.com/office/drawing/2014/main" id="{399CC83E-DF10-388D-8B2F-BD256AC6D8B4}"/>
              </a:ext>
            </a:extLst>
          </p:cNvPr>
          <p:cNvCxnSpPr>
            <a:cxnSpLocks/>
          </p:cNvCxnSpPr>
          <p:nvPr/>
        </p:nvCxnSpPr>
        <p:spPr>
          <a:xfrm flipH="1">
            <a:off x="6807897" y="3125836"/>
            <a:ext cx="632137" cy="476557"/>
          </a:xfrm>
          <a:prstGeom prst="line">
            <a:avLst/>
          </a:prstGeom>
          <a:ln w="76200" cmpd="dbl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直線コネクタ 1103">
            <a:extLst>
              <a:ext uri="{FF2B5EF4-FFF2-40B4-BE49-F238E27FC236}">
                <a16:creationId xmlns:a16="http://schemas.microsoft.com/office/drawing/2014/main" id="{E59BC67C-4F00-4C51-565D-5696A6FC1386}"/>
              </a:ext>
            </a:extLst>
          </p:cNvPr>
          <p:cNvCxnSpPr>
            <a:cxnSpLocks/>
          </p:cNvCxnSpPr>
          <p:nvPr/>
        </p:nvCxnSpPr>
        <p:spPr>
          <a:xfrm flipH="1">
            <a:off x="7001318" y="4358362"/>
            <a:ext cx="732753" cy="0"/>
          </a:xfrm>
          <a:prstGeom prst="line">
            <a:avLst/>
          </a:prstGeom>
          <a:ln w="76200" cmpd="dbl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" name="直線コネクタ 1106">
            <a:extLst>
              <a:ext uri="{FF2B5EF4-FFF2-40B4-BE49-F238E27FC236}">
                <a16:creationId xmlns:a16="http://schemas.microsoft.com/office/drawing/2014/main" id="{26C18C80-5DA4-68D7-6CC7-56C3C37B1D68}"/>
              </a:ext>
            </a:extLst>
          </p:cNvPr>
          <p:cNvCxnSpPr>
            <a:cxnSpLocks/>
          </p:cNvCxnSpPr>
          <p:nvPr/>
        </p:nvCxnSpPr>
        <p:spPr>
          <a:xfrm flipH="1" flipV="1">
            <a:off x="6775439" y="4959552"/>
            <a:ext cx="803388" cy="693988"/>
          </a:xfrm>
          <a:prstGeom prst="line">
            <a:avLst/>
          </a:prstGeom>
          <a:ln w="76200" cmpd="dbl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直線コネクタ 1109">
            <a:extLst>
              <a:ext uri="{FF2B5EF4-FFF2-40B4-BE49-F238E27FC236}">
                <a16:creationId xmlns:a16="http://schemas.microsoft.com/office/drawing/2014/main" id="{0A1EFC0E-4765-7DAB-0ED1-C337EAA4EB5F}"/>
              </a:ext>
            </a:extLst>
          </p:cNvPr>
          <p:cNvCxnSpPr>
            <a:cxnSpLocks/>
          </p:cNvCxnSpPr>
          <p:nvPr/>
        </p:nvCxnSpPr>
        <p:spPr>
          <a:xfrm flipV="1">
            <a:off x="6216837" y="2407687"/>
            <a:ext cx="0" cy="964441"/>
          </a:xfrm>
          <a:prstGeom prst="line">
            <a:avLst/>
          </a:prstGeom>
          <a:ln w="76200" cmpd="dbl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直線コネクタ 1112">
            <a:extLst>
              <a:ext uri="{FF2B5EF4-FFF2-40B4-BE49-F238E27FC236}">
                <a16:creationId xmlns:a16="http://schemas.microsoft.com/office/drawing/2014/main" id="{CA012D8F-37CA-F196-82A4-8328BCBECCE9}"/>
              </a:ext>
            </a:extLst>
          </p:cNvPr>
          <p:cNvCxnSpPr>
            <a:cxnSpLocks/>
          </p:cNvCxnSpPr>
          <p:nvPr/>
        </p:nvCxnSpPr>
        <p:spPr>
          <a:xfrm flipV="1">
            <a:off x="3484264" y="4925902"/>
            <a:ext cx="1563710" cy="1168019"/>
          </a:xfrm>
          <a:prstGeom prst="line">
            <a:avLst/>
          </a:prstGeom>
          <a:ln w="76200" cmpd="dbl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5" name="直線コネクタ 1114">
            <a:extLst>
              <a:ext uri="{FF2B5EF4-FFF2-40B4-BE49-F238E27FC236}">
                <a16:creationId xmlns:a16="http://schemas.microsoft.com/office/drawing/2014/main" id="{C223CE42-A9AE-04A7-23C0-414270793592}"/>
              </a:ext>
            </a:extLst>
          </p:cNvPr>
          <p:cNvCxnSpPr>
            <a:cxnSpLocks/>
          </p:cNvCxnSpPr>
          <p:nvPr/>
        </p:nvCxnSpPr>
        <p:spPr>
          <a:xfrm>
            <a:off x="4177399" y="4048427"/>
            <a:ext cx="492793" cy="0"/>
          </a:xfrm>
          <a:prstGeom prst="line">
            <a:avLst/>
          </a:prstGeom>
          <a:ln w="76200" cmpd="dbl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直線コネクタ 1117">
            <a:extLst>
              <a:ext uri="{FF2B5EF4-FFF2-40B4-BE49-F238E27FC236}">
                <a16:creationId xmlns:a16="http://schemas.microsoft.com/office/drawing/2014/main" id="{83D50A14-BB6B-B230-A714-4CA70504CAA6}"/>
              </a:ext>
            </a:extLst>
          </p:cNvPr>
          <p:cNvCxnSpPr>
            <a:cxnSpLocks/>
          </p:cNvCxnSpPr>
          <p:nvPr/>
        </p:nvCxnSpPr>
        <p:spPr>
          <a:xfrm>
            <a:off x="5985847" y="4995402"/>
            <a:ext cx="0" cy="626729"/>
          </a:xfrm>
          <a:prstGeom prst="line">
            <a:avLst/>
          </a:prstGeom>
          <a:ln w="76200" cmpd="dbl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1" name="テキスト ボックス 1120">
            <a:extLst>
              <a:ext uri="{FF2B5EF4-FFF2-40B4-BE49-F238E27FC236}">
                <a16:creationId xmlns:a16="http://schemas.microsoft.com/office/drawing/2014/main" id="{7CA6C076-28EC-9FA3-DB8E-C16C8AA826C2}"/>
              </a:ext>
            </a:extLst>
          </p:cNvPr>
          <p:cNvSpPr txBox="1"/>
          <p:nvPr/>
        </p:nvSpPr>
        <p:spPr>
          <a:xfrm>
            <a:off x="3545359" y="5276127"/>
            <a:ext cx="1723549" cy="40011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電気エネルギ</a:t>
            </a:r>
          </a:p>
        </p:txBody>
      </p:sp>
    </p:spTree>
    <p:extLst>
      <p:ext uri="{BB962C8B-B14F-4D97-AF65-F5344CB8AC3E}">
        <p14:creationId xmlns:p14="http://schemas.microsoft.com/office/powerpoint/2010/main" val="335935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8"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9" dur="5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50" grpId="0" animBg="1"/>
      <p:bldP spid="1027" grpId="0" animBg="1"/>
      <p:bldP spid="1051" grpId="0" animBg="1"/>
      <p:bldP spid="1064" grpId="0" animBg="1"/>
      <p:bldP spid="1065" grpId="0"/>
      <p:bldP spid="1069" grpId="0"/>
      <p:bldP spid="11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0496554-BFEB-E6FB-A36F-CE2E7307E16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F21575-51AE-EB4D-91DA-72B1E59A842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ja-JP" altLang="en-US" dirty="0"/>
              <a:t>仕事をすることができる</a:t>
            </a:r>
            <a:r>
              <a:rPr kumimoji="1" lang="ja-JP" altLang="en-US" dirty="0">
                <a:solidFill>
                  <a:schemeClr val="accent6"/>
                </a:solidFill>
              </a:rPr>
              <a:t>潜在的能力</a:t>
            </a:r>
            <a:r>
              <a:rPr kumimoji="1" lang="ja-JP" altLang="en-US" dirty="0"/>
              <a:t>のこと．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lang="ja-JP" altLang="en-US" dirty="0"/>
              <a:t>エネルギは</a:t>
            </a:r>
            <a:r>
              <a:rPr lang="ja-JP" altLang="en-US" dirty="0">
                <a:solidFill>
                  <a:schemeClr val="accent6"/>
                </a:solidFill>
              </a:rPr>
              <a:t>別のエネルギに変換</a:t>
            </a:r>
            <a:r>
              <a:rPr lang="ja-JP" altLang="en-US" dirty="0"/>
              <a:t>できる．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23E456F-1B65-B49F-4732-CC22C6E1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エネルギーとは</a:t>
            </a: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0EF6502-64EF-9318-6B09-797BEE28438B}"/>
              </a:ext>
            </a:extLst>
          </p:cNvPr>
          <p:cNvSpPr/>
          <p:nvPr/>
        </p:nvSpPr>
        <p:spPr>
          <a:xfrm>
            <a:off x="1841563" y="2320832"/>
            <a:ext cx="2505075" cy="962025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エネルギー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B437BD-D777-58BB-EFFA-D2CB3187A178}"/>
              </a:ext>
            </a:extLst>
          </p:cNvPr>
          <p:cNvSpPr txBox="1"/>
          <p:nvPr/>
        </p:nvSpPr>
        <p:spPr>
          <a:xfrm>
            <a:off x="552094" y="1394522"/>
            <a:ext cx="1467068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/>
              <a:t>光エネルギ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28CA8D7-01B8-10BB-6986-D4490AB88812}"/>
              </a:ext>
            </a:extLst>
          </p:cNvPr>
          <p:cNvSpPr txBox="1"/>
          <p:nvPr/>
        </p:nvSpPr>
        <p:spPr>
          <a:xfrm>
            <a:off x="552094" y="3768549"/>
            <a:ext cx="1467068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/>
              <a:t>熱エネルギ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BD1D73A-DD78-1961-CFBD-2F2391823B9E}"/>
              </a:ext>
            </a:extLst>
          </p:cNvPr>
          <p:cNvSpPr txBox="1"/>
          <p:nvPr/>
        </p:nvSpPr>
        <p:spPr>
          <a:xfrm>
            <a:off x="2232326" y="1394522"/>
            <a:ext cx="1723549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/>
              <a:t>化学エネルギ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D4F0D4A-EE09-FC28-46DB-8BE40F3B2FFB}"/>
              </a:ext>
            </a:extLst>
          </p:cNvPr>
          <p:cNvSpPr txBox="1"/>
          <p:nvPr/>
        </p:nvSpPr>
        <p:spPr>
          <a:xfrm>
            <a:off x="2226493" y="3768549"/>
            <a:ext cx="1723549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/>
              <a:t>運動エネルギ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E01F7D-3D6E-A36C-19A3-9E9671A4F96C}"/>
              </a:ext>
            </a:extLst>
          </p:cNvPr>
          <p:cNvSpPr txBox="1"/>
          <p:nvPr/>
        </p:nvSpPr>
        <p:spPr>
          <a:xfrm>
            <a:off x="4169039" y="1403055"/>
            <a:ext cx="1723549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/>
              <a:t>位置エネルギ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771F88-066C-2551-3B80-BA5882868F4C}"/>
              </a:ext>
            </a:extLst>
          </p:cNvPr>
          <p:cNvSpPr txBox="1"/>
          <p:nvPr/>
        </p:nvSpPr>
        <p:spPr>
          <a:xfrm>
            <a:off x="4169039" y="3768549"/>
            <a:ext cx="1723549" cy="40011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/>
              <a:t>電気エネルギ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4525D81-54C0-3FCA-2446-4EA0EABD2787}"/>
              </a:ext>
            </a:extLst>
          </p:cNvPr>
          <p:cNvCxnSpPr>
            <a:cxnSpLocks/>
            <a:stCxn id="7" idx="2"/>
            <a:endCxn id="6" idx="1"/>
          </p:cNvCxnSpPr>
          <p:nvPr/>
        </p:nvCxnSpPr>
        <p:spPr>
          <a:xfrm>
            <a:off x="1285628" y="1794632"/>
            <a:ext cx="922795" cy="667085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60EFB512-76AE-268C-B4DB-D771B2471A0C}"/>
              </a:ext>
            </a:extLst>
          </p:cNvPr>
          <p:cNvCxnSpPr>
            <a:cxnSpLocks/>
            <a:stCxn id="8" idx="0"/>
            <a:endCxn id="6" idx="3"/>
          </p:cNvCxnSpPr>
          <p:nvPr/>
        </p:nvCxnSpPr>
        <p:spPr>
          <a:xfrm flipV="1">
            <a:off x="1285628" y="3141972"/>
            <a:ext cx="922795" cy="626577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23590903-EC98-4514-BB1F-8D7C34A83AE6}"/>
              </a:ext>
            </a:extLst>
          </p:cNvPr>
          <p:cNvCxnSpPr>
            <a:cxnSpLocks/>
            <a:stCxn id="6" idx="0"/>
            <a:endCxn id="9" idx="2"/>
          </p:cNvCxnSpPr>
          <p:nvPr/>
        </p:nvCxnSpPr>
        <p:spPr>
          <a:xfrm flipV="1">
            <a:off x="3094101" y="1794632"/>
            <a:ext cx="0" cy="52620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B6954052-8648-EE2C-5086-50DB82E5FDAA}"/>
              </a:ext>
            </a:extLst>
          </p:cNvPr>
          <p:cNvCxnSpPr>
            <a:cxnSpLocks/>
            <a:stCxn id="10" idx="0"/>
            <a:endCxn id="6" idx="4"/>
          </p:cNvCxnSpPr>
          <p:nvPr/>
        </p:nvCxnSpPr>
        <p:spPr>
          <a:xfrm flipV="1">
            <a:off x="3088268" y="3282857"/>
            <a:ext cx="5833" cy="485692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5D9B6E97-605C-0517-23A1-5FA7DB75196D}"/>
              </a:ext>
            </a:extLst>
          </p:cNvPr>
          <p:cNvCxnSpPr>
            <a:cxnSpLocks/>
            <a:stCxn id="6" idx="7"/>
            <a:endCxn id="11" idx="2"/>
          </p:cNvCxnSpPr>
          <p:nvPr/>
        </p:nvCxnSpPr>
        <p:spPr>
          <a:xfrm flipV="1">
            <a:off x="3979778" y="1803165"/>
            <a:ext cx="1051036" cy="658552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3CE5EC08-99CC-675E-53D5-11CB6B726E36}"/>
              </a:ext>
            </a:extLst>
          </p:cNvPr>
          <p:cNvCxnSpPr>
            <a:cxnSpLocks/>
            <a:stCxn id="6" idx="5"/>
            <a:endCxn id="12" idx="0"/>
          </p:cNvCxnSpPr>
          <p:nvPr/>
        </p:nvCxnSpPr>
        <p:spPr>
          <a:xfrm>
            <a:off x="3979778" y="3141972"/>
            <a:ext cx="1051036" cy="626577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13ADE05-DA91-9D41-DDEE-589BE9B9DE3F}"/>
              </a:ext>
            </a:extLst>
          </p:cNvPr>
          <p:cNvSpPr txBox="1"/>
          <p:nvPr/>
        </p:nvSpPr>
        <p:spPr>
          <a:xfrm>
            <a:off x="5892588" y="2427647"/>
            <a:ext cx="5293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=</a:t>
            </a:r>
            <a:endParaRPr kumimoji="1" lang="ja-JP" altLang="en-US" sz="4000" dirty="0"/>
          </a:p>
        </p:txBody>
      </p:sp>
      <p:sp>
        <p:nvSpPr>
          <p:cNvPr id="46" name="六角形 45">
            <a:extLst>
              <a:ext uri="{FF2B5EF4-FFF2-40B4-BE49-F238E27FC236}">
                <a16:creationId xmlns:a16="http://schemas.microsoft.com/office/drawing/2014/main" id="{3CBA4482-25C9-49A6-FB32-A939918B80C4}"/>
              </a:ext>
            </a:extLst>
          </p:cNvPr>
          <p:cNvSpPr/>
          <p:nvPr/>
        </p:nvSpPr>
        <p:spPr>
          <a:xfrm>
            <a:off x="7035413" y="2300577"/>
            <a:ext cx="1808092" cy="962025"/>
          </a:xfrm>
          <a:prstGeom prst="hexag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仕事</a:t>
            </a:r>
          </a:p>
        </p:txBody>
      </p:sp>
    </p:spTree>
    <p:extLst>
      <p:ext uri="{BB962C8B-B14F-4D97-AF65-F5344CB8AC3E}">
        <p14:creationId xmlns:p14="http://schemas.microsoft.com/office/powerpoint/2010/main" val="849442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45" grpId="0"/>
      <p:bldP spid="4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4312EA4-960E-2290-E0A6-A247162E537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ADDC64-E1F9-E6E2-5A2A-85FEC6F3E1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385887"/>
            <a:ext cx="9906000" cy="2472106"/>
          </a:xfrm>
        </p:spPr>
        <p:txBody>
          <a:bodyPr/>
          <a:lstStyle/>
          <a:p>
            <a:r>
              <a:rPr lang="ja-JP" altLang="en-US" dirty="0"/>
              <a:t>変換後では仕事で使えるエネルギ量が，変換前と比べて</a:t>
            </a:r>
            <a:r>
              <a:rPr lang="ja-JP" altLang="en-US" dirty="0">
                <a:solidFill>
                  <a:schemeClr val="accent6"/>
                </a:solidFill>
              </a:rPr>
              <a:t>常に減少</a:t>
            </a:r>
            <a:r>
              <a:rPr lang="ja-JP" altLang="en-US" dirty="0"/>
              <a:t>する．</a:t>
            </a:r>
          </a:p>
          <a:p>
            <a:r>
              <a:rPr lang="ja-JP" altLang="en-US" dirty="0"/>
              <a:t>エネルギ変換前後で総量が変わらないことを，</a:t>
            </a:r>
            <a:r>
              <a:rPr lang="ja-JP" altLang="en-US" dirty="0">
                <a:solidFill>
                  <a:schemeClr val="accent6"/>
                </a:solidFill>
              </a:rPr>
              <a:t>エネルギ保存則</a:t>
            </a:r>
            <a:r>
              <a:rPr lang="ja-JP" altLang="en-US" dirty="0"/>
              <a:t>という．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744B070-4CD7-DA41-E2B4-7BEC54C8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エネルギーを変換する</a:t>
            </a:r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ACF3D1A7-98D7-2A57-62A1-25B81F94B1B4}"/>
              </a:ext>
            </a:extLst>
          </p:cNvPr>
          <p:cNvGrpSpPr/>
          <p:nvPr/>
        </p:nvGrpSpPr>
        <p:grpSpPr>
          <a:xfrm>
            <a:off x="2073978" y="3075215"/>
            <a:ext cx="5758043" cy="972910"/>
            <a:chOff x="2073978" y="3075215"/>
            <a:chExt cx="5758043" cy="972910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CDFA278A-DDB2-3343-04FC-530757091FBD}"/>
                </a:ext>
              </a:extLst>
            </p:cNvPr>
            <p:cNvSpPr/>
            <p:nvPr/>
          </p:nvSpPr>
          <p:spPr>
            <a:xfrm>
              <a:off x="2073978" y="3075215"/>
              <a:ext cx="5758043" cy="15466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73A4CC79-5673-21A5-AA57-0728C716518F}"/>
                </a:ext>
              </a:extLst>
            </p:cNvPr>
            <p:cNvSpPr/>
            <p:nvPr/>
          </p:nvSpPr>
          <p:spPr>
            <a:xfrm>
              <a:off x="4475713" y="3230987"/>
              <a:ext cx="954571" cy="817138"/>
            </a:xfrm>
            <a:prstGeom prst="triangl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1DB617CC-2650-1AE1-2EF1-40A1AF0455DA}"/>
              </a:ext>
            </a:extLst>
          </p:cNvPr>
          <p:cNvSpPr/>
          <p:nvPr/>
        </p:nvSpPr>
        <p:spPr>
          <a:xfrm>
            <a:off x="2428875" y="2247848"/>
            <a:ext cx="1609725" cy="80952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元の</a:t>
            </a:r>
            <a:endParaRPr kumimoji="1" lang="en-US" altLang="ja-JP" sz="2000" dirty="0"/>
          </a:p>
          <a:p>
            <a:pPr algn="ctr"/>
            <a:r>
              <a:rPr kumimoji="1" lang="ja-JP" altLang="en-US" sz="2000" dirty="0"/>
              <a:t>エネルギ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C6379B2E-7F59-F9F0-66B8-A4BB059D2B1D}"/>
              </a:ext>
            </a:extLst>
          </p:cNvPr>
          <p:cNvGrpSpPr/>
          <p:nvPr/>
        </p:nvGrpSpPr>
        <p:grpSpPr>
          <a:xfrm>
            <a:off x="5867400" y="2253591"/>
            <a:ext cx="1609725" cy="798041"/>
            <a:chOff x="5867400" y="2247848"/>
            <a:chExt cx="1609725" cy="798041"/>
          </a:xfrm>
        </p:grpSpPr>
        <p:sp>
          <p:nvSpPr>
            <p:cNvPr id="39" name="フリーフォーム: 図形 38">
              <a:extLst>
                <a:ext uri="{FF2B5EF4-FFF2-40B4-BE49-F238E27FC236}">
                  <a16:creationId xmlns:a16="http://schemas.microsoft.com/office/drawing/2014/main" id="{DD048428-50F0-075B-F749-BBEB798D65E0}"/>
                </a:ext>
              </a:extLst>
            </p:cNvPr>
            <p:cNvSpPr/>
            <p:nvPr/>
          </p:nvSpPr>
          <p:spPr>
            <a:xfrm>
              <a:off x="5867400" y="2247848"/>
              <a:ext cx="1609725" cy="551337"/>
            </a:xfrm>
            <a:custGeom>
              <a:avLst/>
              <a:gdLst>
                <a:gd name="connsiteX0" fmla="*/ 134924 w 1609725"/>
                <a:gd name="connsiteY0" fmla="*/ 0 h 551337"/>
                <a:gd name="connsiteX1" fmla="*/ 1474801 w 1609725"/>
                <a:gd name="connsiteY1" fmla="*/ 0 h 551337"/>
                <a:gd name="connsiteX2" fmla="*/ 1609725 w 1609725"/>
                <a:gd name="connsiteY2" fmla="*/ 134924 h 551337"/>
                <a:gd name="connsiteX3" fmla="*/ 1609725 w 1609725"/>
                <a:gd name="connsiteY3" fmla="*/ 551337 h 551337"/>
                <a:gd name="connsiteX4" fmla="*/ 0 w 1609725"/>
                <a:gd name="connsiteY4" fmla="*/ 551337 h 551337"/>
                <a:gd name="connsiteX5" fmla="*/ 0 w 1609725"/>
                <a:gd name="connsiteY5" fmla="*/ 134924 h 551337"/>
                <a:gd name="connsiteX6" fmla="*/ 134924 w 1609725"/>
                <a:gd name="connsiteY6" fmla="*/ 0 h 55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9725" h="551337">
                  <a:moveTo>
                    <a:pt x="134924" y="0"/>
                  </a:moveTo>
                  <a:lnTo>
                    <a:pt x="1474801" y="0"/>
                  </a:lnTo>
                  <a:cubicBezTo>
                    <a:pt x="1549317" y="0"/>
                    <a:pt x="1609725" y="60408"/>
                    <a:pt x="1609725" y="134924"/>
                  </a:cubicBezTo>
                  <a:lnTo>
                    <a:pt x="1609725" y="551337"/>
                  </a:lnTo>
                  <a:lnTo>
                    <a:pt x="0" y="551337"/>
                  </a:lnTo>
                  <a:lnTo>
                    <a:pt x="0" y="134924"/>
                  </a:lnTo>
                  <a:cubicBezTo>
                    <a:pt x="0" y="60408"/>
                    <a:pt x="60408" y="0"/>
                    <a:pt x="134924" y="0"/>
                  </a:cubicBezTo>
                  <a:close/>
                </a:path>
              </a:pathLst>
            </a:cu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600" dirty="0"/>
                <a:t>利用可能な</a:t>
              </a:r>
              <a:endParaRPr kumimoji="1" lang="en-US" altLang="ja-JP" sz="1600" dirty="0"/>
            </a:p>
            <a:p>
              <a:pPr algn="ctr"/>
              <a:r>
                <a:rPr kumimoji="1" lang="ja-JP" altLang="en-US" sz="1600" dirty="0"/>
                <a:t>エネルギ</a:t>
              </a:r>
            </a:p>
          </p:txBody>
        </p:sp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E244668A-F5B8-C35E-8D7F-2F1258A8682D}"/>
                </a:ext>
              </a:extLst>
            </p:cNvPr>
            <p:cNvSpPr/>
            <p:nvPr/>
          </p:nvSpPr>
          <p:spPr>
            <a:xfrm>
              <a:off x="5867400" y="2805537"/>
              <a:ext cx="1609725" cy="240352"/>
            </a:xfrm>
            <a:custGeom>
              <a:avLst/>
              <a:gdLst>
                <a:gd name="connsiteX0" fmla="*/ 0 w 1609725"/>
                <a:gd name="connsiteY0" fmla="*/ 0 h 258191"/>
                <a:gd name="connsiteX1" fmla="*/ 1609725 w 1609725"/>
                <a:gd name="connsiteY1" fmla="*/ 0 h 258191"/>
                <a:gd name="connsiteX2" fmla="*/ 1609725 w 1609725"/>
                <a:gd name="connsiteY2" fmla="*/ 123267 h 258191"/>
                <a:gd name="connsiteX3" fmla="*/ 1474801 w 1609725"/>
                <a:gd name="connsiteY3" fmla="*/ 258191 h 258191"/>
                <a:gd name="connsiteX4" fmla="*/ 134924 w 1609725"/>
                <a:gd name="connsiteY4" fmla="*/ 258191 h 258191"/>
                <a:gd name="connsiteX5" fmla="*/ 0 w 1609725"/>
                <a:gd name="connsiteY5" fmla="*/ 123267 h 258191"/>
                <a:gd name="connsiteX6" fmla="*/ 0 w 1609725"/>
                <a:gd name="connsiteY6" fmla="*/ 0 h 258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9725" h="258191">
                  <a:moveTo>
                    <a:pt x="0" y="0"/>
                  </a:moveTo>
                  <a:lnTo>
                    <a:pt x="1609725" y="0"/>
                  </a:lnTo>
                  <a:lnTo>
                    <a:pt x="1609725" y="123267"/>
                  </a:lnTo>
                  <a:cubicBezTo>
                    <a:pt x="1609725" y="197783"/>
                    <a:pt x="1549317" y="258191"/>
                    <a:pt x="1474801" y="258191"/>
                  </a:cubicBezTo>
                  <a:lnTo>
                    <a:pt x="134924" y="258191"/>
                  </a:lnTo>
                  <a:cubicBezTo>
                    <a:pt x="60408" y="258191"/>
                    <a:pt x="0" y="197783"/>
                    <a:pt x="0" y="123267"/>
                  </a:cubicBez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100" dirty="0"/>
                <a:t>利用不可能なエネルギ</a:t>
              </a:r>
            </a:p>
          </p:txBody>
        </p:sp>
      </p:grp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AB4586F-F0BE-A649-1580-DAE843027414}"/>
              </a:ext>
            </a:extLst>
          </p:cNvPr>
          <p:cNvSpPr txBox="1"/>
          <p:nvPr/>
        </p:nvSpPr>
        <p:spPr>
          <a:xfrm>
            <a:off x="2720848" y="333340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変換前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992F937E-9DE2-C1B0-B719-91C887808695}"/>
              </a:ext>
            </a:extLst>
          </p:cNvPr>
          <p:cNvSpPr txBox="1"/>
          <p:nvPr/>
        </p:nvSpPr>
        <p:spPr>
          <a:xfrm>
            <a:off x="6118263" y="333340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変換後</a:t>
            </a:r>
          </a:p>
        </p:txBody>
      </p:sp>
      <p:sp>
        <p:nvSpPr>
          <p:cNvPr id="42" name="矢印: 右 41">
            <a:extLst>
              <a:ext uri="{FF2B5EF4-FFF2-40B4-BE49-F238E27FC236}">
                <a16:creationId xmlns:a16="http://schemas.microsoft.com/office/drawing/2014/main" id="{16B573A5-D7EF-BFC8-F423-AFEB51210BFA}"/>
              </a:ext>
            </a:extLst>
          </p:cNvPr>
          <p:cNvSpPr/>
          <p:nvPr/>
        </p:nvSpPr>
        <p:spPr>
          <a:xfrm>
            <a:off x="4475713" y="2413000"/>
            <a:ext cx="1042434" cy="480225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F5344F-735F-C1DC-FDF1-36FB53632A64}"/>
              </a:ext>
            </a:extLst>
          </p:cNvPr>
          <p:cNvSpPr txBox="1"/>
          <p:nvPr/>
        </p:nvSpPr>
        <p:spPr>
          <a:xfrm>
            <a:off x="3981267" y="156431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エネルギ変換</a:t>
            </a:r>
          </a:p>
        </p:txBody>
      </p:sp>
    </p:spTree>
    <p:extLst>
      <p:ext uri="{BB962C8B-B14F-4D97-AF65-F5344CB8AC3E}">
        <p14:creationId xmlns:p14="http://schemas.microsoft.com/office/powerpoint/2010/main" val="177563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 animBg="1"/>
      <p:bldP spid="40" grpId="0"/>
      <p:bldP spid="41" grpId="0"/>
      <p:bldP spid="42" grpId="0" animBg="1"/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E371D53-0D97-DEF4-07E5-92318850DCF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3018E8-F885-CF16-F7D0-180590ED77A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952999" y="1195130"/>
            <a:ext cx="4953001" cy="566286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dirty="0"/>
              <a:t>元のエネルギから目的のエネルギに変換された割合を，</a:t>
            </a:r>
            <a:r>
              <a:rPr lang="ja-JP" altLang="en-US" dirty="0">
                <a:solidFill>
                  <a:schemeClr val="accent6"/>
                </a:solidFill>
              </a:rPr>
              <a:t>変換効率</a:t>
            </a:r>
            <a:r>
              <a:rPr lang="ja-JP" altLang="en-US" dirty="0"/>
              <a:t>という．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ja-JP" altLang="en-US" dirty="0"/>
              <a:t>変換効率</a:t>
            </a:r>
            <a:r>
              <a:rPr lang="en-US" altLang="ja-JP" dirty="0"/>
              <a:t>100%</a:t>
            </a:r>
            <a:r>
              <a:rPr lang="ja-JP" altLang="en-US" dirty="0"/>
              <a:t>等の文言はあり得ない．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169A80A-C43B-3846-B045-837F56B6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エネルギーの変換には効率がある</a:t>
            </a:r>
            <a:endParaRPr kumimoji="1" lang="ja-JP" altLang="en-US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5620E8A-0AB5-5E42-34DB-AD32176DF64C}"/>
              </a:ext>
            </a:extLst>
          </p:cNvPr>
          <p:cNvGrpSpPr/>
          <p:nvPr/>
        </p:nvGrpSpPr>
        <p:grpSpPr>
          <a:xfrm>
            <a:off x="493699" y="2125317"/>
            <a:ext cx="4481514" cy="2109603"/>
            <a:chOff x="493699" y="2134842"/>
            <a:chExt cx="4481514" cy="2109603"/>
          </a:xfrm>
        </p:grpSpPr>
        <p:sp>
          <p:nvSpPr>
            <p:cNvPr id="9" name="矢印: 折線 8">
              <a:extLst>
                <a:ext uri="{FF2B5EF4-FFF2-40B4-BE49-F238E27FC236}">
                  <a16:creationId xmlns:a16="http://schemas.microsoft.com/office/drawing/2014/main" id="{06DCBD7B-F1D2-F271-6D09-ECF7D63D4FC6}"/>
                </a:ext>
              </a:extLst>
            </p:cNvPr>
            <p:cNvSpPr/>
            <p:nvPr/>
          </p:nvSpPr>
          <p:spPr>
            <a:xfrm rot="16200000" flipV="1">
              <a:off x="1215220" y="2045749"/>
              <a:ext cx="1477175" cy="2920217"/>
            </a:xfrm>
            <a:prstGeom prst="bentArrow">
              <a:avLst>
                <a:gd name="adj1" fmla="val 22572"/>
                <a:gd name="adj2" fmla="val 25967"/>
                <a:gd name="adj3" fmla="val 25000"/>
                <a:gd name="adj4" fmla="val 49553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3B1B42D5-52CF-A963-F2D8-1021DAEB4A10}"/>
                </a:ext>
              </a:extLst>
            </p:cNvPr>
            <p:cNvSpPr txBox="1"/>
            <p:nvPr/>
          </p:nvSpPr>
          <p:spPr>
            <a:xfrm>
              <a:off x="1097228" y="2134842"/>
              <a:ext cx="387798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3200" dirty="0">
                  <a:solidFill>
                    <a:schemeClr val="accent6"/>
                  </a:solidFill>
                </a:rPr>
                <a:t>目的以外</a:t>
              </a:r>
              <a:r>
                <a:rPr kumimoji="1" lang="ja-JP" altLang="en-US" sz="3200" dirty="0"/>
                <a:t>のエネルギ</a:t>
              </a:r>
            </a:p>
          </p:txBody>
        </p:sp>
      </p:grpSp>
      <p:sp>
        <p:nvSpPr>
          <p:cNvPr id="6" name="矢印: 右 5">
            <a:extLst>
              <a:ext uri="{FF2B5EF4-FFF2-40B4-BE49-F238E27FC236}">
                <a16:creationId xmlns:a16="http://schemas.microsoft.com/office/drawing/2014/main" id="{85E63D52-3C59-417D-3E76-D9644D44EC28}"/>
              </a:ext>
            </a:extLst>
          </p:cNvPr>
          <p:cNvSpPr/>
          <p:nvPr/>
        </p:nvSpPr>
        <p:spPr>
          <a:xfrm>
            <a:off x="493699" y="3776920"/>
            <a:ext cx="4010025" cy="188595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accent6"/>
                </a:solidFill>
              </a:rPr>
              <a:t>目的</a:t>
            </a:r>
            <a:r>
              <a:rPr kumimoji="1" lang="ja-JP" altLang="en-US" sz="3200" dirty="0"/>
              <a:t>のエネルギ</a:t>
            </a:r>
          </a:p>
        </p:txBody>
      </p:sp>
    </p:spTree>
    <p:extLst>
      <p:ext uri="{BB962C8B-B14F-4D97-AF65-F5344CB8AC3E}">
        <p14:creationId xmlns:p14="http://schemas.microsoft.com/office/powerpoint/2010/main" val="13731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A3F3AF2-1DC2-2304-6F3F-1A41420DA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939FF1D-D8B3-D38E-0E99-7E0957E9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身近なエネルギの変換例</a:t>
            </a:r>
          </a:p>
        </p:txBody>
      </p:sp>
      <p:grpSp>
        <p:nvGrpSpPr>
          <p:cNvPr id="111" name="グループ化 110">
            <a:extLst>
              <a:ext uri="{FF2B5EF4-FFF2-40B4-BE49-F238E27FC236}">
                <a16:creationId xmlns:a16="http://schemas.microsoft.com/office/drawing/2014/main" id="{0397EF60-7AE7-16BA-9A9F-46A53EC62A58}"/>
              </a:ext>
            </a:extLst>
          </p:cNvPr>
          <p:cNvGrpSpPr/>
          <p:nvPr/>
        </p:nvGrpSpPr>
        <p:grpSpPr>
          <a:xfrm>
            <a:off x="573651" y="831272"/>
            <a:ext cx="3941575" cy="1810763"/>
            <a:chOff x="573651" y="651972"/>
            <a:chExt cx="3941575" cy="1810763"/>
          </a:xfrm>
        </p:grpSpPr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0996B978-AAD0-6EC7-F1E9-21692C6BB5C1}"/>
                </a:ext>
              </a:extLst>
            </p:cNvPr>
            <p:cNvSpPr/>
            <p:nvPr/>
          </p:nvSpPr>
          <p:spPr>
            <a:xfrm>
              <a:off x="697162" y="1171391"/>
              <a:ext cx="1199842" cy="603399"/>
            </a:xfrm>
            <a:custGeom>
              <a:avLst/>
              <a:gdLst>
                <a:gd name="connsiteX0" fmla="*/ 100569 w 1199842"/>
                <a:gd name="connsiteY0" fmla="*/ 0 h 603399"/>
                <a:gd name="connsiteX1" fmla="*/ 1099273 w 1199842"/>
                <a:gd name="connsiteY1" fmla="*/ 0 h 603399"/>
                <a:gd name="connsiteX2" fmla="*/ 1199842 w 1199842"/>
                <a:gd name="connsiteY2" fmla="*/ 100569 h 603399"/>
                <a:gd name="connsiteX3" fmla="*/ 1199842 w 1199842"/>
                <a:gd name="connsiteY3" fmla="*/ 502830 h 603399"/>
                <a:gd name="connsiteX4" fmla="*/ 1099273 w 1199842"/>
                <a:gd name="connsiteY4" fmla="*/ 603399 h 603399"/>
                <a:gd name="connsiteX5" fmla="*/ 100569 w 1199842"/>
                <a:gd name="connsiteY5" fmla="*/ 603399 h 603399"/>
                <a:gd name="connsiteX6" fmla="*/ 0 w 1199842"/>
                <a:gd name="connsiteY6" fmla="*/ 502830 h 603399"/>
                <a:gd name="connsiteX7" fmla="*/ 0 w 1199842"/>
                <a:gd name="connsiteY7" fmla="*/ 100569 h 603399"/>
                <a:gd name="connsiteX8" fmla="*/ 100569 w 1199842"/>
                <a:gd name="connsiteY8" fmla="*/ 0 h 60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9842" h="603399">
                  <a:moveTo>
                    <a:pt x="100569" y="0"/>
                  </a:moveTo>
                  <a:lnTo>
                    <a:pt x="1099273" y="0"/>
                  </a:lnTo>
                  <a:cubicBezTo>
                    <a:pt x="1154816" y="0"/>
                    <a:pt x="1199842" y="45026"/>
                    <a:pt x="1199842" y="100569"/>
                  </a:cubicBezTo>
                  <a:lnTo>
                    <a:pt x="1199842" y="502830"/>
                  </a:lnTo>
                  <a:cubicBezTo>
                    <a:pt x="1199842" y="558373"/>
                    <a:pt x="1154816" y="603399"/>
                    <a:pt x="1099273" y="603399"/>
                  </a:cubicBezTo>
                  <a:lnTo>
                    <a:pt x="100569" y="603399"/>
                  </a:lnTo>
                  <a:cubicBezTo>
                    <a:pt x="45026" y="603399"/>
                    <a:pt x="0" y="558373"/>
                    <a:pt x="0" y="502830"/>
                  </a:cubicBezTo>
                  <a:lnTo>
                    <a:pt x="0" y="100569"/>
                  </a:lnTo>
                  <a:cubicBezTo>
                    <a:pt x="0" y="45026"/>
                    <a:pt x="45026" y="0"/>
                    <a:pt x="10056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>
              <a:solidFill>
                <a:srgbClr val="FF000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600" dirty="0"/>
                <a:t>核</a:t>
              </a: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D805FCA-DF2D-80CB-5D7F-58B5D4C1D12D}"/>
                </a:ext>
              </a:extLst>
            </p:cNvPr>
            <p:cNvGrpSpPr/>
            <p:nvPr/>
          </p:nvGrpSpPr>
          <p:grpSpPr>
            <a:xfrm>
              <a:off x="3170970" y="1171390"/>
              <a:ext cx="1199842" cy="603399"/>
              <a:chOff x="3191717" y="2085516"/>
              <a:chExt cx="1199842" cy="603399"/>
            </a:xfrm>
          </p:grpSpPr>
          <p:sp>
            <p:nvSpPr>
              <p:cNvPr id="13" name="フリーフォーム: 図形 12">
                <a:extLst>
                  <a:ext uri="{FF2B5EF4-FFF2-40B4-BE49-F238E27FC236}">
                    <a16:creationId xmlns:a16="http://schemas.microsoft.com/office/drawing/2014/main" id="{F6BA7DA4-9203-D1C0-8143-444D22540938}"/>
                  </a:ext>
                </a:extLst>
              </p:cNvPr>
              <p:cNvSpPr/>
              <p:nvPr/>
            </p:nvSpPr>
            <p:spPr>
              <a:xfrm>
                <a:off x="3191717" y="2085516"/>
                <a:ext cx="1199842" cy="306328"/>
              </a:xfrm>
              <a:custGeom>
                <a:avLst/>
                <a:gdLst>
                  <a:gd name="connsiteX0" fmla="*/ 100569 w 1199842"/>
                  <a:gd name="connsiteY0" fmla="*/ 0 h 306328"/>
                  <a:gd name="connsiteX1" fmla="*/ 1099273 w 1199842"/>
                  <a:gd name="connsiteY1" fmla="*/ 0 h 306328"/>
                  <a:gd name="connsiteX2" fmla="*/ 1199842 w 1199842"/>
                  <a:gd name="connsiteY2" fmla="*/ 100569 h 306328"/>
                  <a:gd name="connsiteX3" fmla="*/ 1199842 w 1199842"/>
                  <a:gd name="connsiteY3" fmla="*/ 306328 h 306328"/>
                  <a:gd name="connsiteX4" fmla="*/ 0 w 1199842"/>
                  <a:gd name="connsiteY4" fmla="*/ 306328 h 306328"/>
                  <a:gd name="connsiteX5" fmla="*/ 0 w 1199842"/>
                  <a:gd name="connsiteY5" fmla="*/ 100569 h 306328"/>
                  <a:gd name="connsiteX6" fmla="*/ 100569 w 1199842"/>
                  <a:gd name="connsiteY6" fmla="*/ 0 h 306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306328">
                    <a:moveTo>
                      <a:pt x="100569" y="0"/>
                    </a:moveTo>
                    <a:lnTo>
                      <a:pt x="1099273" y="0"/>
                    </a:lnTo>
                    <a:cubicBezTo>
                      <a:pt x="1154816" y="0"/>
                      <a:pt x="1199842" y="45026"/>
                      <a:pt x="1199842" y="100569"/>
                    </a:cubicBezTo>
                    <a:lnTo>
                      <a:pt x="1199842" y="306328"/>
                    </a:lnTo>
                    <a:lnTo>
                      <a:pt x="0" y="306328"/>
                    </a:lnTo>
                    <a:lnTo>
                      <a:pt x="0" y="100569"/>
                    </a:lnTo>
                    <a:cubicBezTo>
                      <a:pt x="0" y="45026"/>
                      <a:pt x="45026" y="0"/>
                      <a:pt x="100569" y="0"/>
                    </a:cubicBezTo>
                    <a:close/>
                  </a:path>
                </a:pathLst>
              </a:cu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光</a:t>
                </a:r>
              </a:p>
            </p:txBody>
          </p:sp>
          <p:sp>
            <p:nvSpPr>
              <p:cNvPr id="15" name="フリーフォーム: 図形 14">
                <a:extLst>
                  <a:ext uri="{FF2B5EF4-FFF2-40B4-BE49-F238E27FC236}">
                    <a16:creationId xmlns:a16="http://schemas.microsoft.com/office/drawing/2014/main" id="{E365014D-24BE-0EF5-7466-1B1616F056B9}"/>
                  </a:ext>
                </a:extLst>
              </p:cNvPr>
              <p:cNvSpPr/>
              <p:nvPr/>
            </p:nvSpPr>
            <p:spPr>
              <a:xfrm>
                <a:off x="3191717" y="2391844"/>
                <a:ext cx="1199842" cy="297071"/>
              </a:xfrm>
              <a:custGeom>
                <a:avLst/>
                <a:gdLst>
                  <a:gd name="connsiteX0" fmla="*/ 0 w 1199842"/>
                  <a:gd name="connsiteY0" fmla="*/ 0 h 297071"/>
                  <a:gd name="connsiteX1" fmla="*/ 1199842 w 1199842"/>
                  <a:gd name="connsiteY1" fmla="*/ 0 h 297071"/>
                  <a:gd name="connsiteX2" fmla="*/ 1199842 w 1199842"/>
                  <a:gd name="connsiteY2" fmla="*/ 196502 h 297071"/>
                  <a:gd name="connsiteX3" fmla="*/ 1099273 w 1199842"/>
                  <a:gd name="connsiteY3" fmla="*/ 297071 h 297071"/>
                  <a:gd name="connsiteX4" fmla="*/ 100569 w 1199842"/>
                  <a:gd name="connsiteY4" fmla="*/ 297071 h 297071"/>
                  <a:gd name="connsiteX5" fmla="*/ 0 w 1199842"/>
                  <a:gd name="connsiteY5" fmla="*/ 196502 h 297071"/>
                  <a:gd name="connsiteX6" fmla="*/ 0 w 1199842"/>
                  <a:gd name="connsiteY6" fmla="*/ 0 h 29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297071">
                    <a:moveTo>
                      <a:pt x="0" y="0"/>
                    </a:moveTo>
                    <a:lnTo>
                      <a:pt x="1199842" y="0"/>
                    </a:lnTo>
                    <a:lnTo>
                      <a:pt x="1199842" y="196502"/>
                    </a:lnTo>
                    <a:cubicBezTo>
                      <a:pt x="1199842" y="252045"/>
                      <a:pt x="1154816" y="297071"/>
                      <a:pt x="1099273" y="297071"/>
                    </a:cubicBezTo>
                    <a:lnTo>
                      <a:pt x="100569" y="297071"/>
                    </a:lnTo>
                    <a:cubicBezTo>
                      <a:pt x="45026" y="297071"/>
                      <a:pt x="0" y="252045"/>
                      <a:pt x="0" y="196502"/>
                    </a:cubicBez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熱</a:t>
                </a:r>
              </a:p>
            </p:txBody>
          </p:sp>
        </p:grp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9A66A343-FA88-3EBC-B917-EB4D99039898}"/>
                </a:ext>
              </a:extLst>
            </p:cNvPr>
            <p:cNvSpPr/>
            <p:nvPr/>
          </p:nvSpPr>
          <p:spPr>
            <a:xfrm>
              <a:off x="573651" y="1796745"/>
              <a:ext cx="3941575" cy="10587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二等辺三角形 28">
              <a:extLst>
                <a:ext uri="{FF2B5EF4-FFF2-40B4-BE49-F238E27FC236}">
                  <a16:creationId xmlns:a16="http://schemas.microsoft.com/office/drawing/2014/main" id="{E90A5674-5199-30CE-AA4E-8DD9988028A6}"/>
                </a:ext>
              </a:extLst>
            </p:cNvPr>
            <p:cNvSpPr/>
            <p:nvPr/>
          </p:nvSpPr>
          <p:spPr>
            <a:xfrm>
              <a:off x="2217720" y="1903376"/>
              <a:ext cx="653436" cy="559359"/>
            </a:xfrm>
            <a:prstGeom prst="triangl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矢印: 右 29">
              <a:extLst>
                <a:ext uri="{FF2B5EF4-FFF2-40B4-BE49-F238E27FC236}">
                  <a16:creationId xmlns:a16="http://schemas.microsoft.com/office/drawing/2014/main" id="{94B5683C-D1FC-AC7D-33DE-F0A1840A72ED}"/>
                </a:ext>
              </a:extLst>
            </p:cNvPr>
            <p:cNvSpPr/>
            <p:nvPr/>
          </p:nvSpPr>
          <p:spPr>
            <a:xfrm>
              <a:off x="2259365" y="1340785"/>
              <a:ext cx="570146" cy="256113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FFCF8284-B019-08C2-7F09-C68A534D58E8}"/>
                </a:ext>
              </a:extLst>
            </p:cNvPr>
            <p:cNvSpPr txBox="1"/>
            <p:nvPr/>
          </p:nvSpPr>
          <p:spPr>
            <a:xfrm>
              <a:off x="2246921" y="945155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600" dirty="0"/>
                <a:t>太陽</a:t>
              </a:r>
            </a:p>
          </p:txBody>
        </p:sp>
        <p:pic>
          <p:nvPicPr>
            <p:cNvPr id="94" name="Picture 6" descr="太陽のイラスト（黄）">
              <a:extLst>
                <a:ext uri="{FF2B5EF4-FFF2-40B4-BE49-F238E27FC236}">
                  <a16:creationId xmlns:a16="http://schemas.microsoft.com/office/drawing/2014/main" id="{3EA450F5-3C2C-20A2-EF39-DD0089EBFE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4219" y="651972"/>
              <a:ext cx="595035" cy="603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8BEB4853-9109-9D00-E762-B1C8714B07F1}"/>
              </a:ext>
            </a:extLst>
          </p:cNvPr>
          <p:cNvGrpSpPr/>
          <p:nvPr/>
        </p:nvGrpSpPr>
        <p:grpSpPr>
          <a:xfrm>
            <a:off x="573651" y="2786685"/>
            <a:ext cx="3941575" cy="1883535"/>
            <a:chOff x="573651" y="2607385"/>
            <a:chExt cx="3941575" cy="1883535"/>
          </a:xfrm>
        </p:grpSpPr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00673A32-9F9A-1D81-4C2D-A909727AEA42}"/>
                </a:ext>
              </a:extLst>
            </p:cNvPr>
            <p:cNvSpPr/>
            <p:nvPr/>
          </p:nvSpPr>
          <p:spPr>
            <a:xfrm>
              <a:off x="695048" y="3196177"/>
              <a:ext cx="1199842" cy="603399"/>
            </a:xfrm>
            <a:custGeom>
              <a:avLst/>
              <a:gdLst>
                <a:gd name="connsiteX0" fmla="*/ 100569 w 1199842"/>
                <a:gd name="connsiteY0" fmla="*/ 0 h 603399"/>
                <a:gd name="connsiteX1" fmla="*/ 1099273 w 1199842"/>
                <a:gd name="connsiteY1" fmla="*/ 0 h 603399"/>
                <a:gd name="connsiteX2" fmla="*/ 1199842 w 1199842"/>
                <a:gd name="connsiteY2" fmla="*/ 100569 h 603399"/>
                <a:gd name="connsiteX3" fmla="*/ 1199842 w 1199842"/>
                <a:gd name="connsiteY3" fmla="*/ 502830 h 603399"/>
                <a:gd name="connsiteX4" fmla="*/ 1099273 w 1199842"/>
                <a:gd name="connsiteY4" fmla="*/ 603399 h 603399"/>
                <a:gd name="connsiteX5" fmla="*/ 100569 w 1199842"/>
                <a:gd name="connsiteY5" fmla="*/ 603399 h 603399"/>
                <a:gd name="connsiteX6" fmla="*/ 0 w 1199842"/>
                <a:gd name="connsiteY6" fmla="*/ 502830 h 603399"/>
                <a:gd name="connsiteX7" fmla="*/ 0 w 1199842"/>
                <a:gd name="connsiteY7" fmla="*/ 100569 h 603399"/>
                <a:gd name="connsiteX8" fmla="*/ 100569 w 1199842"/>
                <a:gd name="connsiteY8" fmla="*/ 0 h 60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9842" h="603399">
                  <a:moveTo>
                    <a:pt x="100569" y="0"/>
                  </a:moveTo>
                  <a:lnTo>
                    <a:pt x="1099273" y="0"/>
                  </a:lnTo>
                  <a:cubicBezTo>
                    <a:pt x="1154816" y="0"/>
                    <a:pt x="1199842" y="45026"/>
                    <a:pt x="1199842" y="100569"/>
                  </a:cubicBezTo>
                  <a:lnTo>
                    <a:pt x="1199842" y="502830"/>
                  </a:lnTo>
                  <a:cubicBezTo>
                    <a:pt x="1199842" y="558373"/>
                    <a:pt x="1154816" y="603399"/>
                    <a:pt x="1099273" y="603399"/>
                  </a:cubicBezTo>
                  <a:lnTo>
                    <a:pt x="100569" y="603399"/>
                  </a:lnTo>
                  <a:cubicBezTo>
                    <a:pt x="45026" y="603399"/>
                    <a:pt x="0" y="558373"/>
                    <a:pt x="0" y="502830"/>
                  </a:cubicBezTo>
                  <a:lnTo>
                    <a:pt x="0" y="100569"/>
                  </a:lnTo>
                  <a:cubicBezTo>
                    <a:pt x="0" y="45026"/>
                    <a:pt x="45026" y="0"/>
                    <a:pt x="100569" y="0"/>
                  </a:cubicBezTo>
                  <a:close/>
                </a:path>
              </a:pathLst>
            </a:cu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600" dirty="0"/>
                <a:t>熱</a:t>
              </a:r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5BF54EF6-5CD1-D811-88E9-650A2743A8AA}"/>
                </a:ext>
              </a:extLst>
            </p:cNvPr>
            <p:cNvGrpSpPr/>
            <p:nvPr/>
          </p:nvGrpSpPr>
          <p:grpSpPr>
            <a:xfrm>
              <a:off x="3170970" y="3196176"/>
              <a:ext cx="1199842" cy="603399"/>
              <a:chOff x="3191717" y="2085516"/>
              <a:chExt cx="1199842" cy="603399"/>
            </a:xfrm>
          </p:grpSpPr>
          <p:sp>
            <p:nvSpPr>
              <p:cNvPr id="16" name="フリーフォーム: 図形 15">
                <a:extLst>
                  <a:ext uri="{FF2B5EF4-FFF2-40B4-BE49-F238E27FC236}">
                    <a16:creationId xmlns:a16="http://schemas.microsoft.com/office/drawing/2014/main" id="{4794E6F7-F3F1-7C1A-1BC3-7295B8622127}"/>
                  </a:ext>
                </a:extLst>
              </p:cNvPr>
              <p:cNvSpPr/>
              <p:nvPr/>
            </p:nvSpPr>
            <p:spPr>
              <a:xfrm>
                <a:off x="3191717" y="2085516"/>
                <a:ext cx="1199842" cy="306328"/>
              </a:xfrm>
              <a:custGeom>
                <a:avLst/>
                <a:gdLst>
                  <a:gd name="connsiteX0" fmla="*/ 100569 w 1199842"/>
                  <a:gd name="connsiteY0" fmla="*/ 0 h 306328"/>
                  <a:gd name="connsiteX1" fmla="*/ 1099273 w 1199842"/>
                  <a:gd name="connsiteY1" fmla="*/ 0 h 306328"/>
                  <a:gd name="connsiteX2" fmla="*/ 1199842 w 1199842"/>
                  <a:gd name="connsiteY2" fmla="*/ 100569 h 306328"/>
                  <a:gd name="connsiteX3" fmla="*/ 1199842 w 1199842"/>
                  <a:gd name="connsiteY3" fmla="*/ 306328 h 306328"/>
                  <a:gd name="connsiteX4" fmla="*/ 0 w 1199842"/>
                  <a:gd name="connsiteY4" fmla="*/ 306328 h 306328"/>
                  <a:gd name="connsiteX5" fmla="*/ 0 w 1199842"/>
                  <a:gd name="connsiteY5" fmla="*/ 100569 h 306328"/>
                  <a:gd name="connsiteX6" fmla="*/ 100569 w 1199842"/>
                  <a:gd name="connsiteY6" fmla="*/ 0 h 306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306328">
                    <a:moveTo>
                      <a:pt x="100569" y="0"/>
                    </a:moveTo>
                    <a:lnTo>
                      <a:pt x="1099273" y="0"/>
                    </a:lnTo>
                    <a:cubicBezTo>
                      <a:pt x="1154816" y="0"/>
                      <a:pt x="1199842" y="45026"/>
                      <a:pt x="1199842" y="100569"/>
                    </a:cubicBezTo>
                    <a:lnTo>
                      <a:pt x="1199842" y="306328"/>
                    </a:lnTo>
                    <a:lnTo>
                      <a:pt x="0" y="306328"/>
                    </a:lnTo>
                    <a:lnTo>
                      <a:pt x="0" y="100569"/>
                    </a:lnTo>
                    <a:cubicBezTo>
                      <a:pt x="0" y="45026"/>
                      <a:pt x="45026" y="0"/>
                      <a:pt x="100569" y="0"/>
                    </a:cubicBezTo>
                    <a:close/>
                  </a:path>
                </a:pathLst>
              </a:cu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水の位置</a:t>
                </a:r>
              </a:p>
            </p:txBody>
          </p:sp>
          <p:sp>
            <p:nvSpPr>
              <p:cNvPr id="17" name="フリーフォーム: 図形 16">
                <a:extLst>
                  <a:ext uri="{FF2B5EF4-FFF2-40B4-BE49-F238E27FC236}">
                    <a16:creationId xmlns:a16="http://schemas.microsoft.com/office/drawing/2014/main" id="{BFE093CA-4EF6-368E-329F-1A40B6455ED7}"/>
                  </a:ext>
                </a:extLst>
              </p:cNvPr>
              <p:cNvSpPr/>
              <p:nvPr/>
            </p:nvSpPr>
            <p:spPr>
              <a:xfrm>
                <a:off x="3191717" y="2391844"/>
                <a:ext cx="1199842" cy="297071"/>
              </a:xfrm>
              <a:custGeom>
                <a:avLst/>
                <a:gdLst>
                  <a:gd name="connsiteX0" fmla="*/ 0 w 1199842"/>
                  <a:gd name="connsiteY0" fmla="*/ 0 h 297071"/>
                  <a:gd name="connsiteX1" fmla="*/ 1199842 w 1199842"/>
                  <a:gd name="connsiteY1" fmla="*/ 0 h 297071"/>
                  <a:gd name="connsiteX2" fmla="*/ 1199842 w 1199842"/>
                  <a:gd name="connsiteY2" fmla="*/ 196502 h 297071"/>
                  <a:gd name="connsiteX3" fmla="*/ 1099273 w 1199842"/>
                  <a:gd name="connsiteY3" fmla="*/ 297071 h 297071"/>
                  <a:gd name="connsiteX4" fmla="*/ 100569 w 1199842"/>
                  <a:gd name="connsiteY4" fmla="*/ 297071 h 297071"/>
                  <a:gd name="connsiteX5" fmla="*/ 0 w 1199842"/>
                  <a:gd name="connsiteY5" fmla="*/ 196502 h 297071"/>
                  <a:gd name="connsiteX6" fmla="*/ 0 w 1199842"/>
                  <a:gd name="connsiteY6" fmla="*/ 0 h 29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297071">
                    <a:moveTo>
                      <a:pt x="0" y="0"/>
                    </a:moveTo>
                    <a:lnTo>
                      <a:pt x="1199842" y="0"/>
                    </a:lnTo>
                    <a:lnTo>
                      <a:pt x="1199842" y="196502"/>
                    </a:lnTo>
                    <a:cubicBezTo>
                      <a:pt x="1199842" y="252045"/>
                      <a:pt x="1154816" y="297071"/>
                      <a:pt x="1099273" y="297071"/>
                    </a:cubicBezTo>
                    <a:lnTo>
                      <a:pt x="100569" y="297071"/>
                    </a:lnTo>
                    <a:cubicBezTo>
                      <a:pt x="45026" y="297071"/>
                      <a:pt x="0" y="252045"/>
                      <a:pt x="0" y="196502"/>
                    </a:cubicBez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水の熱</a:t>
                </a:r>
              </a:p>
            </p:txBody>
          </p:sp>
        </p:grp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5011DE0B-11FA-B821-3FCA-AB5813008B70}"/>
                </a:ext>
              </a:extLst>
            </p:cNvPr>
            <p:cNvSpPr/>
            <p:nvPr/>
          </p:nvSpPr>
          <p:spPr>
            <a:xfrm>
              <a:off x="573651" y="3824930"/>
              <a:ext cx="3941575" cy="10587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二等辺三角形 56">
              <a:extLst>
                <a:ext uri="{FF2B5EF4-FFF2-40B4-BE49-F238E27FC236}">
                  <a16:creationId xmlns:a16="http://schemas.microsoft.com/office/drawing/2014/main" id="{3B34D6A8-A2DB-EC4A-9139-78C95D4D5CE1}"/>
                </a:ext>
              </a:extLst>
            </p:cNvPr>
            <p:cNvSpPr/>
            <p:nvPr/>
          </p:nvSpPr>
          <p:spPr>
            <a:xfrm>
              <a:off x="2217720" y="3931561"/>
              <a:ext cx="653436" cy="559359"/>
            </a:xfrm>
            <a:prstGeom prst="triangl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矢印: 右 53">
              <a:extLst>
                <a:ext uri="{FF2B5EF4-FFF2-40B4-BE49-F238E27FC236}">
                  <a16:creationId xmlns:a16="http://schemas.microsoft.com/office/drawing/2014/main" id="{F3E81553-0C88-6146-C3A7-4A1532EF7722}"/>
                </a:ext>
              </a:extLst>
            </p:cNvPr>
            <p:cNvSpPr/>
            <p:nvPr/>
          </p:nvSpPr>
          <p:spPr>
            <a:xfrm>
              <a:off x="2259365" y="3367220"/>
              <a:ext cx="570146" cy="256113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D4789D65-2188-EDF9-7E8F-F184C61C871E}"/>
                </a:ext>
              </a:extLst>
            </p:cNvPr>
            <p:cNvSpPr txBox="1"/>
            <p:nvPr/>
          </p:nvSpPr>
          <p:spPr>
            <a:xfrm>
              <a:off x="2041737" y="2973340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600" dirty="0"/>
                <a:t>雲の発生</a:t>
              </a:r>
            </a:p>
          </p:txBody>
        </p:sp>
        <p:pic>
          <p:nvPicPr>
            <p:cNvPr id="96" name="Picture 4" descr="雲のイラスト">
              <a:extLst>
                <a:ext uri="{FF2B5EF4-FFF2-40B4-BE49-F238E27FC236}">
                  <a16:creationId xmlns:a16="http://schemas.microsoft.com/office/drawing/2014/main" id="{6D7D1429-A5B5-22C8-1B0F-C362DB064B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9111" y="2607385"/>
              <a:ext cx="525249" cy="474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6" name="グループ化 115">
            <a:extLst>
              <a:ext uri="{FF2B5EF4-FFF2-40B4-BE49-F238E27FC236}">
                <a16:creationId xmlns:a16="http://schemas.microsoft.com/office/drawing/2014/main" id="{FC18BC5E-EC8D-7542-1D60-EFBA2B8A51CD}"/>
              </a:ext>
            </a:extLst>
          </p:cNvPr>
          <p:cNvGrpSpPr/>
          <p:nvPr/>
        </p:nvGrpSpPr>
        <p:grpSpPr>
          <a:xfrm>
            <a:off x="5171919" y="610281"/>
            <a:ext cx="4084606" cy="2009799"/>
            <a:chOff x="5171919" y="430981"/>
            <a:chExt cx="4084606" cy="2009799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ACF3B0A9-CB16-BD1F-7503-D53A5283CC7A}"/>
                </a:ext>
              </a:extLst>
            </p:cNvPr>
            <p:cNvGrpSpPr/>
            <p:nvPr/>
          </p:nvGrpSpPr>
          <p:grpSpPr>
            <a:xfrm>
              <a:off x="7933015" y="1150723"/>
              <a:ext cx="1199842" cy="603399"/>
              <a:chOff x="3191717" y="2085516"/>
              <a:chExt cx="1199842" cy="603399"/>
            </a:xfrm>
          </p:grpSpPr>
          <p:sp>
            <p:nvSpPr>
              <p:cNvPr id="24" name="フリーフォーム: 図形 23">
                <a:extLst>
                  <a:ext uri="{FF2B5EF4-FFF2-40B4-BE49-F238E27FC236}">
                    <a16:creationId xmlns:a16="http://schemas.microsoft.com/office/drawing/2014/main" id="{105E21AA-18B1-8EC7-C8EA-7E2CEE680569}"/>
                  </a:ext>
                </a:extLst>
              </p:cNvPr>
              <p:cNvSpPr/>
              <p:nvPr/>
            </p:nvSpPr>
            <p:spPr>
              <a:xfrm>
                <a:off x="3191717" y="2085516"/>
                <a:ext cx="1199842" cy="306328"/>
              </a:xfrm>
              <a:custGeom>
                <a:avLst/>
                <a:gdLst>
                  <a:gd name="connsiteX0" fmla="*/ 100569 w 1199842"/>
                  <a:gd name="connsiteY0" fmla="*/ 0 h 306328"/>
                  <a:gd name="connsiteX1" fmla="*/ 1099273 w 1199842"/>
                  <a:gd name="connsiteY1" fmla="*/ 0 h 306328"/>
                  <a:gd name="connsiteX2" fmla="*/ 1199842 w 1199842"/>
                  <a:gd name="connsiteY2" fmla="*/ 100569 h 306328"/>
                  <a:gd name="connsiteX3" fmla="*/ 1199842 w 1199842"/>
                  <a:gd name="connsiteY3" fmla="*/ 306328 h 306328"/>
                  <a:gd name="connsiteX4" fmla="*/ 0 w 1199842"/>
                  <a:gd name="connsiteY4" fmla="*/ 306328 h 306328"/>
                  <a:gd name="connsiteX5" fmla="*/ 0 w 1199842"/>
                  <a:gd name="connsiteY5" fmla="*/ 100569 h 306328"/>
                  <a:gd name="connsiteX6" fmla="*/ 100569 w 1199842"/>
                  <a:gd name="connsiteY6" fmla="*/ 0 h 306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306328">
                    <a:moveTo>
                      <a:pt x="100569" y="0"/>
                    </a:moveTo>
                    <a:lnTo>
                      <a:pt x="1099273" y="0"/>
                    </a:lnTo>
                    <a:cubicBezTo>
                      <a:pt x="1154816" y="0"/>
                      <a:pt x="1199842" y="45026"/>
                      <a:pt x="1199842" y="100569"/>
                    </a:cubicBezTo>
                    <a:lnTo>
                      <a:pt x="1199842" y="306328"/>
                    </a:lnTo>
                    <a:lnTo>
                      <a:pt x="0" y="306328"/>
                    </a:lnTo>
                    <a:lnTo>
                      <a:pt x="0" y="100569"/>
                    </a:lnTo>
                    <a:cubicBezTo>
                      <a:pt x="0" y="45026"/>
                      <a:pt x="45026" y="0"/>
                      <a:pt x="100569" y="0"/>
                    </a:cubicBezTo>
                    <a:close/>
                  </a:path>
                </a:pathLst>
              </a:cu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植物の化学</a:t>
                </a:r>
              </a:p>
            </p:txBody>
          </p:sp>
          <p:sp>
            <p:nvSpPr>
              <p:cNvPr id="25" name="フリーフォーム: 図形 24">
                <a:extLst>
                  <a:ext uri="{FF2B5EF4-FFF2-40B4-BE49-F238E27FC236}">
                    <a16:creationId xmlns:a16="http://schemas.microsoft.com/office/drawing/2014/main" id="{7F9857DF-0DBF-7BE8-9141-F57C43562B80}"/>
                  </a:ext>
                </a:extLst>
              </p:cNvPr>
              <p:cNvSpPr/>
              <p:nvPr/>
            </p:nvSpPr>
            <p:spPr>
              <a:xfrm>
                <a:off x="3191717" y="2391844"/>
                <a:ext cx="1199842" cy="297071"/>
              </a:xfrm>
              <a:custGeom>
                <a:avLst/>
                <a:gdLst>
                  <a:gd name="connsiteX0" fmla="*/ 0 w 1199842"/>
                  <a:gd name="connsiteY0" fmla="*/ 0 h 297071"/>
                  <a:gd name="connsiteX1" fmla="*/ 1199842 w 1199842"/>
                  <a:gd name="connsiteY1" fmla="*/ 0 h 297071"/>
                  <a:gd name="connsiteX2" fmla="*/ 1199842 w 1199842"/>
                  <a:gd name="connsiteY2" fmla="*/ 196502 h 297071"/>
                  <a:gd name="connsiteX3" fmla="*/ 1099273 w 1199842"/>
                  <a:gd name="connsiteY3" fmla="*/ 297071 h 297071"/>
                  <a:gd name="connsiteX4" fmla="*/ 100569 w 1199842"/>
                  <a:gd name="connsiteY4" fmla="*/ 297071 h 297071"/>
                  <a:gd name="connsiteX5" fmla="*/ 0 w 1199842"/>
                  <a:gd name="connsiteY5" fmla="*/ 196502 h 297071"/>
                  <a:gd name="connsiteX6" fmla="*/ 0 w 1199842"/>
                  <a:gd name="connsiteY6" fmla="*/ 0 h 29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297071">
                    <a:moveTo>
                      <a:pt x="0" y="0"/>
                    </a:moveTo>
                    <a:lnTo>
                      <a:pt x="1199842" y="0"/>
                    </a:lnTo>
                    <a:lnTo>
                      <a:pt x="1199842" y="196502"/>
                    </a:lnTo>
                    <a:cubicBezTo>
                      <a:pt x="1199842" y="252045"/>
                      <a:pt x="1154816" y="297071"/>
                      <a:pt x="1099273" y="297071"/>
                    </a:cubicBezTo>
                    <a:lnTo>
                      <a:pt x="100569" y="297071"/>
                    </a:lnTo>
                    <a:cubicBezTo>
                      <a:pt x="45026" y="297071"/>
                      <a:pt x="0" y="252045"/>
                      <a:pt x="0" y="196502"/>
                    </a:cubicBez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葉の熱</a:t>
                </a:r>
              </a:p>
            </p:txBody>
          </p:sp>
        </p:grp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CBE572E1-F7B2-9789-A765-DE572ECFFD4F}"/>
                </a:ext>
              </a:extLst>
            </p:cNvPr>
            <p:cNvSpPr/>
            <p:nvPr/>
          </p:nvSpPr>
          <p:spPr>
            <a:xfrm>
              <a:off x="5433730" y="1148331"/>
              <a:ext cx="1199842" cy="603399"/>
            </a:xfrm>
            <a:custGeom>
              <a:avLst/>
              <a:gdLst>
                <a:gd name="connsiteX0" fmla="*/ 100569 w 1199842"/>
                <a:gd name="connsiteY0" fmla="*/ 0 h 603399"/>
                <a:gd name="connsiteX1" fmla="*/ 1099273 w 1199842"/>
                <a:gd name="connsiteY1" fmla="*/ 0 h 603399"/>
                <a:gd name="connsiteX2" fmla="*/ 1199842 w 1199842"/>
                <a:gd name="connsiteY2" fmla="*/ 100569 h 603399"/>
                <a:gd name="connsiteX3" fmla="*/ 1199842 w 1199842"/>
                <a:gd name="connsiteY3" fmla="*/ 502830 h 603399"/>
                <a:gd name="connsiteX4" fmla="*/ 1099273 w 1199842"/>
                <a:gd name="connsiteY4" fmla="*/ 603399 h 603399"/>
                <a:gd name="connsiteX5" fmla="*/ 100569 w 1199842"/>
                <a:gd name="connsiteY5" fmla="*/ 603399 h 603399"/>
                <a:gd name="connsiteX6" fmla="*/ 0 w 1199842"/>
                <a:gd name="connsiteY6" fmla="*/ 502830 h 603399"/>
                <a:gd name="connsiteX7" fmla="*/ 0 w 1199842"/>
                <a:gd name="connsiteY7" fmla="*/ 100569 h 603399"/>
                <a:gd name="connsiteX8" fmla="*/ 100569 w 1199842"/>
                <a:gd name="connsiteY8" fmla="*/ 0 h 60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9842" h="603399">
                  <a:moveTo>
                    <a:pt x="100569" y="0"/>
                  </a:moveTo>
                  <a:lnTo>
                    <a:pt x="1099273" y="0"/>
                  </a:lnTo>
                  <a:cubicBezTo>
                    <a:pt x="1154816" y="0"/>
                    <a:pt x="1199842" y="45026"/>
                    <a:pt x="1199842" y="100569"/>
                  </a:cubicBezTo>
                  <a:lnTo>
                    <a:pt x="1199842" y="502830"/>
                  </a:lnTo>
                  <a:cubicBezTo>
                    <a:pt x="1199842" y="558373"/>
                    <a:pt x="1154816" y="603399"/>
                    <a:pt x="1099273" y="603399"/>
                  </a:cubicBezTo>
                  <a:lnTo>
                    <a:pt x="100569" y="603399"/>
                  </a:lnTo>
                  <a:cubicBezTo>
                    <a:pt x="45026" y="603399"/>
                    <a:pt x="0" y="558373"/>
                    <a:pt x="0" y="502830"/>
                  </a:cubicBezTo>
                  <a:lnTo>
                    <a:pt x="0" y="100569"/>
                  </a:lnTo>
                  <a:cubicBezTo>
                    <a:pt x="0" y="45026"/>
                    <a:pt x="45026" y="0"/>
                    <a:pt x="100569" y="0"/>
                  </a:cubicBez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600" dirty="0"/>
                <a:t>太陽の</a:t>
              </a:r>
              <a:endParaRPr kumimoji="1" lang="en-US" altLang="ja-JP" sz="1600" dirty="0"/>
            </a:p>
            <a:p>
              <a:pPr algn="ctr"/>
              <a:r>
                <a:rPr kumimoji="1" lang="ja-JP" altLang="en-US" sz="1600" dirty="0"/>
                <a:t>光</a:t>
              </a:r>
            </a:p>
          </p:txBody>
        </p:sp>
        <p:grpSp>
          <p:nvGrpSpPr>
            <p:cNvPr id="64" name="グループ化 63">
              <a:extLst>
                <a:ext uri="{FF2B5EF4-FFF2-40B4-BE49-F238E27FC236}">
                  <a16:creationId xmlns:a16="http://schemas.microsoft.com/office/drawing/2014/main" id="{5E548337-4CFB-357F-E178-8A89ABB38A10}"/>
                </a:ext>
              </a:extLst>
            </p:cNvPr>
            <p:cNvGrpSpPr/>
            <p:nvPr/>
          </p:nvGrpSpPr>
          <p:grpSpPr>
            <a:xfrm>
              <a:off x="5314950" y="1774790"/>
              <a:ext cx="3941575" cy="665990"/>
              <a:chOff x="2073978" y="3075215"/>
              <a:chExt cx="5758043" cy="972910"/>
            </a:xfrm>
          </p:grpSpPr>
          <p:sp>
            <p:nvSpPr>
              <p:cNvPr id="67" name="正方形/長方形 66">
                <a:extLst>
                  <a:ext uri="{FF2B5EF4-FFF2-40B4-BE49-F238E27FC236}">
                    <a16:creationId xmlns:a16="http://schemas.microsoft.com/office/drawing/2014/main" id="{A4C2E1DB-F6E0-F80E-E8F0-7453D31126F9}"/>
                  </a:ext>
                </a:extLst>
              </p:cNvPr>
              <p:cNvSpPr/>
              <p:nvPr/>
            </p:nvSpPr>
            <p:spPr>
              <a:xfrm>
                <a:off x="2073978" y="3075215"/>
                <a:ext cx="5758043" cy="154668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8" name="二等辺三角形 67">
                <a:extLst>
                  <a:ext uri="{FF2B5EF4-FFF2-40B4-BE49-F238E27FC236}">
                    <a16:creationId xmlns:a16="http://schemas.microsoft.com/office/drawing/2014/main" id="{7C6385A3-7E94-8769-1992-0C7239833911}"/>
                  </a:ext>
                </a:extLst>
              </p:cNvPr>
              <p:cNvSpPr/>
              <p:nvPr/>
            </p:nvSpPr>
            <p:spPr>
              <a:xfrm>
                <a:off x="4475713" y="3230987"/>
                <a:ext cx="954571" cy="817138"/>
              </a:xfrm>
              <a:prstGeom prst="triangle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65" name="矢印: 右 64">
              <a:extLst>
                <a:ext uri="{FF2B5EF4-FFF2-40B4-BE49-F238E27FC236}">
                  <a16:creationId xmlns:a16="http://schemas.microsoft.com/office/drawing/2014/main" id="{73BC50A3-A26F-A610-55B0-51F79B97DAA3}"/>
                </a:ext>
              </a:extLst>
            </p:cNvPr>
            <p:cNvSpPr/>
            <p:nvPr/>
          </p:nvSpPr>
          <p:spPr>
            <a:xfrm>
              <a:off x="7000664" y="1340788"/>
              <a:ext cx="570146" cy="256113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439A924F-2607-7C89-5F1C-5EC9E4B27B71}"/>
                </a:ext>
              </a:extLst>
            </p:cNvPr>
            <p:cNvSpPr txBox="1"/>
            <p:nvPr/>
          </p:nvSpPr>
          <p:spPr>
            <a:xfrm>
              <a:off x="6885628" y="923200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600" dirty="0"/>
                <a:t>光合成</a:t>
              </a:r>
            </a:p>
          </p:txBody>
        </p:sp>
        <p:pic>
          <p:nvPicPr>
            <p:cNvPr id="99" name="Picture 6" descr="太陽のイラスト（黄）">
              <a:extLst>
                <a:ext uri="{FF2B5EF4-FFF2-40B4-BE49-F238E27FC236}">
                  <a16:creationId xmlns:a16="http://schemas.microsoft.com/office/drawing/2014/main" id="{B4ECFAA1-D2E1-204C-45C6-523054CCBF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1919" y="832569"/>
              <a:ext cx="595035" cy="603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" name="Picture 14" descr="温室植物園のイラスト">
              <a:extLst>
                <a:ext uri="{FF2B5EF4-FFF2-40B4-BE49-F238E27FC236}">
                  <a16:creationId xmlns:a16="http://schemas.microsoft.com/office/drawing/2014/main" id="{AD055EB1-74B1-6B09-3743-472F21A7AF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35497" y="430981"/>
              <a:ext cx="595036" cy="595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32FA02FF-FCEF-988B-021E-DC1DC0713FD3}"/>
              </a:ext>
            </a:extLst>
          </p:cNvPr>
          <p:cNvGrpSpPr/>
          <p:nvPr/>
        </p:nvGrpSpPr>
        <p:grpSpPr>
          <a:xfrm>
            <a:off x="5314950" y="2705474"/>
            <a:ext cx="3941575" cy="1942791"/>
            <a:chOff x="5314950" y="2526174"/>
            <a:chExt cx="3941575" cy="1942791"/>
          </a:xfrm>
        </p:grpSpPr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3549BB72-1270-EB30-3DDC-D44C393393BF}"/>
                </a:ext>
              </a:extLst>
            </p:cNvPr>
            <p:cNvGrpSpPr/>
            <p:nvPr/>
          </p:nvGrpSpPr>
          <p:grpSpPr>
            <a:xfrm>
              <a:off x="7952560" y="3176703"/>
              <a:ext cx="1199842" cy="603399"/>
              <a:chOff x="3191717" y="2085516"/>
              <a:chExt cx="1199842" cy="603399"/>
            </a:xfrm>
            <a:gradFill flip="none" rotWithShape="1">
              <a:gsLst>
                <a:gs pos="0">
                  <a:srgbClr val="7030A0">
                    <a:tint val="66000"/>
                    <a:satMod val="160000"/>
                  </a:srgbClr>
                </a:gs>
                <a:gs pos="50000">
                  <a:srgbClr val="7030A0">
                    <a:tint val="44500"/>
                    <a:satMod val="160000"/>
                  </a:srgbClr>
                </a:gs>
                <a:gs pos="100000">
                  <a:srgbClr val="7030A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</p:grpSpPr>
          <p:sp>
            <p:nvSpPr>
              <p:cNvPr id="32" name="フリーフォーム: 図形 31">
                <a:extLst>
                  <a:ext uri="{FF2B5EF4-FFF2-40B4-BE49-F238E27FC236}">
                    <a16:creationId xmlns:a16="http://schemas.microsoft.com/office/drawing/2014/main" id="{3137A6CA-C641-2178-51F5-9991E0108543}"/>
                  </a:ext>
                </a:extLst>
              </p:cNvPr>
              <p:cNvSpPr/>
              <p:nvPr/>
            </p:nvSpPr>
            <p:spPr>
              <a:xfrm>
                <a:off x="3191717" y="2085516"/>
                <a:ext cx="1199842" cy="306328"/>
              </a:xfrm>
              <a:custGeom>
                <a:avLst/>
                <a:gdLst>
                  <a:gd name="connsiteX0" fmla="*/ 100569 w 1199842"/>
                  <a:gd name="connsiteY0" fmla="*/ 0 h 306328"/>
                  <a:gd name="connsiteX1" fmla="*/ 1099273 w 1199842"/>
                  <a:gd name="connsiteY1" fmla="*/ 0 h 306328"/>
                  <a:gd name="connsiteX2" fmla="*/ 1199842 w 1199842"/>
                  <a:gd name="connsiteY2" fmla="*/ 100569 h 306328"/>
                  <a:gd name="connsiteX3" fmla="*/ 1199842 w 1199842"/>
                  <a:gd name="connsiteY3" fmla="*/ 306328 h 306328"/>
                  <a:gd name="connsiteX4" fmla="*/ 0 w 1199842"/>
                  <a:gd name="connsiteY4" fmla="*/ 306328 h 306328"/>
                  <a:gd name="connsiteX5" fmla="*/ 0 w 1199842"/>
                  <a:gd name="connsiteY5" fmla="*/ 100569 h 306328"/>
                  <a:gd name="connsiteX6" fmla="*/ 100569 w 1199842"/>
                  <a:gd name="connsiteY6" fmla="*/ 0 h 306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306328">
                    <a:moveTo>
                      <a:pt x="100569" y="0"/>
                    </a:moveTo>
                    <a:lnTo>
                      <a:pt x="1099273" y="0"/>
                    </a:lnTo>
                    <a:cubicBezTo>
                      <a:pt x="1154816" y="0"/>
                      <a:pt x="1199842" y="45026"/>
                      <a:pt x="1199842" y="100569"/>
                    </a:cubicBezTo>
                    <a:lnTo>
                      <a:pt x="1199842" y="306328"/>
                    </a:lnTo>
                    <a:lnTo>
                      <a:pt x="0" y="306328"/>
                    </a:lnTo>
                    <a:lnTo>
                      <a:pt x="0" y="100569"/>
                    </a:lnTo>
                    <a:cubicBezTo>
                      <a:pt x="0" y="45026"/>
                      <a:pt x="45026" y="0"/>
                      <a:pt x="100569" y="0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機械の運動</a:t>
                </a:r>
              </a:p>
            </p:txBody>
          </p:sp>
          <p:sp>
            <p:nvSpPr>
              <p:cNvPr id="34" name="フリーフォーム: 図形 33">
                <a:extLst>
                  <a:ext uri="{FF2B5EF4-FFF2-40B4-BE49-F238E27FC236}">
                    <a16:creationId xmlns:a16="http://schemas.microsoft.com/office/drawing/2014/main" id="{6E55B243-9C37-BD18-D6B4-1801A03BCD73}"/>
                  </a:ext>
                </a:extLst>
              </p:cNvPr>
              <p:cNvSpPr/>
              <p:nvPr/>
            </p:nvSpPr>
            <p:spPr>
              <a:xfrm>
                <a:off x="3191717" y="2391844"/>
                <a:ext cx="1199842" cy="297071"/>
              </a:xfrm>
              <a:custGeom>
                <a:avLst/>
                <a:gdLst>
                  <a:gd name="connsiteX0" fmla="*/ 0 w 1199842"/>
                  <a:gd name="connsiteY0" fmla="*/ 0 h 297071"/>
                  <a:gd name="connsiteX1" fmla="*/ 1199842 w 1199842"/>
                  <a:gd name="connsiteY1" fmla="*/ 0 h 297071"/>
                  <a:gd name="connsiteX2" fmla="*/ 1199842 w 1199842"/>
                  <a:gd name="connsiteY2" fmla="*/ 196502 h 297071"/>
                  <a:gd name="connsiteX3" fmla="*/ 1099273 w 1199842"/>
                  <a:gd name="connsiteY3" fmla="*/ 297071 h 297071"/>
                  <a:gd name="connsiteX4" fmla="*/ 100569 w 1199842"/>
                  <a:gd name="connsiteY4" fmla="*/ 297071 h 297071"/>
                  <a:gd name="connsiteX5" fmla="*/ 0 w 1199842"/>
                  <a:gd name="connsiteY5" fmla="*/ 196502 h 297071"/>
                  <a:gd name="connsiteX6" fmla="*/ 0 w 1199842"/>
                  <a:gd name="connsiteY6" fmla="*/ 0 h 29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297071">
                    <a:moveTo>
                      <a:pt x="0" y="0"/>
                    </a:moveTo>
                    <a:lnTo>
                      <a:pt x="1199842" y="0"/>
                    </a:lnTo>
                    <a:lnTo>
                      <a:pt x="1199842" y="196502"/>
                    </a:lnTo>
                    <a:cubicBezTo>
                      <a:pt x="1199842" y="252045"/>
                      <a:pt x="1154816" y="297071"/>
                      <a:pt x="1099273" y="297071"/>
                    </a:cubicBezTo>
                    <a:lnTo>
                      <a:pt x="100569" y="297071"/>
                    </a:lnTo>
                    <a:cubicBezTo>
                      <a:pt x="45026" y="297071"/>
                      <a:pt x="0" y="252045"/>
                      <a:pt x="0" y="19650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機械の音</a:t>
                </a:r>
              </a:p>
            </p:txBody>
          </p:sp>
        </p:grp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F07B142B-2224-3C0B-A195-5001E1258793}"/>
                </a:ext>
              </a:extLst>
            </p:cNvPr>
            <p:cNvSpPr/>
            <p:nvPr/>
          </p:nvSpPr>
          <p:spPr>
            <a:xfrm>
              <a:off x="5485345" y="3176703"/>
              <a:ext cx="1199842" cy="603399"/>
            </a:xfrm>
            <a:custGeom>
              <a:avLst/>
              <a:gdLst>
                <a:gd name="connsiteX0" fmla="*/ 100569 w 1199842"/>
                <a:gd name="connsiteY0" fmla="*/ 0 h 603399"/>
                <a:gd name="connsiteX1" fmla="*/ 1099273 w 1199842"/>
                <a:gd name="connsiteY1" fmla="*/ 0 h 603399"/>
                <a:gd name="connsiteX2" fmla="*/ 1199842 w 1199842"/>
                <a:gd name="connsiteY2" fmla="*/ 100569 h 603399"/>
                <a:gd name="connsiteX3" fmla="*/ 1199842 w 1199842"/>
                <a:gd name="connsiteY3" fmla="*/ 502830 h 603399"/>
                <a:gd name="connsiteX4" fmla="*/ 1099273 w 1199842"/>
                <a:gd name="connsiteY4" fmla="*/ 603399 h 603399"/>
                <a:gd name="connsiteX5" fmla="*/ 100569 w 1199842"/>
                <a:gd name="connsiteY5" fmla="*/ 603399 h 603399"/>
                <a:gd name="connsiteX6" fmla="*/ 0 w 1199842"/>
                <a:gd name="connsiteY6" fmla="*/ 502830 h 603399"/>
                <a:gd name="connsiteX7" fmla="*/ 0 w 1199842"/>
                <a:gd name="connsiteY7" fmla="*/ 100569 h 603399"/>
                <a:gd name="connsiteX8" fmla="*/ 100569 w 1199842"/>
                <a:gd name="connsiteY8" fmla="*/ 0 h 60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9842" h="603399">
                  <a:moveTo>
                    <a:pt x="100569" y="0"/>
                  </a:moveTo>
                  <a:lnTo>
                    <a:pt x="1099273" y="0"/>
                  </a:lnTo>
                  <a:cubicBezTo>
                    <a:pt x="1154816" y="0"/>
                    <a:pt x="1199842" y="45026"/>
                    <a:pt x="1199842" y="100569"/>
                  </a:cubicBezTo>
                  <a:lnTo>
                    <a:pt x="1199842" y="502830"/>
                  </a:lnTo>
                  <a:cubicBezTo>
                    <a:pt x="1199842" y="558373"/>
                    <a:pt x="1154816" y="603399"/>
                    <a:pt x="1099273" y="603399"/>
                  </a:cubicBezTo>
                  <a:lnTo>
                    <a:pt x="100569" y="603399"/>
                  </a:lnTo>
                  <a:cubicBezTo>
                    <a:pt x="45026" y="603399"/>
                    <a:pt x="0" y="558373"/>
                    <a:pt x="0" y="502830"/>
                  </a:cubicBezTo>
                  <a:lnTo>
                    <a:pt x="0" y="100569"/>
                  </a:lnTo>
                  <a:cubicBezTo>
                    <a:pt x="0" y="45026"/>
                    <a:pt x="45026" y="0"/>
                    <a:pt x="100569" y="0"/>
                  </a:cubicBezTo>
                  <a:close/>
                </a:path>
              </a:pathLst>
            </a:cu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600" dirty="0"/>
                <a:t>電気</a:t>
              </a:r>
            </a:p>
          </p:txBody>
        </p: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71684560-F0B9-6BEB-8F74-2BEB9FA681B2}"/>
                </a:ext>
              </a:extLst>
            </p:cNvPr>
            <p:cNvGrpSpPr/>
            <p:nvPr/>
          </p:nvGrpSpPr>
          <p:grpSpPr>
            <a:xfrm>
              <a:off x="5314950" y="3802975"/>
              <a:ext cx="3941575" cy="665990"/>
              <a:chOff x="2073978" y="3075215"/>
              <a:chExt cx="5758043" cy="972910"/>
            </a:xfrm>
          </p:grpSpPr>
          <p:sp>
            <p:nvSpPr>
              <p:cNvPr id="89" name="正方形/長方形 88">
                <a:extLst>
                  <a:ext uri="{FF2B5EF4-FFF2-40B4-BE49-F238E27FC236}">
                    <a16:creationId xmlns:a16="http://schemas.microsoft.com/office/drawing/2014/main" id="{E1492529-F844-4D96-8353-5DF2C413EB6A}"/>
                  </a:ext>
                </a:extLst>
              </p:cNvPr>
              <p:cNvSpPr/>
              <p:nvPr/>
            </p:nvSpPr>
            <p:spPr>
              <a:xfrm>
                <a:off x="2073978" y="3075215"/>
                <a:ext cx="5758043" cy="154668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0" name="二等辺三角形 89">
                <a:extLst>
                  <a:ext uri="{FF2B5EF4-FFF2-40B4-BE49-F238E27FC236}">
                    <a16:creationId xmlns:a16="http://schemas.microsoft.com/office/drawing/2014/main" id="{D14BC129-9F22-0EAC-5DA5-615FBC7D3456}"/>
                  </a:ext>
                </a:extLst>
              </p:cNvPr>
              <p:cNvSpPr/>
              <p:nvPr/>
            </p:nvSpPr>
            <p:spPr>
              <a:xfrm>
                <a:off x="4475713" y="3230987"/>
                <a:ext cx="954571" cy="817138"/>
              </a:xfrm>
              <a:prstGeom prst="triangle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7" name="矢印: 右 86">
              <a:extLst>
                <a:ext uri="{FF2B5EF4-FFF2-40B4-BE49-F238E27FC236}">
                  <a16:creationId xmlns:a16="http://schemas.microsoft.com/office/drawing/2014/main" id="{6772EEF1-8AE4-7C12-E64F-3D1446269B00}"/>
                </a:ext>
              </a:extLst>
            </p:cNvPr>
            <p:cNvSpPr/>
            <p:nvPr/>
          </p:nvSpPr>
          <p:spPr>
            <a:xfrm>
              <a:off x="7000664" y="3360347"/>
              <a:ext cx="570146" cy="256113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テキスト ボックス 87">
              <a:extLst>
                <a:ext uri="{FF2B5EF4-FFF2-40B4-BE49-F238E27FC236}">
                  <a16:creationId xmlns:a16="http://schemas.microsoft.com/office/drawing/2014/main" id="{D875A813-BCED-F916-9705-045D5EBE76B5}"/>
                </a:ext>
              </a:extLst>
            </p:cNvPr>
            <p:cNvSpPr txBox="1"/>
            <p:nvPr/>
          </p:nvSpPr>
          <p:spPr>
            <a:xfrm>
              <a:off x="6988220" y="2951385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600" dirty="0"/>
                <a:t>機械</a:t>
              </a:r>
            </a:p>
          </p:txBody>
        </p:sp>
        <p:pic>
          <p:nvPicPr>
            <p:cNvPr id="101" name="Picture 26" descr="旋盤のイラスト">
              <a:extLst>
                <a:ext uri="{FF2B5EF4-FFF2-40B4-BE49-F238E27FC236}">
                  <a16:creationId xmlns:a16="http://schemas.microsoft.com/office/drawing/2014/main" id="{46ADE46B-2F90-7217-3F00-37AC53B989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5440" y="2526174"/>
              <a:ext cx="787831" cy="559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4" name="グループ化 113">
            <a:extLst>
              <a:ext uri="{FF2B5EF4-FFF2-40B4-BE49-F238E27FC236}">
                <a16:creationId xmlns:a16="http://schemas.microsoft.com/office/drawing/2014/main" id="{569EDFF1-0AB0-3822-6497-676E41E31EE5}"/>
              </a:ext>
            </a:extLst>
          </p:cNvPr>
          <p:cNvGrpSpPr/>
          <p:nvPr/>
        </p:nvGrpSpPr>
        <p:grpSpPr>
          <a:xfrm>
            <a:off x="5171919" y="4639315"/>
            <a:ext cx="4084606" cy="1988471"/>
            <a:chOff x="5171919" y="4460015"/>
            <a:chExt cx="4084606" cy="1988471"/>
          </a:xfrm>
        </p:grpSpPr>
        <p:grpSp>
          <p:nvGrpSpPr>
            <p:cNvPr id="93" name="グループ化 92">
              <a:extLst>
                <a:ext uri="{FF2B5EF4-FFF2-40B4-BE49-F238E27FC236}">
                  <a16:creationId xmlns:a16="http://schemas.microsoft.com/office/drawing/2014/main" id="{3BCB64E8-1FC0-9F30-EA99-B1281765874F}"/>
                </a:ext>
              </a:extLst>
            </p:cNvPr>
            <p:cNvGrpSpPr/>
            <p:nvPr/>
          </p:nvGrpSpPr>
          <p:grpSpPr>
            <a:xfrm>
              <a:off x="7952560" y="5161349"/>
              <a:ext cx="1199842" cy="603399"/>
              <a:chOff x="3191717" y="2085516"/>
              <a:chExt cx="1199842" cy="603399"/>
            </a:xfrm>
          </p:grpSpPr>
          <p:sp>
            <p:nvSpPr>
              <p:cNvPr id="95" name="フリーフォーム: 図形 94">
                <a:extLst>
                  <a:ext uri="{FF2B5EF4-FFF2-40B4-BE49-F238E27FC236}">
                    <a16:creationId xmlns:a16="http://schemas.microsoft.com/office/drawing/2014/main" id="{311EC6BD-1D46-B754-2295-717D63717262}"/>
                  </a:ext>
                </a:extLst>
              </p:cNvPr>
              <p:cNvSpPr/>
              <p:nvPr/>
            </p:nvSpPr>
            <p:spPr>
              <a:xfrm>
                <a:off x="3191717" y="2085516"/>
                <a:ext cx="1199842" cy="306328"/>
              </a:xfrm>
              <a:custGeom>
                <a:avLst/>
                <a:gdLst>
                  <a:gd name="connsiteX0" fmla="*/ 100569 w 1199842"/>
                  <a:gd name="connsiteY0" fmla="*/ 0 h 306328"/>
                  <a:gd name="connsiteX1" fmla="*/ 1099273 w 1199842"/>
                  <a:gd name="connsiteY1" fmla="*/ 0 h 306328"/>
                  <a:gd name="connsiteX2" fmla="*/ 1199842 w 1199842"/>
                  <a:gd name="connsiteY2" fmla="*/ 100569 h 306328"/>
                  <a:gd name="connsiteX3" fmla="*/ 1199842 w 1199842"/>
                  <a:gd name="connsiteY3" fmla="*/ 306328 h 306328"/>
                  <a:gd name="connsiteX4" fmla="*/ 0 w 1199842"/>
                  <a:gd name="connsiteY4" fmla="*/ 306328 h 306328"/>
                  <a:gd name="connsiteX5" fmla="*/ 0 w 1199842"/>
                  <a:gd name="connsiteY5" fmla="*/ 100569 h 306328"/>
                  <a:gd name="connsiteX6" fmla="*/ 100569 w 1199842"/>
                  <a:gd name="connsiteY6" fmla="*/ 0 h 306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306328">
                    <a:moveTo>
                      <a:pt x="100569" y="0"/>
                    </a:moveTo>
                    <a:lnTo>
                      <a:pt x="1099273" y="0"/>
                    </a:lnTo>
                    <a:cubicBezTo>
                      <a:pt x="1154816" y="0"/>
                      <a:pt x="1199842" y="45026"/>
                      <a:pt x="1199842" y="100569"/>
                    </a:cubicBezTo>
                    <a:lnTo>
                      <a:pt x="1199842" y="306328"/>
                    </a:lnTo>
                    <a:lnTo>
                      <a:pt x="0" y="306328"/>
                    </a:lnTo>
                    <a:lnTo>
                      <a:pt x="0" y="100569"/>
                    </a:lnTo>
                    <a:cubicBezTo>
                      <a:pt x="0" y="45026"/>
                      <a:pt x="45026" y="0"/>
                      <a:pt x="100569" y="0"/>
                    </a:cubicBezTo>
                    <a:close/>
                  </a:path>
                </a:pathLst>
              </a:cu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電気</a:t>
                </a:r>
              </a:p>
            </p:txBody>
          </p:sp>
          <p:sp>
            <p:nvSpPr>
              <p:cNvPr id="110" name="フリーフォーム: 図形 109">
                <a:extLst>
                  <a:ext uri="{FF2B5EF4-FFF2-40B4-BE49-F238E27FC236}">
                    <a16:creationId xmlns:a16="http://schemas.microsoft.com/office/drawing/2014/main" id="{40E1F721-B095-3EFE-1042-C9168B13B7AF}"/>
                  </a:ext>
                </a:extLst>
              </p:cNvPr>
              <p:cNvSpPr/>
              <p:nvPr/>
            </p:nvSpPr>
            <p:spPr>
              <a:xfrm>
                <a:off x="3191717" y="2391844"/>
                <a:ext cx="1199842" cy="297071"/>
              </a:xfrm>
              <a:custGeom>
                <a:avLst/>
                <a:gdLst>
                  <a:gd name="connsiteX0" fmla="*/ 0 w 1199842"/>
                  <a:gd name="connsiteY0" fmla="*/ 0 h 297071"/>
                  <a:gd name="connsiteX1" fmla="*/ 1199842 w 1199842"/>
                  <a:gd name="connsiteY1" fmla="*/ 0 h 297071"/>
                  <a:gd name="connsiteX2" fmla="*/ 1199842 w 1199842"/>
                  <a:gd name="connsiteY2" fmla="*/ 196502 h 297071"/>
                  <a:gd name="connsiteX3" fmla="*/ 1099273 w 1199842"/>
                  <a:gd name="connsiteY3" fmla="*/ 297071 h 297071"/>
                  <a:gd name="connsiteX4" fmla="*/ 100569 w 1199842"/>
                  <a:gd name="connsiteY4" fmla="*/ 297071 h 297071"/>
                  <a:gd name="connsiteX5" fmla="*/ 0 w 1199842"/>
                  <a:gd name="connsiteY5" fmla="*/ 196502 h 297071"/>
                  <a:gd name="connsiteX6" fmla="*/ 0 w 1199842"/>
                  <a:gd name="connsiteY6" fmla="*/ 0 h 29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297071">
                    <a:moveTo>
                      <a:pt x="0" y="0"/>
                    </a:moveTo>
                    <a:lnTo>
                      <a:pt x="1199842" y="0"/>
                    </a:lnTo>
                    <a:lnTo>
                      <a:pt x="1199842" y="196502"/>
                    </a:lnTo>
                    <a:cubicBezTo>
                      <a:pt x="1199842" y="252045"/>
                      <a:pt x="1154816" y="297071"/>
                      <a:pt x="1099273" y="297071"/>
                    </a:cubicBezTo>
                    <a:lnTo>
                      <a:pt x="100569" y="297071"/>
                    </a:lnTo>
                    <a:cubicBezTo>
                      <a:pt x="45026" y="297071"/>
                      <a:pt x="0" y="252045"/>
                      <a:pt x="0" y="196502"/>
                    </a:cubicBez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水の熱</a:t>
                </a:r>
              </a:p>
            </p:txBody>
          </p:sp>
        </p:grp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DFB553ED-D3DE-C541-4A19-57E841252FC1}"/>
                </a:ext>
              </a:extLst>
            </p:cNvPr>
            <p:cNvSpPr/>
            <p:nvPr/>
          </p:nvSpPr>
          <p:spPr>
            <a:xfrm>
              <a:off x="5483622" y="5167915"/>
              <a:ext cx="1199842" cy="603399"/>
            </a:xfrm>
            <a:custGeom>
              <a:avLst/>
              <a:gdLst>
                <a:gd name="connsiteX0" fmla="*/ 100569 w 1199842"/>
                <a:gd name="connsiteY0" fmla="*/ 0 h 603399"/>
                <a:gd name="connsiteX1" fmla="*/ 1099273 w 1199842"/>
                <a:gd name="connsiteY1" fmla="*/ 0 h 603399"/>
                <a:gd name="connsiteX2" fmla="*/ 1199842 w 1199842"/>
                <a:gd name="connsiteY2" fmla="*/ 100569 h 603399"/>
                <a:gd name="connsiteX3" fmla="*/ 1199842 w 1199842"/>
                <a:gd name="connsiteY3" fmla="*/ 502830 h 603399"/>
                <a:gd name="connsiteX4" fmla="*/ 1099273 w 1199842"/>
                <a:gd name="connsiteY4" fmla="*/ 603399 h 603399"/>
                <a:gd name="connsiteX5" fmla="*/ 100569 w 1199842"/>
                <a:gd name="connsiteY5" fmla="*/ 603399 h 603399"/>
                <a:gd name="connsiteX6" fmla="*/ 0 w 1199842"/>
                <a:gd name="connsiteY6" fmla="*/ 502830 h 603399"/>
                <a:gd name="connsiteX7" fmla="*/ 0 w 1199842"/>
                <a:gd name="connsiteY7" fmla="*/ 100569 h 603399"/>
                <a:gd name="connsiteX8" fmla="*/ 100569 w 1199842"/>
                <a:gd name="connsiteY8" fmla="*/ 0 h 60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9842" h="603399">
                  <a:moveTo>
                    <a:pt x="100569" y="0"/>
                  </a:moveTo>
                  <a:lnTo>
                    <a:pt x="1099273" y="0"/>
                  </a:lnTo>
                  <a:cubicBezTo>
                    <a:pt x="1154816" y="0"/>
                    <a:pt x="1199842" y="45026"/>
                    <a:pt x="1199842" y="100569"/>
                  </a:cubicBezTo>
                  <a:lnTo>
                    <a:pt x="1199842" y="502830"/>
                  </a:lnTo>
                  <a:cubicBezTo>
                    <a:pt x="1199842" y="558373"/>
                    <a:pt x="1154816" y="603399"/>
                    <a:pt x="1099273" y="603399"/>
                  </a:cubicBezTo>
                  <a:lnTo>
                    <a:pt x="100569" y="603399"/>
                  </a:lnTo>
                  <a:cubicBezTo>
                    <a:pt x="45026" y="603399"/>
                    <a:pt x="0" y="558373"/>
                    <a:pt x="0" y="502830"/>
                  </a:cubicBezTo>
                  <a:lnTo>
                    <a:pt x="0" y="100569"/>
                  </a:lnTo>
                  <a:cubicBezTo>
                    <a:pt x="0" y="45026"/>
                    <a:pt x="45026" y="0"/>
                    <a:pt x="100569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600" dirty="0"/>
                <a:t>燃料の</a:t>
              </a:r>
              <a:endParaRPr kumimoji="1" lang="en-US" altLang="ja-JP" sz="1600" dirty="0"/>
            </a:p>
            <a:p>
              <a:pPr algn="ctr"/>
              <a:r>
                <a:rPr kumimoji="1" lang="ja-JP" altLang="en-US" sz="1600" dirty="0"/>
                <a:t>化学</a:t>
              </a:r>
            </a:p>
          </p:txBody>
        </p:sp>
        <p:grpSp>
          <p:nvGrpSpPr>
            <p:cNvPr id="75" name="グループ化 74">
              <a:extLst>
                <a:ext uri="{FF2B5EF4-FFF2-40B4-BE49-F238E27FC236}">
                  <a16:creationId xmlns:a16="http://schemas.microsoft.com/office/drawing/2014/main" id="{4FD30215-9CB9-D0B1-4827-AB685653E645}"/>
                </a:ext>
              </a:extLst>
            </p:cNvPr>
            <p:cNvGrpSpPr/>
            <p:nvPr/>
          </p:nvGrpSpPr>
          <p:grpSpPr>
            <a:xfrm>
              <a:off x="5314950" y="5782496"/>
              <a:ext cx="3941575" cy="665990"/>
              <a:chOff x="2073978" y="3075215"/>
              <a:chExt cx="5758043" cy="972910"/>
            </a:xfrm>
          </p:grpSpPr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120E995D-E298-EA5D-9CC8-BEB59DD17510}"/>
                  </a:ext>
                </a:extLst>
              </p:cNvPr>
              <p:cNvSpPr/>
              <p:nvPr/>
            </p:nvSpPr>
            <p:spPr>
              <a:xfrm>
                <a:off x="2073978" y="3075215"/>
                <a:ext cx="5758043" cy="154668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9" name="二等辺三角形 78">
                <a:extLst>
                  <a:ext uri="{FF2B5EF4-FFF2-40B4-BE49-F238E27FC236}">
                    <a16:creationId xmlns:a16="http://schemas.microsoft.com/office/drawing/2014/main" id="{2A77BDCE-DD78-ACD2-8553-EDCA4924880F}"/>
                  </a:ext>
                </a:extLst>
              </p:cNvPr>
              <p:cNvSpPr/>
              <p:nvPr/>
            </p:nvSpPr>
            <p:spPr>
              <a:xfrm>
                <a:off x="4475713" y="3230987"/>
                <a:ext cx="954571" cy="817138"/>
              </a:xfrm>
              <a:prstGeom prst="triangle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76" name="矢印: 右 75">
              <a:extLst>
                <a:ext uri="{FF2B5EF4-FFF2-40B4-BE49-F238E27FC236}">
                  <a16:creationId xmlns:a16="http://schemas.microsoft.com/office/drawing/2014/main" id="{6C775A10-F0EB-0FE5-7134-E4C7A77263D5}"/>
                </a:ext>
              </a:extLst>
            </p:cNvPr>
            <p:cNvSpPr/>
            <p:nvPr/>
          </p:nvSpPr>
          <p:spPr>
            <a:xfrm>
              <a:off x="7013109" y="5362963"/>
              <a:ext cx="570146" cy="256113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テキスト ボックス 76">
              <a:extLst>
                <a:ext uri="{FF2B5EF4-FFF2-40B4-BE49-F238E27FC236}">
                  <a16:creationId xmlns:a16="http://schemas.microsoft.com/office/drawing/2014/main" id="{D202715B-A104-3351-14E0-E3802FFF7AF7}"/>
                </a:ext>
              </a:extLst>
            </p:cNvPr>
            <p:cNvSpPr txBox="1"/>
            <p:nvPr/>
          </p:nvSpPr>
          <p:spPr>
            <a:xfrm>
              <a:off x="6783037" y="4930906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600" dirty="0"/>
                <a:t>火力発電</a:t>
              </a:r>
            </a:p>
          </p:txBody>
        </p:sp>
        <p:pic>
          <p:nvPicPr>
            <p:cNvPr id="102" name="図 101" descr="グラフィカル ユーザー インターフェイス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1CCFFCD5-0562-FEDC-54AE-4BD818C77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101" t="1855" r="3889" b="70492"/>
            <a:stretch>
              <a:fillRect/>
            </a:stretch>
          </p:blipFill>
          <p:spPr>
            <a:xfrm>
              <a:off x="7685705" y="4460015"/>
              <a:ext cx="653437" cy="602102"/>
            </a:xfrm>
            <a:prstGeom prst="rect">
              <a:avLst/>
            </a:prstGeom>
          </p:spPr>
        </p:pic>
        <p:pic>
          <p:nvPicPr>
            <p:cNvPr id="103" name="Picture 8" descr="石炭のイラスト">
              <a:extLst>
                <a:ext uri="{FF2B5EF4-FFF2-40B4-BE49-F238E27FC236}">
                  <a16:creationId xmlns:a16="http://schemas.microsoft.com/office/drawing/2014/main" id="{B560E4B0-AC81-A59E-511E-54DA19402A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1919" y="4881607"/>
              <a:ext cx="571106" cy="5711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3" name="グループ化 112">
            <a:extLst>
              <a:ext uri="{FF2B5EF4-FFF2-40B4-BE49-F238E27FC236}">
                <a16:creationId xmlns:a16="http://schemas.microsoft.com/office/drawing/2014/main" id="{F981C708-D5FB-3657-D74F-EBCBBC80BF31}"/>
              </a:ext>
            </a:extLst>
          </p:cNvPr>
          <p:cNvGrpSpPr/>
          <p:nvPr/>
        </p:nvGrpSpPr>
        <p:grpSpPr>
          <a:xfrm>
            <a:off x="430790" y="4880464"/>
            <a:ext cx="4084436" cy="1769277"/>
            <a:chOff x="430790" y="4701164"/>
            <a:chExt cx="4084436" cy="1769277"/>
          </a:xfrm>
        </p:grpSpPr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2AAFDEFF-2110-C075-D940-839F5C3640EA}"/>
                </a:ext>
              </a:extLst>
            </p:cNvPr>
            <p:cNvSpPr/>
            <p:nvPr/>
          </p:nvSpPr>
          <p:spPr>
            <a:xfrm>
              <a:off x="695048" y="5179097"/>
              <a:ext cx="1199842" cy="603399"/>
            </a:xfrm>
            <a:custGeom>
              <a:avLst/>
              <a:gdLst>
                <a:gd name="connsiteX0" fmla="*/ 100569 w 1199842"/>
                <a:gd name="connsiteY0" fmla="*/ 0 h 603399"/>
                <a:gd name="connsiteX1" fmla="*/ 1099273 w 1199842"/>
                <a:gd name="connsiteY1" fmla="*/ 0 h 603399"/>
                <a:gd name="connsiteX2" fmla="*/ 1199842 w 1199842"/>
                <a:gd name="connsiteY2" fmla="*/ 100569 h 603399"/>
                <a:gd name="connsiteX3" fmla="*/ 1199842 w 1199842"/>
                <a:gd name="connsiteY3" fmla="*/ 502830 h 603399"/>
                <a:gd name="connsiteX4" fmla="*/ 1099273 w 1199842"/>
                <a:gd name="connsiteY4" fmla="*/ 603399 h 603399"/>
                <a:gd name="connsiteX5" fmla="*/ 100569 w 1199842"/>
                <a:gd name="connsiteY5" fmla="*/ 603399 h 603399"/>
                <a:gd name="connsiteX6" fmla="*/ 0 w 1199842"/>
                <a:gd name="connsiteY6" fmla="*/ 502830 h 603399"/>
                <a:gd name="connsiteX7" fmla="*/ 0 w 1199842"/>
                <a:gd name="connsiteY7" fmla="*/ 100569 h 603399"/>
                <a:gd name="connsiteX8" fmla="*/ 100569 w 1199842"/>
                <a:gd name="connsiteY8" fmla="*/ 0 h 60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9842" h="603399">
                  <a:moveTo>
                    <a:pt x="100569" y="0"/>
                  </a:moveTo>
                  <a:lnTo>
                    <a:pt x="1099273" y="0"/>
                  </a:lnTo>
                  <a:cubicBezTo>
                    <a:pt x="1154816" y="0"/>
                    <a:pt x="1199842" y="45026"/>
                    <a:pt x="1199842" y="100569"/>
                  </a:cubicBezTo>
                  <a:lnTo>
                    <a:pt x="1199842" y="502830"/>
                  </a:lnTo>
                  <a:cubicBezTo>
                    <a:pt x="1199842" y="558373"/>
                    <a:pt x="1154816" y="603399"/>
                    <a:pt x="1099273" y="603399"/>
                  </a:cubicBezTo>
                  <a:lnTo>
                    <a:pt x="100569" y="603399"/>
                  </a:lnTo>
                  <a:cubicBezTo>
                    <a:pt x="45026" y="603399"/>
                    <a:pt x="0" y="558373"/>
                    <a:pt x="0" y="502830"/>
                  </a:cubicBezTo>
                  <a:lnTo>
                    <a:pt x="0" y="100569"/>
                  </a:lnTo>
                  <a:cubicBezTo>
                    <a:pt x="0" y="45026"/>
                    <a:pt x="45026" y="0"/>
                    <a:pt x="100569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600" dirty="0"/>
                <a:t>燃料の</a:t>
              </a:r>
              <a:endParaRPr kumimoji="1" lang="en-US" altLang="ja-JP" sz="1600" dirty="0"/>
            </a:p>
            <a:p>
              <a:pPr algn="ctr"/>
              <a:r>
                <a:rPr kumimoji="1" lang="ja-JP" altLang="en-US" sz="1600" dirty="0"/>
                <a:t>化学</a:t>
              </a: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AB39ABB2-766F-953C-9A25-E837D2B0A9DB}"/>
                </a:ext>
              </a:extLst>
            </p:cNvPr>
            <p:cNvGrpSpPr/>
            <p:nvPr/>
          </p:nvGrpSpPr>
          <p:grpSpPr>
            <a:xfrm>
              <a:off x="3166883" y="5179936"/>
              <a:ext cx="1199842" cy="603399"/>
              <a:chOff x="3191717" y="2085516"/>
              <a:chExt cx="1199842" cy="603399"/>
            </a:xfrm>
            <a:gradFill flip="none" rotWithShape="1">
              <a:gsLst>
                <a:gs pos="0">
                  <a:srgbClr val="7030A0">
                    <a:tint val="66000"/>
                    <a:satMod val="160000"/>
                  </a:srgbClr>
                </a:gs>
                <a:gs pos="50000">
                  <a:srgbClr val="7030A0">
                    <a:tint val="44500"/>
                    <a:satMod val="160000"/>
                  </a:srgbClr>
                </a:gs>
                <a:gs pos="100000">
                  <a:srgbClr val="7030A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</p:grpSpPr>
          <p:sp>
            <p:nvSpPr>
              <p:cNvPr id="21" name="フリーフォーム: 図形 20">
                <a:extLst>
                  <a:ext uri="{FF2B5EF4-FFF2-40B4-BE49-F238E27FC236}">
                    <a16:creationId xmlns:a16="http://schemas.microsoft.com/office/drawing/2014/main" id="{2F25EEBB-2C8B-6C55-068D-829F4C913BD0}"/>
                  </a:ext>
                </a:extLst>
              </p:cNvPr>
              <p:cNvSpPr/>
              <p:nvPr/>
            </p:nvSpPr>
            <p:spPr>
              <a:xfrm>
                <a:off x="3191717" y="2085516"/>
                <a:ext cx="1199842" cy="306328"/>
              </a:xfrm>
              <a:custGeom>
                <a:avLst/>
                <a:gdLst>
                  <a:gd name="connsiteX0" fmla="*/ 100569 w 1199842"/>
                  <a:gd name="connsiteY0" fmla="*/ 0 h 306328"/>
                  <a:gd name="connsiteX1" fmla="*/ 1099273 w 1199842"/>
                  <a:gd name="connsiteY1" fmla="*/ 0 h 306328"/>
                  <a:gd name="connsiteX2" fmla="*/ 1199842 w 1199842"/>
                  <a:gd name="connsiteY2" fmla="*/ 100569 h 306328"/>
                  <a:gd name="connsiteX3" fmla="*/ 1199842 w 1199842"/>
                  <a:gd name="connsiteY3" fmla="*/ 306328 h 306328"/>
                  <a:gd name="connsiteX4" fmla="*/ 0 w 1199842"/>
                  <a:gd name="connsiteY4" fmla="*/ 306328 h 306328"/>
                  <a:gd name="connsiteX5" fmla="*/ 0 w 1199842"/>
                  <a:gd name="connsiteY5" fmla="*/ 100569 h 306328"/>
                  <a:gd name="connsiteX6" fmla="*/ 100569 w 1199842"/>
                  <a:gd name="connsiteY6" fmla="*/ 0 h 306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306328">
                    <a:moveTo>
                      <a:pt x="100569" y="0"/>
                    </a:moveTo>
                    <a:lnTo>
                      <a:pt x="1099273" y="0"/>
                    </a:lnTo>
                    <a:cubicBezTo>
                      <a:pt x="1154816" y="0"/>
                      <a:pt x="1199842" y="45026"/>
                      <a:pt x="1199842" y="100569"/>
                    </a:cubicBezTo>
                    <a:lnTo>
                      <a:pt x="1199842" y="306328"/>
                    </a:lnTo>
                    <a:lnTo>
                      <a:pt x="0" y="306328"/>
                    </a:lnTo>
                    <a:lnTo>
                      <a:pt x="0" y="100569"/>
                    </a:lnTo>
                    <a:cubicBezTo>
                      <a:pt x="0" y="45026"/>
                      <a:pt x="45026" y="0"/>
                      <a:pt x="100569" y="0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車輪の運動</a:t>
                </a:r>
              </a:p>
            </p:txBody>
          </p:sp>
          <p:sp>
            <p:nvSpPr>
              <p:cNvPr id="22" name="フリーフォーム: 図形 21">
                <a:extLst>
                  <a:ext uri="{FF2B5EF4-FFF2-40B4-BE49-F238E27FC236}">
                    <a16:creationId xmlns:a16="http://schemas.microsoft.com/office/drawing/2014/main" id="{9EB1692A-D3A3-B0BF-5958-D4EC77A12C82}"/>
                  </a:ext>
                </a:extLst>
              </p:cNvPr>
              <p:cNvSpPr/>
              <p:nvPr/>
            </p:nvSpPr>
            <p:spPr>
              <a:xfrm>
                <a:off x="3191717" y="2391844"/>
                <a:ext cx="1199842" cy="297071"/>
              </a:xfrm>
              <a:custGeom>
                <a:avLst/>
                <a:gdLst>
                  <a:gd name="connsiteX0" fmla="*/ 0 w 1199842"/>
                  <a:gd name="connsiteY0" fmla="*/ 0 h 297071"/>
                  <a:gd name="connsiteX1" fmla="*/ 1199842 w 1199842"/>
                  <a:gd name="connsiteY1" fmla="*/ 0 h 297071"/>
                  <a:gd name="connsiteX2" fmla="*/ 1199842 w 1199842"/>
                  <a:gd name="connsiteY2" fmla="*/ 196502 h 297071"/>
                  <a:gd name="connsiteX3" fmla="*/ 1099273 w 1199842"/>
                  <a:gd name="connsiteY3" fmla="*/ 297071 h 297071"/>
                  <a:gd name="connsiteX4" fmla="*/ 100569 w 1199842"/>
                  <a:gd name="connsiteY4" fmla="*/ 297071 h 297071"/>
                  <a:gd name="connsiteX5" fmla="*/ 0 w 1199842"/>
                  <a:gd name="connsiteY5" fmla="*/ 196502 h 297071"/>
                  <a:gd name="connsiteX6" fmla="*/ 0 w 1199842"/>
                  <a:gd name="connsiteY6" fmla="*/ 0 h 29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297071">
                    <a:moveTo>
                      <a:pt x="0" y="0"/>
                    </a:moveTo>
                    <a:lnTo>
                      <a:pt x="1199842" y="0"/>
                    </a:lnTo>
                    <a:lnTo>
                      <a:pt x="1199842" y="196502"/>
                    </a:lnTo>
                    <a:cubicBezTo>
                      <a:pt x="1199842" y="252045"/>
                      <a:pt x="1154816" y="297071"/>
                      <a:pt x="1099273" y="297071"/>
                    </a:cubicBezTo>
                    <a:lnTo>
                      <a:pt x="100569" y="297071"/>
                    </a:lnTo>
                    <a:cubicBezTo>
                      <a:pt x="45026" y="297071"/>
                      <a:pt x="0" y="252045"/>
                      <a:pt x="0" y="19650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ｴﾝｼﾞﾝの音</a:t>
                </a:r>
              </a:p>
            </p:txBody>
          </p:sp>
        </p:grpSp>
        <p:sp>
          <p:nvSpPr>
            <p:cNvPr id="44" name="二等辺三角形 43">
              <a:extLst>
                <a:ext uri="{FF2B5EF4-FFF2-40B4-BE49-F238E27FC236}">
                  <a16:creationId xmlns:a16="http://schemas.microsoft.com/office/drawing/2014/main" id="{66BF7738-1898-F26E-0C5B-52E4D6FFE881}"/>
                </a:ext>
              </a:extLst>
            </p:cNvPr>
            <p:cNvSpPr/>
            <p:nvPr/>
          </p:nvSpPr>
          <p:spPr>
            <a:xfrm>
              <a:off x="2217720" y="5911082"/>
              <a:ext cx="653436" cy="559359"/>
            </a:xfrm>
            <a:prstGeom prst="triangl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矢印: 右 40">
              <a:extLst>
                <a:ext uri="{FF2B5EF4-FFF2-40B4-BE49-F238E27FC236}">
                  <a16:creationId xmlns:a16="http://schemas.microsoft.com/office/drawing/2014/main" id="{0E9724B3-26A6-EB13-A4BD-4A46FAB39C5F}"/>
                </a:ext>
              </a:extLst>
            </p:cNvPr>
            <p:cNvSpPr/>
            <p:nvPr/>
          </p:nvSpPr>
          <p:spPr>
            <a:xfrm>
              <a:off x="2271810" y="5368921"/>
              <a:ext cx="570146" cy="256113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8889F47B-3000-24FE-2E25-266D08662833}"/>
                </a:ext>
              </a:extLst>
            </p:cNvPr>
            <p:cNvSpPr txBox="1"/>
            <p:nvPr/>
          </p:nvSpPr>
          <p:spPr>
            <a:xfrm>
              <a:off x="2144329" y="4952861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600" dirty="0"/>
                <a:t>自動車</a:t>
              </a:r>
            </a:p>
          </p:txBody>
        </p:sp>
        <p:pic>
          <p:nvPicPr>
            <p:cNvPr id="97" name="Picture 12" descr="オープンカーのイラスト（車）">
              <a:extLst>
                <a:ext uri="{FF2B5EF4-FFF2-40B4-BE49-F238E27FC236}">
                  <a16:creationId xmlns:a16="http://schemas.microsoft.com/office/drawing/2014/main" id="{2D4D90B5-7B3A-9E63-B741-29F5AE41D0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9768" y="4701164"/>
              <a:ext cx="736976" cy="466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10" descr="ドラム缶に入った石油のイラスト">
              <a:extLst>
                <a:ext uri="{FF2B5EF4-FFF2-40B4-BE49-F238E27FC236}">
                  <a16:creationId xmlns:a16="http://schemas.microsoft.com/office/drawing/2014/main" id="{26A06AC7-26CB-177F-3D6A-754342F38C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790" y="4930906"/>
              <a:ext cx="560858" cy="616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88915BE9-D904-4643-D274-1FF39A4DA3B3}"/>
                </a:ext>
              </a:extLst>
            </p:cNvPr>
            <p:cNvSpPr/>
            <p:nvPr/>
          </p:nvSpPr>
          <p:spPr>
            <a:xfrm>
              <a:off x="573651" y="5804451"/>
              <a:ext cx="3941575" cy="10587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5930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FE8E9D2-64B2-3E7F-3D39-7E6186460A2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1D7A69-3BCC-FCCF-8826-36A33187FE6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BE6A84D-0151-0DAF-BEDF-24D9EEFC8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仕事とは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391307E-C910-4BCD-DF10-265FD7F2DA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357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フリーフォーム: 図形 65">
            <a:extLst>
              <a:ext uri="{FF2B5EF4-FFF2-40B4-BE49-F238E27FC236}">
                <a16:creationId xmlns:a16="http://schemas.microsoft.com/office/drawing/2014/main" id="{24133B36-B0C7-D80B-1C19-ACCF49EC659C}"/>
              </a:ext>
            </a:extLst>
          </p:cNvPr>
          <p:cNvSpPr/>
          <p:nvPr/>
        </p:nvSpPr>
        <p:spPr>
          <a:xfrm rot="19946682">
            <a:off x="2354222" y="4468560"/>
            <a:ext cx="157833" cy="161622"/>
          </a:xfrm>
          <a:custGeom>
            <a:avLst/>
            <a:gdLst>
              <a:gd name="connsiteX0" fmla="*/ 243191 w 243191"/>
              <a:gd name="connsiteY0" fmla="*/ 0 h 249028"/>
              <a:gd name="connsiteX1" fmla="*/ 0 w 243191"/>
              <a:gd name="connsiteY1" fmla="*/ 0 h 249028"/>
              <a:gd name="connsiteX2" fmla="*/ 0 w 243191"/>
              <a:gd name="connsiteY2" fmla="*/ 249028 h 249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191" h="249028">
                <a:moveTo>
                  <a:pt x="243191" y="0"/>
                </a:moveTo>
                <a:lnTo>
                  <a:pt x="0" y="0"/>
                </a:lnTo>
                <a:lnTo>
                  <a:pt x="0" y="24902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1BB517BE-7F3E-CFD1-8A0A-172B4DB4E964}"/>
              </a:ext>
            </a:extLst>
          </p:cNvPr>
          <p:cNvSpPr txBox="1"/>
          <p:nvPr/>
        </p:nvSpPr>
        <p:spPr>
          <a:xfrm>
            <a:off x="2095079" y="4531421"/>
            <a:ext cx="306343" cy="2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31" dirty="0">
                <a:solidFill>
                  <a:schemeClr val="accent3"/>
                </a:solidFill>
              </a:rPr>
              <a:t>●</a:t>
            </a:r>
            <a:endParaRPr kumimoji="1" lang="ja-JP" altLang="en-US" sz="1463" dirty="0">
              <a:solidFill>
                <a:schemeClr val="accent3"/>
              </a:solidFill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CD734519-A01F-C410-5CE6-C11196B51847}"/>
              </a:ext>
            </a:extLst>
          </p:cNvPr>
          <p:cNvSpPr txBox="1"/>
          <p:nvPr/>
        </p:nvSpPr>
        <p:spPr>
          <a:xfrm rot="19875216">
            <a:off x="3316317" y="3895600"/>
            <a:ext cx="561678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aseline="30000" dirty="0"/>
              <a:t>&gt;</a:t>
            </a:r>
            <a:endParaRPr kumimoji="1" lang="ja-JP" altLang="en-US" sz="3200" baseline="30000" dirty="0"/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7C91AFAB-9B28-F6C3-0277-8B28D711CFFB}"/>
              </a:ext>
            </a:extLst>
          </p:cNvPr>
          <p:cNvSpPr txBox="1"/>
          <p:nvPr/>
        </p:nvSpPr>
        <p:spPr>
          <a:xfrm rot="19875216">
            <a:off x="3033069" y="3484298"/>
            <a:ext cx="561678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aseline="30000" dirty="0"/>
              <a:t>&gt;</a:t>
            </a:r>
            <a:endParaRPr kumimoji="1" lang="ja-JP" altLang="en-US" sz="3200" baseline="30000" dirty="0"/>
          </a:p>
        </p:txBody>
      </p:sp>
      <p:sp>
        <p:nvSpPr>
          <p:cNvPr id="83" name="テキスト プレースホルダー 82">
            <a:extLst>
              <a:ext uri="{FF2B5EF4-FFF2-40B4-BE49-F238E27FC236}">
                <a16:creationId xmlns:a16="http://schemas.microsoft.com/office/drawing/2014/main" id="{1F3CEE1A-F5C8-F7BB-4F48-64140A69170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ja-JP" altLang="en-US" dirty="0"/>
              <a:t>斜面に</a:t>
            </a:r>
            <a:r>
              <a:rPr lang="ja-JP" altLang="en-US" dirty="0">
                <a:solidFill>
                  <a:schemeClr val="accent6"/>
                </a:solidFill>
              </a:rPr>
              <a:t>平行</a:t>
            </a:r>
            <a:r>
              <a:rPr lang="ja-JP" altLang="en-US" dirty="0"/>
              <a:t>・</a:t>
            </a:r>
            <a:r>
              <a:rPr lang="ja-JP" altLang="en-US" dirty="0">
                <a:solidFill>
                  <a:schemeClr val="accent6"/>
                </a:solidFill>
              </a:rPr>
              <a:t>鉛直</a:t>
            </a:r>
            <a:r>
              <a:rPr lang="ja-JP" altLang="en-US" dirty="0"/>
              <a:t>に，重力を分解したい．</a:t>
            </a:r>
            <a:endParaRPr lang="en-US" altLang="ja-JP" dirty="0"/>
          </a:p>
          <a:p>
            <a:r>
              <a:rPr lang="en-US" altLang="ja-JP" dirty="0"/>
              <a:t> ? </a:t>
            </a:r>
            <a:r>
              <a:rPr lang="ja-JP" altLang="en-US" dirty="0"/>
              <a:t>の角度が分かれば，重力を分解できる．</a:t>
            </a:r>
            <a:endParaRPr lang="en-US" altLang="ja-JP" dirty="0"/>
          </a:p>
          <a:p>
            <a:r>
              <a:rPr lang="en-US" altLang="ja-JP" dirty="0"/>
              <a:t>2</a:t>
            </a:r>
            <a:r>
              <a:rPr lang="ja-JP" altLang="en-US" dirty="0"/>
              <a:t>つの角度が等しいため，</a:t>
            </a:r>
            <a:r>
              <a:rPr lang="en-US" altLang="ja-JP" dirty="0"/>
              <a:t>? </a:t>
            </a:r>
            <a:r>
              <a:rPr lang="ja-JP" altLang="en-US" dirty="0"/>
              <a:t>は </a:t>
            </a:r>
            <a:r>
              <a:rPr lang="en-US" altLang="ja-JP" i="1" dirty="0">
                <a:solidFill>
                  <a:schemeClr val="accent6"/>
                </a:solidFill>
              </a:rPr>
              <a:t>θ</a:t>
            </a:r>
            <a:r>
              <a:rPr lang="en-US" altLang="ja-JP" dirty="0"/>
              <a:t> </a:t>
            </a:r>
            <a:r>
              <a:rPr lang="ja-JP" altLang="en-US" dirty="0"/>
              <a:t>と分かる．</a:t>
            </a:r>
          </a:p>
        </p:txBody>
      </p:sp>
      <p:sp>
        <p:nvSpPr>
          <p:cNvPr id="81" name="タイトル 80">
            <a:extLst>
              <a:ext uri="{FF2B5EF4-FFF2-40B4-BE49-F238E27FC236}">
                <a16:creationId xmlns:a16="http://schemas.microsoft.com/office/drawing/2014/main" id="{73A5EAFC-0C2E-AE48-F855-273AF19A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重力の分解</a:t>
            </a:r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F002C487-1B9A-5773-A0D5-572520D2779E}"/>
              </a:ext>
            </a:extLst>
          </p:cNvPr>
          <p:cNvCxnSpPr>
            <a:cxnSpLocks/>
          </p:cNvCxnSpPr>
          <p:nvPr/>
        </p:nvCxnSpPr>
        <p:spPr>
          <a:xfrm flipH="1">
            <a:off x="1307697" y="2674414"/>
            <a:ext cx="3676142" cy="199848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493B5265-D4D8-759D-FAA0-46A03C30DF15}"/>
              </a:ext>
            </a:extLst>
          </p:cNvPr>
          <p:cNvCxnSpPr>
            <a:cxnSpLocks/>
          </p:cNvCxnSpPr>
          <p:nvPr/>
        </p:nvCxnSpPr>
        <p:spPr>
          <a:xfrm flipH="1">
            <a:off x="1313451" y="2674155"/>
            <a:ext cx="3676142" cy="199848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E188DE62-16D5-DCD4-2343-34738009073F}"/>
              </a:ext>
            </a:extLst>
          </p:cNvPr>
          <p:cNvSpPr/>
          <p:nvPr/>
        </p:nvSpPr>
        <p:spPr>
          <a:xfrm rot="19893541">
            <a:off x="1722764" y="3641801"/>
            <a:ext cx="854384" cy="53502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35531CAC-14B9-9EE2-78B9-86D382F49079}"/>
              </a:ext>
            </a:extLst>
          </p:cNvPr>
          <p:cNvSpPr/>
          <p:nvPr/>
        </p:nvSpPr>
        <p:spPr>
          <a:xfrm rot="19893541">
            <a:off x="1720113" y="3647068"/>
            <a:ext cx="854384" cy="53502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9FF320C5-362A-F661-18AE-301972253235}"/>
              </a:ext>
            </a:extLst>
          </p:cNvPr>
          <p:cNvCxnSpPr>
            <a:cxnSpLocks/>
          </p:cNvCxnSpPr>
          <p:nvPr/>
        </p:nvCxnSpPr>
        <p:spPr>
          <a:xfrm>
            <a:off x="2144378" y="3909313"/>
            <a:ext cx="0" cy="8868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C6A34E03-DF9D-FC0F-265D-539AB496F69D}"/>
              </a:ext>
            </a:extLst>
          </p:cNvPr>
          <p:cNvCxnSpPr>
            <a:cxnSpLocks/>
          </p:cNvCxnSpPr>
          <p:nvPr/>
        </p:nvCxnSpPr>
        <p:spPr>
          <a:xfrm>
            <a:off x="2155065" y="3909314"/>
            <a:ext cx="380784" cy="6850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A260FEE7-69D2-F968-1B27-747ED7FB741E}"/>
              </a:ext>
            </a:extLst>
          </p:cNvPr>
          <p:cNvCxnSpPr>
            <a:cxnSpLocks/>
          </p:cNvCxnSpPr>
          <p:nvPr/>
        </p:nvCxnSpPr>
        <p:spPr>
          <a:xfrm flipH="1">
            <a:off x="1719263" y="3909313"/>
            <a:ext cx="435803" cy="2456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フリーフォーム: 図形 58">
            <a:extLst>
              <a:ext uri="{FF2B5EF4-FFF2-40B4-BE49-F238E27FC236}">
                <a16:creationId xmlns:a16="http://schemas.microsoft.com/office/drawing/2014/main" id="{9C88EB92-C6F4-3D31-7250-CB6736E46146}"/>
              </a:ext>
            </a:extLst>
          </p:cNvPr>
          <p:cNvSpPr/>
          <p:nvPr/>
        </p:nvSpPr>
        <p:spPr>
          <a:xfrm rot="5157145">
            <a:off x="2192238" y="4129543"/>
            <a:ext cx="69135" cy="196130"/>
          </a:xfrm>
          <a:custGeom>
            <a:avLst/>
            <a:gdLst>
              <a:gd name="connsiteX0" fmla="*/ 0 w 118413"/>
              <a:gd name="connsiteY0" fmla="*/ 0 h 291830"/>
              <a:gd name="connsiteX1" fmla="*/ 110247 w 118413"/>
              <a:gd name="connsiteY1" fmla="*/ 123217 h 291830"/>
              <a:gd name="connsiteX2" fmla="*/ 110247 w 118413"/>
              <a:gd name="connsiteY2" fmla="*/ 291830 h 291830"/>
              <a:gd name="connsiteX3" fmla="*/ 110247 w 118413"/>
              <a:gd name="connsiteY3" fmla="*/ 291830 h 291830"/>
              <a:gd name="connsiteX0" fmla="*/ 0 w 110247"/>
              <a:gd name="connsiteY0" fmla="*/ 0 h 291830"/>
              <a:gd name="connsiteX1" fmla="*/ 81300 w 110247"/>
              <a:gd name="connsiteY1" fmla="*/ 121514 h 291830"/>
              <a:gd name="connsiteX2" fmla="*/ 110247 w 110247"/>
              <a:gd name="connsiteY2" fmla="*/ 291830 h 291830"/>
              <a:gd name="connsiteX3" fmla="*/ 110247 w 110247"/>
              <a:gd name="connsiteY3" fmla="*/ 291830 h 291830"/>
              <a:gd name="connsiteX0" fmla="*/ 0 w 110247"/>
              <a:gd name="connsiteY0" fmla="*/ 0 h 291830"/>
              <a:gd name="connsiteX1" fmla="*/ 81300 w 110247"/>
              <a:gd name="connsiteY1" fmla="*/ 121514 h 291830"/>
              <a:gd name="connsiteX2" fmla="*/ 110247 w 110247"/>
              <a:gd name="connsiteY2" fmla="*/ 291830 h 291830"/>
              <a:gd name="connsiteX3" fmla="*/ 71575 w 110247"/>
              <a:gd name="connsiteY3" fmla="*/ 286840 h 291830"/>
              <a:gd name="connsiteX0" fmla="*/ 0 w 85121"/>
              <a:gd name="connsiteY0" fmla="*/ 0 h 286840"/>
              <a:gd name="connsiteX1" fmla="*/ 81300 w 85121"/>
              <a:gd name="connsiteY1" fmla="*/ 121514 h 286840"/>
              <a:gd name="connsiteX2" fmla="*/ 71575 w 85121"/>
              <a:gd name="connsiteY2" fmla="*/ 286840 h 286840"/>
              <a:gd name="connsiteX0" fmla="*/ 0 w 98401"/>
              <a:gd name="connsiteY0" fmla="*/ 0 h 283098"/>
              <a:gd name="connsiteX1" fmla="*/ 81300 w 98401"/>
              <a:gd name="connsiteY1" fmla="*/ 121514 h 283098"/>
              <a:gd name="connsiteX2" fmla="*/ 97772 w 98401"/>
              <a:gd name="connsiteY2" fmla="*/ 283098 h 283098"/>
              <a:gd name="connsiteX0" fmla="*/ 0 w 83673"/>
              <a:gd name="connsiteY0" fmla="*/ 0 h 241217"/>
              <a:gd name="connsiteX1" fmla="*/ 81300 w 83673"/>
              <a:gd name="connsiteY1" fmla="*/ 121514 h 241217"/>
              <a:gd name="connsiteX2" fmla="*/ 62540 w 83673"/>
              <a:gd name="connsiteY2" fmla="*/ 241217 h 241217"/>
              <a:gd name="connsiteX0" fmla="*/ 0 w 86147"/>
              <a:gd name="connsiteY0" fmla="*/ 0 h 191250"/>
              <a:gd name="connsiteX1" fmla="*/ 83641 w 86147"/>
              <a:gd name="connsiteY1" fmla="*/ 71547 h 191250"/>
              <a:gd name="connsiteX2" fmla="*/ 64881 w 86147"/>
              <a:gd name="connsiteY2" fmla="*/ 191250 h 191250"/>
              <a:gd name="connsiteX0" fmla="*/ 0 w 67415"/>
              <a:gd name="connsiteY0" fmla="*/ 0 h 191250"/>
              <a:gd name="connsiteX1" fmla="*/ 60319 w 67415"/>
              <a:gd name="connsiteY1" fmla="*/ 80639 h 191250"/>
              <a:gd name="connsiteX2" fmla="*/ 64881 w 67415"/>
              <a:gd name="connsiteY2" fmla="*/ 191250 h 19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415" h="191250">
                <a:moveTo>
                  <a:pt x="0" y="0"/>
                </a:moveTo>
                <a:cubicBezTo>
                  <a:pt x="45936" y="37289"/>
                  <a:pt x="49506" y="48764"/>
                  <a:pt x="60319" y="80639"/>
                </a:cubicBezTo>
                <a:cubicBezTo>
                  <a:pt x="71132" y="112514"/>
                  <a:pt x="66907" y="156807"/>
                  <a:pt x="64881" y="1912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A357EADC-347A-4AC8-B93D-C4699024CC58}"/>
              </a:ext>
            </a:extLst>
          </p:cNvPr>
          <p:cNvSpPr txBox="1"/>
          <p:nvPr/>
        </p:nvSpPr>
        <p:spPr>
          <a:xfrm>
            <a:off x="2115256" y="4223300"/>
            <a:ext cx="3063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/>
              <a:t>?</a:t>
            </a:r>
            <a:endParaRPr kumimoji="1" lang="ja-JP" altLang="en-US" sz="1600"/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AEE84D7A-81E2-DE76-7D35-B0EFA236A1F5}"/>
              </a:ext>
            </a:extLst>
          </p:cNvPr>
          <p:cNvGrpSpPr/>
          <p:nvPr/>
        </p:nvGrpSpPr>
        <p:grpSpPr>
          <a:xfrm>
            <a:off x="255570" y="3246316"/>
            <a:ext cx="3676142" cy="2005166"/>
            <a:chOff x="607625" y="2957973"/>
            <a:chExt cx="4524482" cy="2467897"/>
          </a:xfrm>
        </p:grpSpPr>
        <p:sp>
          <p:nvSpPr>
            <p:cNvPr id="62" name="正方形/長方形 1">
              <a:extLst>
                <a:ext uri="{FF2B5EF4-FFF2-40B4-BE49-F238E27FC236}">
                  <a16:creationId xmlns:a16="http://schemas.microsoft.com/office/drawing/2014/main" id="{A5D61F97-BF33-839B-31E2-DDE80DA6E023}"/>
                </a:ext>
              </a:extLst>
            </p:cNvPr>
            <p:cNvSpPr/>
            <p:nvPr/>
          </p:nvSpPr>
          <p:spPr>
            <a:xfrm>
              <a:off x="607625" y="2957973"/>
              <a:ext cx="4524482" cy="2459673"/>
            </a:xfrm>
            <a:custGeom>
              <a:avLst/>
              <a:gdLst>
                <a:gd name="connsiteX0" fmla="*/ 0 w 3085399"/>
                <a:gd name="connsiteY0" fmla="*/ 0 h 1677335"/>
                <a:gd name="connsiteX1" fmla="*/ 3085399 w 3085399"/>
                <a:gd name="connsiteY1" fmla="*/ 0 h 1677335"/>
                <a:gd name="connsiteX2" fmla="*/ 3085399 w 3085399"/>
                <a:gd name="connsiteY2" fmla="*/ 1677335 h 1677335"/>
                <a:gd name="connsiteX3" fmla="*/ 0 w 3085399"/>
                <a:gd name="connsiteY3" fmla="*/ 1677335 h 1677335"/>
                <a:gd name="connsiteX4" fmla="*/ 0 w 3085399"/>
                <a:gd name="connsiteY4" fmla="*/ 0 h 1677335"/>
                <a:gd name="connsiteX0" fmla="*/ 0 w 3085399"/>
                <a:gd name="connsiteY0" fmla="*/ 1677335 h 1677335"/>
                <a:gd name="connsiteX1" fmla="*/ 3085399 w 3085399"/>
                <a:gd name="connsiteY1" fmla="*/ 0 h 1677335"/>
                <a:gd name="connsiteX2" fmla="*/ 3085399 w 3085399"/>
                <a:gd name="connsiteY2" fmla="*/ 1677335 h 1677335"/>
                <a:gd name="connsiteX3" fmla="*/ 0 w 3085399"/>
                <a:gd name="connsiteY3" fmla="*/ 1677335 h 1677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85399" h="1677335">
                  <a:moveTo>
                    <a:pt x="0" y="1677335"/>
                  </a:moveTo>
                  <a:lnTo>
                    <a:pt x="3085399" y="0"/>
                  </a:lnTo>
                  <a:lnTo>
                    <a:pt x="3085399" y="1677335"/>
                  </a:lnTo>
                  <a:lnTo>
                    <a:pt x="0" y="1677335"/>
                  </a:lnTo>
                  <a:close/>
                </a:path>
              </a:pathLst>
            </a:cu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sp>
          <p:nvSpPr>
            <p:cNvPr id="63" name="フリーフォーム: 図形 62">
              <a:extLst>
                <a:ext uri="{FF2B5EF4-FFF2-40B4-BE49-F238E27FC236}">
                  <a16:creationId xmlns:a16="http://schemas.microsoft.com/office/drawing/2014/main" id="{99F42CBB-2DD6-D244-06F8-F4B90F682355}"/>
                </a:ext>
              </a:extLst>
            </p:cNvPr>
            <p:cNvSpPr/>
            <p:nvPr/>
          </p:nvSpPr>
          <p:spPr>
            <a:xfrm>
              <a:off x="1282563" y="5057989"/>
              <a:ext cx="124199" cy="357319"/>
            </a:xfrm>
            <a:custGeom>
              <a:avLst/>
              <a:gdLst>
                <a:gd name="connsiteX0" fmla="*/ 0 w 118413"/>
                <a:gd name="connsiteY0" fmla="*/ 0 h 291830"/>
                <a:gd name="connsiteX1" fmla="*/ 110247 w 118413"/>
                <a:gd name="connsiteY1" fmla="*/ 123217 h 291830"/>
                <a:gd name="connsiteX2" fmla="*/ 110247 w 118413"/>
                <a:gd name="connsiteY2" fmla="*/ 291830 h 291830"/>
                <a:gd name="connsiteX3" fmla="*/ 110247 w 118413"/>
                <a:gd name="connsiteY3" fmla="*/ 291830 h 291830"/>
                <a:gd name="connsiteX0" fmla="*/ 0 w 110247"/>
                <a:gd name="connsiteY0" fmla="*/ 0 h 291830"/>
                <a:gd name="connsiteX1" fmla="*/ 81300 w 110247"/>
                <a:gd name="connsiteY1" fmla="*/ 121514 h 291830"/>
                <a:gd name="connsiteX2" fmla="*/ 110247 w 110247"/>
                <a:gd name="connsiteY2" fmla="*/ 291830 h 291830"/>
                <a:gd name="connsiteX3" fmla="*/ 110247 w 110247"/>
                <a:gd name="connsiteY3" fmla="*/ 291830 h 291830"/>
                <a:gd name="connsiteX0" fmla="*/ 0 w 110247"/>
                <a:gd name="connsiteY0" fmla="*/ 0 h 291830"/>
                <a:gd name="connsiteX1" fmla="*/ 81300 w 110247"/>
                <a:gd name="connsiteY1" fmla="*/ 121514 h 291830"/>
                <a:gd name="connsiteX2" fmla="*/ 110247 w 110247"/>
                <a:gd name="connsiteY2" fmla="*/ 291830 h 291830"/>
                <a:gd name="connsiteX3" fmla="*/ 71575 w 110247"/>
                <a:gd name="connsiteY3" fmla="*/ 286840 h 291830"/>
                <a:gd name="connsiteX0" fmla="*/ 0 w 85121"/>
                <a:gd name="connsiteY0" fmla="*/ 0 h 286840"/>
                <a:gd name="connsiteX1" fmla="*/ 81300 w 85121"/>
                <a:gd name="connsiteY1" fmla="*/ 121514 h 286840"/>
                <a:gd name="connsiteX2" fmla="*/ 71575 w 85121"/>
                <a:gd name="connsiteY2" fmla="*/ 286840 h 286840"/>
                <a:gd name="connsiteX0" fmla="*/ 0 w 98401"/>
                <a:gd name="connsiteY0" fmla="*/ 0 h 283098"/>
                <a:gd name="connsiteX1" fmla="*/ 81300 w 98401"/>
                <a:gd name="connsiteY1" fmla="*/ 121514 h 283098"/>
                <a:gd name="connsiteX2" fmla="*/ 97772 w 98401"/>
                <a:gd name="connsiteY2" fmla="*/ 283098 h 283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401" h="283098">
                  <a:moveTo>
                    <a:pt x="0" y="0"/>
                  </a:moveTo>
                  <a:cubicBezTo>
                    <a:pt x="45936" y="37289"/>
                    <a:pt x="65005" y="74331"/>
                    <a:pt x="81300" y="121514"/>
                  </a:cubicBezTo>
                  <a:cubicBezTo>
                    <a:pt x="97595" y="168697"/>
                    <a:pt x="99798" y="248655"/>
                    <a:pt x="97772" y="28309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FB3DDF1F-1F18-5F5E-E7FB-04A74C1F4F08}"/>
                </a:ext>
              </a:extLst>
            </p:cNvPr>
            <p:cNvSpPr txBox="1"/>
            <p:nvPr/>
          </p:nvSpPr>
          <p:spPr>
            <a:xfrm>
              <a:off x="1428710" y="4933427"/>
              <a:ext cx="37703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i="1" dirty="0"/>
                <a:t>θ</a:t>
              </a:r>
              <a:endParaRPr kumimoji="1" lang="ja-JP" altLang="en-US" sz="2000" i="1" dirty="0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40AC0DDC-BB28-C636-B519-C2BB4A1190E1}"/>
                </a:ext>
              </a:extLst>
            </p:cNvPr>
            <p:cNvSpPr/>
            <p:nvPr/>
          </p:nvSpPr>
          <p:spPr>
            <a:xfrm>
              <a:off x="4819447" y="5103010"/>
              <a:ext cx="306949" cy="314317"/>
            </a:xfrm>
            <a:custGeom>
              <a:avLst/>
              <a:gdLst>
                <a:gd name="connsiteX0" fmla="*/ 243191 w 243191"/>
                <a:gd name="connsiteY0" fmla="*/ 0 h 249028"/>
                <a:gd name="connsiteX1" fmla="*/ 0 w 243191"/>
                <a:gd name="connsiteY1" fmla="*/ 0 h 249028"/>
                <a:gd name="connsiteX2" fmla="*/ 0 w 243191"/>
                <a:gd name="connsiteY2" fmla="*/ 249028 h 24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191" h="249028">
                  <a:moveTo>
                    <a:pt x="243191" y="0"/>
                  </a:moveTo>
                  <a:lnTo>
                    <a:pt x="0" y="0"/>
                  </a:lnTo>
                  <a:lnTo>
                    <a:pt x="0" y="249028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</p:grp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C54DB2AC-4929-5784-19C2-EAE8D2B1DB91}"/>
              </a:ext>
            </a:extLst>
          </p:cNvPr>
          <p:cNvSpPr txBox="1"/>
          <p:nvPr/>
        </p:nvSpPr>
        <p:spPr>
          <a:xfrm>
            <a:off x="3668031" y="3330050"/>
            <a:ext cx="306343" cy="2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31" dirty="0">
                <a:solidFill>
                  <a:schemeClr val="accent4"/>
                </a:solidFill>
              </a:rPr>
              <a:t>●</a:t>
            </a:r>
            <a:endParaRPr kumimoji="1" lang="ja-JP" altLang="en-US" sz="1463" dirty="0">
              <a:solidFill>
                <a:schemeClr val="accent4"/>
              </a:solidFill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09EFAF26-FC89-0A3E-9111-BBEE4157F0CB}"/>
              </a:ext>
            </a:extLst>
          </p:cNvPr>
          <p:cNvSpPr txBox="1"/>
          <p:nvPr/>
        </p:nvSpPr>
        <p:spPr>
          <a:xfrm>
            <a:off x="3889163" y="3525299"/>
            <a:ext cx="306343" cy="2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31" dirty="0">
                <a:ln w="28575">
                  <a:noFill/>
                </a:ln>
                <a:solidFill>
                  <a:schemeClr val="accent4"/>
                </a:solidFill>
              </a:rPr>
              <a:t>●</a:t>
            </a:r>
            <a:endParaRPr kumimoji="1" lang="ja-JP" altLang="en-US" sz="1463" dirty="0">
              <a:ln w="28575">
                <a:noFill/>
              </a:ln>
              <a:solidFill>
                <a:schemeClr val="accent4"/>
              </a:solidFill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0603307C-6ADB-2323-8630-9A0ED31443E8}"/>
              </a:ext>
            </a:extLst>
          </p:cNvPr>
          <p:cNvSpPr/>
          <p:nvPr/>
        </p:nvSpPr>
        <p:spPr>
          <a:xfrm>
            <a:off x="2198707" y="5186576"/>
            <a:ext cx="1321956" cy="40903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>
                <a:solidFill>
                  <a:schemeClr val="tx1"/>
                </a:solidFill>
              </a:rPr>
              <a:t>同位角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BBB69538-F0A1-09AD-8AE9-4D43EF3E25C5}"/>
              </a:ext>
            </a:extLst>
          </p:cNvPr>
          <p:cNvSpPr/>
          <p:nvPr/>
        </p:nvSpPr>
        <p:spPr>
          <a:xfrm>
            <a:off x="4209839" y="3340885"/>
            <a:ext cx="1321956" cy="40903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>
                <a:solidFill>
                  <a:schemeClr val="tx1"/>
                </a:solidFill>
              </a:rPr>
              <a:t>錯角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493EE28D-7D2B-BC3C-861E-686760CB6D5A}"/>
              </a:ext>
            </a:extLst>
          </p:cNvPr>
          <p:cNvSpPr txBox="1"/>
          <p:nvPr/>
        </p:nvSpPr>
        <p:spPr>
          <a:xfrm>
            <a:off x="2080275" y="4229281"/>
            <a:ext cx="3063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i="1">
                <a:solidFill>
                  <a:schemeClr val="accent6"/>
                </a:solidFill>
              </a:rPr>
              <a:t>θ</a:t>
            </a:r>
            <a:endParaRPr kumimoji="1" lang="ja-JP" altLang="en-US" sz="1600" i="1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39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7692E-6 -1.85185E-6 L -0.12965 0.1004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90" y="5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5128E-6 1.85185E-6 L 0.00144 0.08148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" y="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AD47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74" grpId="0"/>
      <p:bldP spid="85" grpId="0"/>
      <p:bldP spid="84" grpId="0"/>
      <p:bldP spid="83" grpId="0" uiExpand="1" build="p"/>
      <p:bldP spid="54" grpId="0" animBg="1"/>
      <p:bldP spid="55" grpId="0" animBg="1"/>
      <p:bldP spid="55" grpId="1" animBg="1"/>
      <p:bldP spid="55" grpId="2" animBg="1"/>
      <p:bldP spid="59" grpId="0" animBg="1"/>
      <p:bldP spid="60" grpId="0"/>
      <p:bldP spid="60" grpId="1"/>
      <p:bldP spid="73" grpId="0"/>
      <p:bldP spid="75" grpId="0"/>
      <p:bldP spid="76" grpId="0" animBg="1"/>
      <p:bldP spid="79" grpId="0" animBg="1"/>
      <p:bldP spid="8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7F5C6F-9DF4-2CF6-4833-5767BEFE7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テキスト プレースホルダー 82">
            <a:extLst>
              <a:ext uri="{FF2B5EF4-FFF2-40B4-BE49-F238E27FC236}">
                <a16:creationId xmlns:a16="http://schemas.microsoft.com/office/drawing/2014/main" id="{F33D8914-8717-2ACD-0918-C1C9FD6EACD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dirty="0"/>
              <a:t>斜面に</a:t>
            </a:r>
            <a:r>
              <a:rPr lang="ja-JP" altLang="en-US" dirty="0">
                <a:solidFill>
                  <a:schemeClr val="accent6"/>
                </a:solidFill>
              </a:rPr>
              <a:t>平行</a:t>
            </a:r>
            <a:r>
              <a:rPr lang="ja-JP" altLang="en-US" dirty="0"/>
              <a:t>・</a:t>
            </a:r>
            <a:r>
              <a:rPr lang="ja-JP" altLang="en-US" dirty="0">
                <a:solidFill>
                  <a:schemeClr val="accent6"/>
                </a:solidFill>
              </a:rPr>
              <a:t>鉛直</a:t>
            </a:r>
            <a:r>
              <a:rPr lang="ja-JP" altLang="en-US" dirty="0"/>
              <a:t>に，重力を分解したい．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en-US" altLang="ja-JP" dirty="0"/>
              <a:t> ? </a:t>
            </a:r>
            <a:r>
              <a:rPr lang="ja-JP" altLang="en-US" dirty="0"/>
              <a:t>の角度が分かれば，重力を分解できる．</a:t>
            </a:r>
            <a:endParaRPr lang="en-US" altLang="ja-JP" dirty="0"/>
          </a:p>
        </p:txBody>
      </p:sp>
      <p:sp>
        <p:nvSpPr>
          <p:cNvPr id="81" name="タイトル 80">
            <a:extLst>
              <a:ext uri="{FF2B5EF4-FFF2-40B4-BE49-F238E27FC236}">
                <a16:creationId xmlns:a16="http://schemas.microsoft.com/office/drawing/2014/main" id="{58D6C308-4D53-F776-B9F5-E6B3DEE5F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重力の分解</a:t>
            </a: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C2D9FA21-A60F-61DF-462C-B68437D4199D}"/>
              </a:ext>
            </a:extLst>
          </p:cNvPr>
          <p:cNvSpPr/>
          <p:nvPr/>
        </p:nvSpPr>
        <p:spPr>
          <a:xfrm rot="19893541">
            <a:off x="1722764" y="3641801"/>
            <a:ext cx="854384" cy="53502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CF230CE7-DADC-BCD7-044A-B5670211ABD5}"/>
              </a:ext>
            </a:extLst>
          </p:cNvPr>
          <p:cNvSpPr/>
          <p:nvPr/>
        </p:nvSpPr>
        <p:spPr>
          <a:xfrm rot="19893541">
            <a:off x="1720113" y="3647068"/>
            <a:ext cx="854384" cy="53502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B44B2664-3B2B-0540-5A97-804E2B3441B9}"/>
              </a:ext>
            </a:extLst>
          </p:cNvPr>
          <p:cNvCxnSpPr>
            <a:cxnSpLocks/>
          </p:cNvCxnSpPr>
          <p:nvPr/>
        </p:nvCxnSpPr>
        <p:spPr>
          <a:xfrm>
            <a:off x="2144378" y="3909313"/>
            <a:ext cx="0" cy="8868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EEE7964E-6052-22E9-5290-276A8DDBF77D}"/>
              </a:ext>
            </a:extLst>
          </p:cNvPr>
          <p:cNvCxnSpPr>
            <a:cxnSpLocks/>
          </p:cNvCxnSpPr>
          <p:nvPr/>
        </p:nvCxnSpPr>
        <p:spPr>
          <a:xfrm>
            <a:off x="2155065" y="3909314"/>
            <a:ext cx="380784" cy="6850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1A2CF7A2-8823-1FD3-99AC-B20D73030850}"/>
              </a:ext>
            </a:extLst>
          </p:cNvPr>
          <p:cNvCxnSpPr>
            <a:cxnSpLocks/>
          </p:cNvCxnSpPr>
          <p:nvPr/>
        </p:nvCxnSpPr>
        <p:spPr>
          <a:xfrm flipH="1">
            <a:off x="1719263" y="3909313"/>
            <a:ext cx="435803" cy="2456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フリーフォーム: 図形 58">
            <a:extLst>
              <a:ext uri="{FF2B5EF4-FFF2-40B4-BE49-F238E27FC236}">
                <a16:creationId xmlns:a16="http://schemas.microsoft.com/office/drawing/2014/main" id="{221BD9E6-8C37-1F7A-18FE-FEB9BA8C4FD7}"/>
              </a:ext>
            </a:extLst>
          </p:cNvPr>
          <p:cNvSpPr/>
          <p:nvPr/>
        </p:nvSpPr>
        <p:spPr>
          <a:xfrm rot="5157145">
            <a:off x="2192238" y="4129543"/>
            <a:ext cx="69135" cy="196130"/>
          </a:xfrm>
          <a:custGeom>
            <a:avLst/>
            <a:gdLst>
              <a:gd name="connsiteX0" fmla="*/ 0 w 118413"/>
              <a:gd name="connsiteY0" fmla="*/ 0 h 291830"/>
              <a:gd name="connsiteX1" fmla="*/ 110247 w 118413"/>
              <a:gd name="connsiteY1" fmla="*/ 123217 h 291830"/>
              <a:gd name="connsiteX2" fmla="*/ 110247 w 118413"/>
              <a:gd name="connsiteY2" fmla="*/ 291830 h 291830"/>
              <a:gd name="connsiteX3" fmla="*/ 110247 w 118413"/>
              <a:gd name="connsiteY3" fmla="*/ 291830 h 291830"/>
              <a:gd name="connsiteX0" fmla="*/ 0 w 110247"/>
              <a:gd name="connsiteY0" fmla="*/ 0 h 291830"/>
              <a:gd name="connsiteX1" fmla="*/ 81300 w 110247"/>
              <a:gd name="connsiteY1" fmla="*/ 121514 h 291830"/>
              <a:gd name="connsiteX2" fmla="*/ 110247 w 110247"/>
              <a:gd name="connsiteY2" fmla="*/ 291830 h 291830"/>
              <a:gd name="connsiteX3" fmla="*/ 110247 w 110247"/>
              <a:gd name="connsiteY3" fmla="*/ 291830 h 291830"/>
              <a:gd name="connsiteX0" fmla="*/ 0 w 110247"/>
              <a:gd name="connsiteY0" fmla="*/ 0 h 291830"/>
              <a:gd name="connsiteX1" fmla="*/ 81300 w 110247"/>
              <a:gd name="connsiteY1" fmla="*/ 121514 h 291830"/>
              <a:gd name="connsiteX2" fmla="*/ 110247 w 110247"/>
              <a:gd name="connsiteY2" fmla="*/ 291830 h 291830"/>
              <a:gd name="connsiteX3" fmla="*/ 71575 w 110247"/>
              <a:gd name="connsiteY3" fmla="*/ 286840 h 291830"/>
              <a:gd name="connsiteX0" fmla="*/ 0 w 85121"/>
              <a:gd name="connsiteY0" fmla="*/ 0 h 286840"/>
              <a:gd name="connsiteX1" fmla="*/ 81300 w 85121"/>
              <a:gd name="connsiteY1" fmla="*/ 121514 h 286840"/>
              <a:gd name="connsiteX2" fmla="*/ 71575 w 85121"/>
              <a:gd name="connsiteY2" fmla="*/ 286840 h 286840"/>
              <a:gd name="connsiteX0" fmla="*/ 0 w 98401"/>
              <a:gd name="connsiteY0" fmla="*/ 0 h 283098"/>
              <a:gd name="connsiteX1" fmla="*/ 81300 w 98401"/>
              <a:gd name="connsiteY1" fmla="*/ 121514 h 283098"/>
              <a:gd name="connsiteX2" fmla="*/ 97772 w 98401"/>
              <a:gd name="connsiteY2" fmla="*/ 283098 h 283098"/>
              <a:gd name="connsiteX0" fmla="*/ 0 w 83673"/>
              <a:gd name="connsiteY0" fmla="*/ 0 h 241217"/>
              <a:gd name="connsiteX1" fmla="*/ 81300 w 83673"/>
              <a:gd name="connsiteY1" fmla="*/ 121514 h 241217"/>
              <a:gd name="connsiteX2" fmla="*/ 62540 w 83673"/>
              <a:gd name="connsiteY2" fmla="*/ 241217 h 241217"/>
              <a:gd name="connsiteX0" fmla="*/ 0 w 86147"/>
              <a:gd name="connsiteY0" fmla="*/ 0 h 191250"/>
              <a:gd name="connsiteX1" fmla="*/ 83641 w 86147"/>
              <a:gd name="connsiteY1" fmla="*/ 71547 h 191250"/>
              <a:gd name="connsiteX2" fmla="*/ 64881 w 86147"/>
              <a:gd name="connsiteY2" fmla="*/ 191250 h 191250"/>
              <a:gd name="connsiteX0" fmla="*/ 0 w 67415"/>
              <a:gd name="connsiteY0" fmla="*/ 0 h 191250"/>
              <a:gd name="connsiteX1" fmla="*/ 60319 w 67415"/>
              <a:gd name="connsiteY1" fmla="*/ 80639 h 191250"/>
              <a:gd name="connsiteX2" fmla="*/ 64881 w 67415"/>
              <a:gd name="connsiteY2" fmla="*/ 191250 h 19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415" h="191250">
                <a:moveTo>
                  <a:pt x="0" y="0"/>
                </a:moveTo>
                <a:cubicBezTo>
                  <a:pt x="45936" y="37289"/>
                  <a:pt x="49506" y="48764"/>
                  <a:pt x="60319" y="80639"/>
                </a:cubicBezTo>
                <a:cubicBezTo>
                  <a:pt x="71132" y="112514"/>
                  <a:pt x="66907" y="156807"/>
                  <a:pt x="64881" y="1912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69750FCF-6BE0-93CC-E2DE-52C87D68EA56}"/>
              </a:ext>
            </a:extLst>
          </p:cNvPr>
          <p:cNvSpPr txBox="1"/>
          <p:nvPr/>
        </p:nvSpPr>
        <p:spPr>
          <a:xfrm>
            <a:off x="2115256" y="4223300"/>
            <a:ext cx="3063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/>
              <a:t>?</a:t>
            </a:r>
            <a:endParaRPr kumimoji="1" lang="ja-JP" altLang="en-US" sz="1600" dirty="0"/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AA79DA43-B8E6-2442-708C-8DFC4D90C538}"/>
              </a:ext>
            </a:extLst>
          </p:cNvPr>
          <p:cNvGrpSpPr/>
          <p:nvPr/>
        </p:nvGrpSpPr>
        <p:grpSpPr>
          <a:xfrm>
            <a:off x="255570" y="3246316"/>
            <a:ext cx="3676142" cy="1998484"/>
            <a:chOff x="607625" y="2957973"/>
            <a:chExt cx="4524482" cy="2459673"/>
          </a:xfrm>
        </p:grpSpPr>
        <p:sp>
          <p:nvSpPr>
            <p:cNvPr id="62" name="正方形/長方形 1">
              <a:extLst>
                <a:ext uri="{FF2B5EF4-FFF2-40B4-BE49-F238E27FC236}">
                  <a16:creationId xmlns:a16="http://schemas.microsoft.com/office/drawing/2014/main" id="{9C978AA1-CD41-3EA4-9457-FA4555556EE3}"/>
                </a:ext>
              </a:extLst>
            </p:cNvPr>
            <p:cNvSpPr/>
            <p:nvPr/>
          </p:nvSpPr>
          <p:spPr>
            <a:xfrm>
              <a:off x="607625" y="2957973"/>
              <a:ext cx="4524482" cy="2459673"/>
            </a:xfrm>
            <a:custGeom>
              <a:avLst/>
              <a:gdLst>
                <a:gd name="connsiteX0" fmla="*/ 0 w 3085399"/>
                <a:gd name="connsiteY0" fmla="*/ 0 h 1677335"/>
                <a:gd name="connsiteX1" fmla="*/ 3085399 w 3085399"/>
                <a:gd name="connsiteY1" fmla="*/ 0 h 1677335"/>
                <a:gd name="connsiteX2" fmla="*/ 3085399 w 3085399"/>
                <a:gd name="connsiteY2" fmla="*/ 1677335 h 1677335"/>
                <a:gd name="connsiteX3" fmla="*/ 0 w 3085399"/>
                <a:gd name="connsiteY3" fmla="*/ 1677335 h 1677335"/>
                <a:gd name="connsiteX4" fmla="*/ 0 w 3085399"/>
                <a:gd name="connsiteY4" fmla="*/ 0 h 1677335"/>
                <a:gd name="connsiteX0" fmla="*/ 0 w 3085399"/>
                <a:gd name="connsiteY0" fmla="*/ 1677335 h 1677335"/>
                <a:gd name="connsiteX1" fmla="*/ 3085399 w 3085399"/>
                <a:gd name="connsiteY1" fmla="*/ 0 h 1677335"/>
                <a:gd name="connsiteX2" fmla="*/ 3085399 w 3085399"/>
                <a:gd name="connsiteY2" fmla="*/ 1677335 h 1677335"/>
                <a:gd name="connsiteX3" fmla="*/ 0 w 3085399"/>
                <a:gd name="connsiteY3" fmla="*/ 1677335 h 1677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85399" h="1677335">
                  <a:moveTo>
                    <a:pt x="0" y="1677335"/>
                  </a:moveTo>
                  <a:lnTo>
                    <a:pt x="3085399" y="0"/>
                  </a:lnTo>
                  <a:lnTo>
                    <a:pt x="3085399" y="1677335"/>
                  </a:lnTo>
                  <a:lnTo>
                    <a:pt x="0" y="1677335"/>
                  </a:lnTo>
                  <a:close/>
                </a:path>
              </a:pathLst>
            </a:cu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sp>
          <p:nvSpPr>
            <p:cNvPr id="63" name="フリーフォーム: 図形 62">
              <a:extLst>
                <a:ext uri="{FF2B5EF4-FFF2-40B4-BE49-F238E27FC236}">
                  <a16:creationId xmlns:a16="http://schemas.microsoft.com/office/drawing/2014/main" id="{5B594261-27DB-9263-A2AF-4B7E3CE187F6}"/>
                </a:ext>
              </a:extLst>
            </p:cNvPr>
            <p:cNvSpPr/>
            <p:nvPr/>
          </p:nvSpPr>
          <p:spPr>
            <a:xfrm>
              <a:off x="1282563" y="5057989"/>
              <a:ext cx="124199" cy="357319"/>
            </a:xfrm>
            <a:custGeom>
              <a:avLst/>
              <a:gdLst>
                <a:gd name="connsiteX0" fmla="*/ 0 w 118413"/>
                <a:gd name="connsiteY0" fmla="*/ 0 h 291830"/>
                <a:gd name="connsiteX1" fmla="*/ 110247 w 118413"/>
                <a:gd name="connsiteY1" fmla="*/ 123217 h 291830"/>
                <a:gd name="connsiteX2" fmla="*/ 110247 w 118413"/>
                <a:gd name="connsiteY2" fmla="*/ 291830 h 291830"/>
                <a:gd name="connsiteX3" fmla="*/ 110247 w 118413"/>
                <a:gd name="connsiteY3" fmla="*/ 291830 h 291830"/>
                <a:gd name="connsiteX0" fmla="*/ 0 w 110247"/>
                <a:gd name="connsiteY0" fmla="*/ 0 h 291830"/>
                <a:gd name="connsiteX1" fmla="*/ 81300 w 110247"/>
                <a:gd name="connsiteY1" fmla="*/ 121514 h 291830"/>
                <a:gd name="connsiteX2" fmla="*/ 110247 w 110247"/>
                <a:gd name="connsiteY2" fmla="*/ 291830 h 291830"/>
                <a:gd name="connsiteX3" fmla="*/ 110247 w 110247"/>
                <a:gd name="connsiteY3" fmla="*/ 291830 h 291830"/>
                <a:gd name="connsiteX0" fmla="*/ 0 w 110247"/>
                <a:gd name="connsiteY0" fmla="*/ 0 h 291830"/>
                <a:gd name="connsiteX1" fmla="*/ 81300 w 110247"/>
                <a:gd name="connsiteY1" fmla="*/ 121514 h 291830"/>
                <a:gd name="connsiteX2" fmla="*/ 110247 w 110247"/>
                <a:gd name="connsiteY2" fmla="*/ 291830 h 291830"/>
                <a:gd name="connsiteX3" fmla="*/ 71575 w 110247"/>
                <a:gd name="connsiteY3" fmla="*/ 286840 h 291830"/>
                <a:gd name="connsiteX0" fmla="*/ 0 w 85121"/>
                <a:gd name="connsiteY0" fmla="*/ 0 h 286840"/>
                <a:gd name="connsiteX1" fmla="*/ 81300 w 85121"/>
                <a:gd name="connsiteY1" fmla="*/ 121514 h 286840"/>
                <a:gd name="connsiteX2" fmla="*/ 71575 w 85121"/>
                <a:gd name="connsiteY2" fmla="*/ 286840 h 286840"/>
                <a:gd name="connsiteX0" fmla="*/ 0 w 98401"/>
                <a:gd name="connsiteY0" fmla="*/ 0 h 283098"/>
                <a:gd name="connsiteX1" fmla="*/ 81300 w 98401"/>
                <a:gd name="connsiteY1" fmla="*/ 121514 h 283098"/>
                <a:gd name="connsiteX2" fmla="*/ 97772 w 98401"/>
                <a:gd name="connsiteY2" fmla="*/ 283098 h 283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401" h="283098">
                  <a:moveTo>
                    <a:pt x="0" y="0"/>
                  </a:moveTo>
                  <a:cubicBezTo>
                    <a:pt x="45936" y="37289"/>
                    <a:pt x="65005" y="74331"/>
                    <a:pt x="81300" y="121514"/>
                  </a:cubicBezTo>
                  <a:cubicBezTo>
                    <a:pt x="97595" y="168697"/>
                    <a:pt x="99798" y="248655"/>
                    <a:pt x="97772" y="28309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01D10774-F206-77F1-9E6F-8B044221D201}"/>
                </a:ext>
              </a:extLst>
            </p:cNvPr>
            <p:cNvSpPr txBox="1"/>
            <p:nvPr/>
          </p:nvSpPr>
          <p:spPr>
            <a:xfrm>
              <a:off x="1428710" y="4933427"/>
              <a:ext cx="377038" cy="4829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950" i="1" dirty="0"/>
                <a:t>θ</a:t>
              </a:r>
              <a:endParaRPr kumimoji="1" lang="ja-JP" altLang="en-US" sz="1950" i="1" dirty="0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49C056A2-4CF8-EC90-F723-B00B9F7D5E78}"/>
                </a:ext>
              </a:extLst>
            </p:cNvPr>
            <p:cNvSpPr/>
            <p:nvPr/>
          </p:nvSpPr>
          <p:spPr>
            <a:xfrm>
              <a:off x="4819447" y="5103010"/>
              <a:ext cx="306949" cy="314317"/>
            </a:xfrm>
            <a:custGeom>
              <a:avLst/>
              <a:gdLst>
                <a:gd name="connsiteX0" fmla="*/ 243191 w 243191"/>
                <a:gd name="connsiteY0" fmla="*/ 0 h 249028"/>
                <a:gd name="connsiteX1" fmla="*/ 0 w 243191"/>
                <a:gd name="connsiteY1" fmla="*/ 0 h 249028"/>
                <a:gd name="connsiteX2" fmla="*/ 0 w 243191"/>
                <a:gd name="connsiteY2" fmla="*/ 249028 h 24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191" h="249028">
                  <a:moveTo>
                    <a:pt x="243191" y="0"/>
                  </a:moveTo>
                  <a:lnTo>
                    <a:pt x="0" y="0"/>
                  </a:lnTo>
                  <a:lnTo>
                    <a:pt x="0" y="249028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537B93-7017-1952-3494-5FD455411D52}"/>
              </a:ext>
            </a:extLst>
          </p:cNvPr>
          <p:cNvSpPr txBox="1"/>
          <p:nvPr/>
        </p:nvSpPr>
        <p:spPr>
          <a:xfrm rot="16200000">
            <a:off x="3761873" y="3907423"/>
            <a:ext cx="561678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aseline="30000" dirty="0"/>
              <a:t>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DF3C57D-127B-C259-2B3C-6ED2A3147268}"/>
              </a:ext>
            </a:extLst>
          </p:cNvPr>
          <p:cNvSpPr txBox="1"/>
          <p:nvPr/>
        </p:nvSpPr>
        <p:spPr>
          <a:xfrm rot="16200000">
            <a:off x="1964243" y="4168956"/>
            <a:ext cx="561678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aseline="30000" dirty="0"/>
              <a:t>≫</a:t>
            </a:r>
          </a:p>
        </p:txBody>
      </p:sp>
    </p:spTree>
    <p:extLst>
      <p:ext uri="{BB962C8B-B14F-4D97-AF65-F5344CB8AC3E}">
        <p14:creationId xmlns:p14="http://schemas.microsoft.com/office/powerpoint/2010/main" val="64409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ED9160-456F-529C-1F36-C3F3046D4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1AF93104-1795-3B9E-7D94-A47B356F5874}"/>
              </a:ext>
            </a:extLst>
          </p:cNvPr>
          <p:cNvCxnSpPr>
            <a:cxnSpLocks/>
          </p:cNvCxnSpPr>
          <p:nvPr/>
        </p:nvCxnSpPr>
        <p:spPr>
          <a:xfrm flipH="1">
            <a:off x="1464510" y="3152823"/>
            <a:ext cx="3676142" cy="199848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4A3A913D-1DA4-852D-3F1E-666D5BB19936}"/>
              </a:ext>
            </a:extLst>
          </p:cNvPr>
          <p:cNvSpPr txBox="1"/>
          <p:nvPr/>
        </p:nvSpPr>
        <p:spPr>
          <a:xfrm>
            <a:off x="2080275" y="4229281"/>
            <a:ext cx="30634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63" i="1" dirty="0">
                <a:solidFill>
                  <a:schemeClr val="accent6"/>
                </a:solidFill>
              </a:rPr>
              <a:t>θ</a:t>
            </a:r>
            <a:endParaRPr kumimoji="1" lang="ja-JP" altLang="en-US" sz="1463" i="1" dirty="0">
              <a:solidFill>
                <a:schemeClr val="accent6"/>
              </a:solidFill>
            </a:endParaRPr>
          </a:p>
        </p:txBody>
      </p:sp>
      <p:sp>
        <p:nvSpPr>
          <p:cNvPr id="66" name="フリーフォーム: 図形 65">
            <a:extLst>
              <a:ext uri="{FF2B5EF4-FFF2-40B4-BE49-F238E27FC236}">
                <a16:creationId xmlns:a16="http://schemas.microsoft.com/office/drawing/2014/main" id="{FBC6907F-B1C7-E1CB-1CC2-7171D1B2E72B}"/>
              </a:ext>
            </a:extLst>
          </p:cNvPr>
          <p:cNvSpPr/>
          <p:nvPr/>
        </p:nvSpPr>
        <p:spPr>
          <a:xfrm rot="19946682">
            <a:off x="2354222" y="4468560"/>
            <a:ext cx="157833" cy="161622"/>
          </a:xfrm>
          <a:custGeom>
            <a:avLst/>
            <a:gdLst>
              <a:gd name="connsiteX0" fmla="*/ 243191 w 243191"/>
              <a:gd name="connsiteY0" fmla="*/ 0 h 249028"/>
              <a:gd name="connsiteX1" fmla="*/ 0 w 243191"/>
              <a:gd name="connsiteY1" fmla="*/ 0 h 249028"/>
              <a:gd name="connsiteX2" fmla="*/ 0 w 243191"/>
              <a:gd name="connsiteY2" fmla="*/ 249028 h 249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191" h="249028">
                <a:moveTo>
                  <a:pt x="243191" y="0"/>
                </a:moveTo>
                <a:lnTo>
                  <a:pt x="0" y="0"/>
                </a:lnTo>
                <a:lnTo>
                  <a:pt x="0" y="249028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5C7FE260-2B95-C0D7-B8DC-4C4AF195FCC6}"/>
              </a:ext>
            </a:extLst>
          </p:cNvPr>
          <p:cNvSpPr txBox="1"/>
          <p:nvPr/>
        </p:nvSpPr>
        <p:spPr>
          <a:xfrm rot="19875216">
            <a:off x="3316317" y="3895600"/>
            <a:ext cx="561678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aseline="30000" dirty="0"/>
              <a:t>&gt;</a:t>
            </a:r>
            <a:endParaRPr kumimoji="1" lang="ja-JP" altLang="en-US" sz="3200" baseline="30000" dirty="0"/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97F40B9F-BC9B-8F24-2736-61E6B1FCD07D}"/>
              </a:ext>
            </a:extLst>
          </p:cNvPr>
          <p:cNvSpPr txBox="1"/>
          <p:nvPr/>
        </p:nvSpPr>
        <p:spPr>
          <a:xfrm rot="19875216">
            <a:off x="3033069" y="3484298"/>
            <a:ext cx="561678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aseline="30000" dirty="0"/>
              <a:t>&gt;</a:t>
            </a:r>
            <a:endParaRPr kumimoji="1" lang="ja-JP" altLang="en-US" sz="3200" baseline="30000" dirty="0"/>
          </a:p>
        </p:txBody>
      </p:sp>
      <p:sp>
        <p:nvSpPr>
          <p:cNvPr id="83" name="テキスト プレースホルダー 82">
            <a:extLst>
              <a:ext uri="{FF2B5EF4-FFF2-40B4-BE49-F238E27FC236}">
                <a16:creationId xmlns:a16="http://schemas.microsoft.com/office/drawing/2014/main" id="{E799919B-4E17-5136-BE8A-7F4A5396CCF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ja-JP" altLang="en-US" dirty="0"/>
              <a:t>斜面に</a:t>
            </a:r>
            <a:r>
              <a:rPr lang="ja-JP" altLang="en-US" dirty="0">
                <a:solidFill>
                  <a:schemeClr val="accent6"/>
                </a:solidFill>
              </a:rPr>
              <a:t>平行</a:t>
            </a:r>
            <a:r>
              <a:rPr lang="ja-JP" altLang="en-US" dirty="0"/>
              <a:t>・</a:t>
            </a:r>
            <a:r>
              <a:rPr lang="ja-JP" altLang="en-US" dirty="0">
                <a:solidFill>
                  <a:schemeClr val="accent6"/>
                </a:solidFill>
              </a:rPr>
              <a:t>鉛直</a:t>
            </a:r>
            <a:r>
              <a:rPr lang="ja-JP" altLang="en-US" dirty="0"/>
              <a:t>に，重力を分解したい．</a:t>
            </a:r>
            <a:endParaRPr lang="en-US" altLang="ja-JP" dirty="0"/>
          </a:p>
          <a:p>
            <a:r>
              <a:rPr lang="en-US" altLang="ja-JP" dirty="0"/>
              <a:t> ? </a:t>
            </a:r>
            <a:r>
              <a:rPr lang="ja-JP" altLang="en-US" dirty="0"/>
              <a:t>の角度が分かれば，重力を分解できる．</a:t>
            </a:r>
            <a:endParaRPr lang="en-US" altLang="ja-JP" dirty="0"/>
          </a:p>
          <a:p>
            <a:r>
              <a:rPr lang="en-US" altLang="ja-JP" dirty="0"/>
              <a:t>2</a:t>
            </a:r>
            <a:r>
              <a:rPr lang="ja-JP" altLang="en-US" dirty="0"/>
              <a:t>つの角度が等しいため，</a:t>
            </a:r>
            <a:r>
              <a:rPr lang="en-US" altLang="ja-JP" dirty="0"/>
              <a:t>? </a:t>
            </a:r>
            <a:r>
              <a:rPr lang="ja-JP" altLang="en-US" dirty="0"/>
              <a:t>は </a:t>
            </a:r>
            <a:r>
              <a:rPr lang="en-US" altLang="ja-JP" i="1" dirty="0">
                <a:solidFill>
                  <a:schemeClr val="accent6"/>
                </a:solidFill>
              </a:rPr>
              <a:t>θ</a:t>
            </a:r>
            <a:r>
              <a:rPr lang="en-US" altLang="ja-JP" dirty="0"/>
              <a:t> </a:t>
            </a:r>
            <a:r>
              <a:rPr lang="ja-JP" altLang="en-US" dirty="0"/>
              <a:t>と分かる．</a:t>
            </a:r>
          </a:p>
        </p:txBody>
      </p:sp>
      <p:sp>
        <p:nvSpPr>
          <p:cNvPr id="81" name="タイトル 80">
            <a:extLst>
              <a:ext uri="{FF2B5EF4-FFF2-40B4-BE49-F238E27FC236}">
                <a16:creationId xmlns:a16="http://schemas.microsoft.com/office/drawing/2014/main" id="{1B6AF4B5-99F5-9818-74DE-DBDE5F14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重力の分解</a:t>
            </a:r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647570A3-1D45-4907-6472-0AE4152AA5B7}"/>
              </a:ext>
            </a:extLst>
          </p:cNvPr>
          <p:cNvCxnSpPr>
            <a:cxnSpLocks/>
          </p:cNvCxnSpPr>
          <p:nvPr/>
        </p:nvCxnSpPr>
        <p:spPr>
          <a:xfrm flipH="1">
            <a:off x="1307697" y="2674414"/>
            <a:ext cx="3676142" cy="199848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6F43C81F-6DE3-5D6B-CF84-8ADB00797901}"/>
              </a:ext>
            </a:extLst>
          </p:cNvPr>
          <p:cNvSpPr/>
          <p:nvPr/>
        </p:nvSpPr>
        <p:spPr>
          <a:xfrm rot="19893541">
            <a:off x="1722764" y="3641801"/>
            <a:ext cx="854384" cy="53502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A3060F68-E963-FE02-4704-5CBD55505CA4}"/>
              </a:ext>
            </a:extLst>
          </p:cNvPr>
          <p:cNvSpPr/>
          <p:nvPr/>
        </p:nvSpPr>
        <p:spPr>
          <a:xfrm rot="19893541">
            <a:off x="1720113" y="3647068"/>
            <a:ext cx="854384" cy="53502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7CAD72B9-DBCF-FDA0-ED48-63AFEA375954}"/>
              </a:ext>
            </a:extLst>
          </p:cNvPr>
          <p:cNvCxnSpPr>
            <a:cxnSpLocks/>
          </p:cNvCxnSpPr>
          <p:nvPr/>
        </p:nvCxnSpPr>
        <p:spPr>
          <a:xfrm>
            <a:off x="2144378" y="3909313"/>
            <a:ext cx="0" cy="8868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01558E3E-64BD-BD2D-2CC3-09DCE9D57249}"/>
              </a:ext>
            </a:extLst>
          </p:cNvPr>
          <p:cNvCxnSpPr>
            <a:cxnSpLocks/>
          </p:cNvCxnSpPr>
          <p:nvPr/>
        </p:nvCxnSpPr>
        <p:spPr>
          <a:xfrm>
            <a:off x="2155065" y="3909314"/>
            <a:ext cx="380784" cy="6850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A5AA70E1-8792-2E41-B237-6570FF9226E6}"/>
              </a:ext>
            </a:extLst>
          </p:cNvPr>
          <p:cNvCxnSpPr>
            <a:cxnSpLocks/>
          </p:cNvCxnSpPr>
          <p:nvPr/>
        </p:nvCxnSpPr>
        <p:spPr>
          <a:xfrm flipH="1">
            <a:off x="1719263" y="3909313"/>
            <a:ext cx="435803" cy="2456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フリーフォーム: 図形 58">
            <a:extLst>
              <a:ext uri="{FF2B5EF4-FFF2-40B4-BE49-F238E27FC236}">
                <a16:creationId xmlns:a16="http://schemas.microsoft.com/office/drawing/2014/main" id="{6F23FF34-63C4-9656-FC97-21657666506C}"/>
              </a:ext>
            </a:extLst>
          </p:cNvPr>
          <p:cNvSpPr/>
          <p:nvPr/>
        </p:nvSpPr>
        <p:spPr>
          <a:xfrm rot="5157145">
            <a:off x="2192238" y="4129543"/>
            <a:ext cx="69135" cy="196130"/>
          </a:xfrm>
          <a:custGeom>
            <a:avLst/>
            <a:gdLst>
              <a:gd name="connsiteX0" fmla="*/ 0 w 118413"/>
              <a:gd name="connsiteY0" fmla="*/ 0 h 291830"/>
              <a:gd name="connsiteX1" fmla="*/ 110247 w 118413"/>
              <a:gd name="connsiteY1" fmla="*/ 123217 h 291830"/>
              <a:gd name="connsiteX2" fmla="*/ 110247 w 118413"/>
              <a:gd name="connsiteY2" fmla="*/ 291830 h 291830"/>
              <a:gd name="connsiteX3" fmla="*/ 110247 w 118413"/>
              <a:gd name="connsiteY3" fmla="*/ 291830 h 291830"/>
              <a:gd name="connsiteX0" fmla="*/ 0 w 110247"/>
              <a:gd name="connsiteY0" fmla="*/ 0 h 291830"/>
              <a:gd name="connsiteX1" fmla="*/ 81300 w 110247"/>
              <a:gd name="connsiteY1" fmla="*/ 121514 h 291830"/>
              <a:gd name="connsiteX2" fmla="*/ 110247 w 110247"/>
              <a:gd name="connsiteY2" fmla="*/ 291830 h 291830"/>
              <a:gd name="connsiteX3" fmla="*/ 110247 w 110247"/>
              <a:gd name="connsiteY3" fmla="*/ 291830 h 291830"/>
              <a:gd name="connsiteX0" fmla="*/ 0 w 110247"/>
              <a:gd name="connsiteY0" fmla="*/ 0 h 291830"/>
              <a:gd name="connsiteX1" fmla="*/ 81300 w 110247"/>
              <a:gd name="connsiteY1" fmla="*/ 121514 h 291830"/>
              <a:gd name="connsiteX2" fmla="*/ 110247 w 110247"/>
              <a:gd name="connsiteY2" fmla="*/ 291830 h 291830"/>
              <a:gd name="connsiteX3" fmla="*/ 71575 w 110247"/>
              <a:gd name="connsiteY3" fmla="*/ 286840 h 291830"/>
              <a:gd name="connsiteX0" fmla="*/ 0 w 85121"/>
              <a:gd name="connsiteY0" fmla="*/ 0 h 286840"/>
              <a:gd name="connsiteX1" fmla="*/ 81300 w 85121"/>
              <a:gd name="connsiteY1" fmla="*/ 121514 h 286840"/>
              <a:gd name="connsiteX2" fmla="*/ 71575 w 85121"/>
              <a:gd name="connsiteY2" fmla="*/ 286840 h 286840"/>
              <a:gd name="connsiteX0" fmla="*/ 0 w 98401"/>
              <a:gd name="connsiteY0" fmla="*/ 0 h 283098"/>
              <a:gd name="connsiteX1" fmla="*/ 81300 w 98401"/>
              <a:gd name="connsiteY1" fmla="*/ 121514 h 283098"/>
              <a:gd name="connsiteX2" fmla="*/ 97772 w 98401"/>
              <a:gd name="connsiteY2" fmla="*/ 283098 h 283098"/>
              <a:gd name="connsiteX0" fmla="*/ 0 w 83673"/>
              <a:gd name="connsiteY0" fmla="*/ 0 h 241217"/>
              <a:gd name="connsiteX1" fmla="*/ 81300 w 83673"/>
              <a:gd name="connsiteY1" fmla="*/ 121514 h 241217"/>
              <a:gd name="connsiteX2" fmla="*/ 62540 w 83673"/>
              <a:gd name="connsiteY2" fmla="*/ 241217 h 241217"/>
              <a:gd name="connsiteX0" fmla="*/ 0 w 86147"/>
              <a:gd name="connsiteY0" fmla="*/ 0 h 191250"/>
              <a:gd name="connsiteX1" fmla="*/ 83641 w 86147"/>
              <a:gd name="connsiteY1" fmla="*/ 71547 h 191250"/>
              <a:gd name="connsiteX2" fmla="*/ 64881 w 86147"/>
              <a:gd name="connsiteY2" fmla="*/ 191250 h 191250"/>
              <a:gd name="connsiteX0" fmla="*/ 0 w 67415"/>
              <a:gd name="connsiteY0" fmla="*/ 0 h 191250"/>
              <a:gd name="connsiteX1" fmla="*/ 60319 w 67415"/>
              <a:gd name="connsiteY1" fmla="*/ 80639 h 191250"/>
              <a:gd name="connsiteX2" fmla="*/ 64881 w 67415"/>
              <a:gd name="connsiteY2" fmla="*/ 191250 h 19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415" h="191250">
                <a:moveTo>
                  <a:pt x="0" y="0"/>
                </a:moveTo>
                <a:cubicBezTo>
                  <a:pt x="45936" y="37289"/>
                  <a:pt x="49506" y="48764"/>
                  <a:pt x="60319" y="80639"/>
                </a:cubicBezTo>
                <a:cubicBezTo>
                  <a:pt x="71132" y="112514"/>
                  <a:pt x="66907" y="156807"/>
                  <a:pt x="64881" y="1912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6E70F895-B212-5845-DF73-B0DC2FE39061}"/>
              </a:ext>
            </a:extLst>
          </p:cNvPr>
          <p:cNvGrpSpPr/>
          <p:nvPr/>
        </p:nvGrpSpPr>
        <p:grpSpPr>
          <a:xfrm>
            <a:off x="255570" y="3246316"/>
            <a:ext cx="3676142" cy="1998484"/>
            <a:chOff x="607625" y="2957973"/>
            <a:chExt cx="4524482" cy="2459673"/>
          </a:xfrm>
        </p:grpSpPr>
        <p:sp>
          <p:nvSpPr>
            <p:cNvPr id="62" name="正方形/長方形 1">
              <a:extLst>
                <a:ext uri="{FF2B5EF4-FFF2-40B4-BE49-F238E27FC236}">
                  <a16:creationId xmlns:a16="http://schemas.microsoft.com/office/drawing/2014/main" id="{D0FD744C-BA89-2102-E688-02EA4696E7B8}"/>
                </a:ext>
              </a:extLst>
            </p:cNvPr>
            <p:cNvSpPr/>
            <p:nvPr/>
          </p:nvSpPr>
          <p:spPr>
            <a:xfrm>
              <a:off x="607625" y="2957973"/>
              <a:ext cx="4524482" cy="2459673"/>
            </a:xfrm>
            <a:custGeom>
              <a:avLst/>
              <a:gdLst>
                <a:gd name="connsiteX0" fmla="*/ 0 w 3085399"/>
                <a:gd name="connsiteY0" fmla="*/ 0 h 1677335"/>
                <a:gd name="connsiteX1" fmla="*/ 3085399 w 3085399"/>
                <a:gd name="connsiteY1" fmla="*/ 0 h 1677335"/>
                <a:gd name="connsiteX2" fmla="*/ 3085399 w 3085399"/>
                <a:gd name="connsiteY2" fmla="*/ 1677335 h 1677335"/>
                <a:gd name="connsiteX3" fmla="*/ 0 w 3085399"/>
                <a:gd name="connsiteY3" fmla="*/ 1677335 h 1677335"/>
                <a:gd name="connsiteX4" fmla="*/ 0 w 3085399"/>
                <a:gd name="connsiteY4" fmla="*/ 0 h 1677335"/>
                <a:gd name="connsiteX0" fmla="*/ 0 w 3085399"/>
                <a:gd name="connsiteY0" fmla="*/ 1677335 h 1677335"/>
                <a:gd name="connsiteX1" fmla="*/ 3085399 w 3085399"/>
                <a:gd name="connsiteY1" fmla="*/ 0 h 1677335"/>
                <a:gd name="connsiteX2" fmla="*/ 3085399 w 3085399"/>
                <a:gd name="connsiteY2" fmla="*/ 1677335 h 1677335"/>
                <a:gd name="connsiteX3" fmla="*/ 0 w 3085399"/>
                <a:gd name="connsiteY3" fmla="*/ 1677335 h 1677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85399" h="1677335">
                  <a:moveTo>
                    <a:pt x="0" y="1677335"/>
                  </a:moveTo>
                  <a:lnTo>
                    <a:pt x="3085399" y="0"/>
                  </a:lnTo>
                  <a:lnTo>
                    <a:pt x="3085399" y="1677335"/>
                  </a:lnTo>
                  <a:lnTo>
                    <a:pt x="0" y="1677335"/>
                  </a:lnTo>
                  <a:close/>
                </a:path>
              </a:pathLst>
            </a:cu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sp>
          <p:nvSpPr>
            <p:cNvPr id="63" name="フリーフォーム: 図形 62">
              <a:extLst>
                <a:ext uri="{FF2B5EF4-FFF2-40B4-BE49-F238E27FC236}">
                  <a16:creationId xmlns:a16="http://schemas.microsoft.com/office/drawing/2014/main" id="{397D82BF-6688-6CD2-ACD7-C3198CFF6DAD}"/>
                </a:ext>
              </a:extLst>
            </p:cNvPr>
            <p:cNvSpPr/>
            <p:nvPr/>
          </p:nvSpPr>
          <p:spPr>
            <a:xfrm>
              <a:off x="1282563" y="5057989"/>
              <a:ext cx="124199" cy="357319"/>
            </a:xfrm>
            <a:custGeom>
              <a:avLst/>
              <a:gdLst>
                <a:gd name="connsiteX0" fmla="*/ 0 w 118413"/>
                <a:gd name="connsiteY0" fmla="*/ 0 h 291830"/>
                <a:gd name="connsiteX1" fmla="*/ 110247 w 118413"/>
                <a:gd name="connsiteY1" fmla="*/ 123217 h 291830"/>
                <a:gd name="connsiteX2" fmla="*/ 110247 w 118413"/>
                <a:gd name="connsiteY2" fmla="*/ 291830 h 291830"/>
                <a:gd name="connsiteX3" fmla="*/ 110247 w 118413"/>
                <a:gd name="connsiteY3" fmla="*/ 291830 h 291830"/>
                <a:gd name="connsiteX0" fmla="*/ 0 w 110247"/>
                <a:gd name="connsiteY0" fmla="*/ 0 h 291830"/>
                <a:gd name="connsiteX1" fmla="*/ 81300 w 110247"/>
                <a:gd name="connsiteY1" fmla="*/ 121514 h 291830"/>
                <a:gd name="connsiteX2" fmla="*/ 110247 w 110247"/>
                <a:gd name="connsiteY2" fmla="*/ 291830 h 291830"/>
                <a:gd name="connsiteX3" fmla="*/ 110247 w 110247"/>
                <a:gd name="connsiteY3" fmla="*/ 291830 h 291830"/>
                <a:gd name="connsiteX0" fmla="*/ 0 w 110247"/>
                <a:gd name="connsiteY0" fmla="*/ 0 h 291830"/>
                <a:gd name="connsiteX1" fmla="*/ 81300 w 110247"/>
                <a:gd name="connsiteY1" fmla="*/ 121514 h 291830"/>
                <a:gd name="connsiteX2" fmla="*/ 110247 w 110247"/>
                <a:gd name="connsiteY2" fmla="*/ 291830 h 291830"/>
                <a:gd name="connsiteX3" fmla="*/ 71575 w 110247"/>
                <a:gd name="connsiteY3" fmla="*/ 286840 h 291830"/>
                <a:gd name="connsiteX0" fmla="*/ 0 w 85121"/>
                <a:gd name="connsiteY0" fmla="*/ 0 h 286840"/>
                <a:gd name="connsiteX1" fmla="*/ 81300 w 85121"/>
                <a:gd name="connsiteY1" fmla="*/ 121514 h 286840"/>
                <a:gd name="connsiteX2" fmla="*/ 71575 w 85121"/>
                <a:gd name="connsiteY2" fmla="*/ 286840 h 286840"/>
                <a:gd name="connsiteX0" fmla="*/ 0 w 98401"/>
                <a:gd name="connsiteY0" fmla="*/ 0 h 283098"/>
                <a:gd name="connsiteX1" fmla="*/ 81300 w 98401"/>
                <a:gd name="connsiteY1" fmla="*/ 121514 h 283098"/>
                <a:gd name="connsiteX2" fmla="*/ 97772 w 98401"/>
                <a:gd name="connsiteY2" fmla="*/ 283098 h 283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401" h="283098">
                  <a:moveTo>
                    <a:pt x="0" y="0"/>
                  </a:moveTo>
                  <a:cubicBezTo>
                    <a:pt x="45936" y="37289"/>
                    <a:pt x="65005" y="74331"/>
                    <a:pt x="81300" y="121514"/>
                  </a:cubicBezTo>
                  <a:cubicBezTo>
                    <a:pt x="97595" y="168697"/>
                    <a:pt x="99798" y="248655"/>
                    <a:pt x="97772" y="28309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0B9448D6-AAA9-84F0-0B4A-AAECFBE4B01A}"/>
                </a:ext>
              </a:extLst>
            </p:cNvPr>
            <p:cNvSpPr txBox="1"/>
            <p:nvPr/>
          </p:nvSpPr>
          <p:spPr>
            <a:xfrm>
              <a:off x="1428710" y="4933427"/>
              <a:ext cx="377038" cy="4829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950" i="1" dirty="0"/>
                <a:t>θ</a:t>
              </a:r>
              <a:endParaRPr kumimoji="1" lang="ja-JP" altLang="en-US" sz="1950" i="1" dirty="0"/>
            </a:p>
          </p:txBody>
        </p: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7BD2CFF5-555F-F41E-4DC6-8949B8C5A8E7}"/>
                </a:ext>
              </a:extLst>
            </p:cNvPr>
            <p:cNvSpPr/>
            <p:nvPr/>
          </p:nvSpPr>
          <p:spPr>
            <a:xfrm>
              <a:off x="4819447" y="5103010"/>
              <a:ext cx="306949" cy="314317"/>
            </a:xfrm>
            <a:custGeom>
              <a:avLst/>
              <a:gdLst>
                <a:gd name="connsiteX0" fmla="*/ 243191 w 243191"/>
                <a:gd name="connsiteY0" fmla="*/ 0 h 249028"/>
                <a:gd name="connsiteX1" fmla="*/ 0 w 243191"/>
                <a:gd name="connsiteY1" fmla="*/ 0 h 249028"/>
                <a:gd name="connsiteX2" fmla="*/ 0 w 243191"/>
                <a:gd name="connsiteY2" fmla="*/ 249028 h 24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191" h="249028">
                  <a:moveTo>
                    <a:pt x="243191" y="0"/>
                  </a:moveTo>
                  <a:lnTo>
                    <a:pt x="0" y="0"/>
                  </a:lnTo>
                  <a:lnTo>
                    <a:pt x="0" y="249028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</p:grp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ECB3248B-1FCA-E6EF-4CB1-3EFA783BD714}"/>
              </a:ext>
            </a:extLst>
          </p:cNvPr>
          <p:cNvSpPr txBox="1"/>
          <p:nvPr/>
        </p:nvSpPr>
        <p:spPr>
          <a:xfrm>
            <a:off x="3668031" y="3330050"/>
            <a:ext cx="306343" cy="2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31" dirty="0">
                <a:solidFill>
                  <a:schemeClr val="accent4"/>
                </a:solidFill>
              </a:rPr>
              <a:t>●</a:t>
            </a:r>
            <a:endParaRPr kumimoji="1" lang="ja-JP" altLang="en-US" sz="1463" dirty="0">
              <a:solidFill>
                <a:schemeClr val="accent4"/>
              </a:solidFill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63C1DBE0-EC32-000D-9AF6-BBCD862C5501}"/>
              </a:ext>
            </a:extLst>
          </p:cNvPr>
          <p:cNvSpPr txBox="1"/>
          <p:nvPr/>
        </p:nvSpPr>
        <p:spPr>
          <a:xfrm>
            <a:off x="3889163" y="3525299"/>
            <a:ext cx="306343" cy="2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31" dirty="0">
                <a:ln w="28575">
                  <a:noFill/>
                </a:ln>
                <a:solidFill>
                  <a:schemeClr val="accent4"/>
                </a:solidFill>
              </a:rPr>
              <a:t>●</a:t>
            </a:r>
            <a:endParaRPr kumimoji="1" lang="ja-JP" altLang="en-US" sz="1463" dirty="0">
              <a:ln w="28575">
                <a:noFill/>
              </a:ln>
              <a:solidFill>
                <a:schemeClr val="accent4"/>
              </a:solidFill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3D64F32D-D0F9-D41F-C3C7-6677A7C06BF5}"/>
              </a:ext>
            </a:extLst>
          </p:cNvPr>
          <p:cNvSpPr/>
          <p:nvPr/>
        </p:nvSpPr>
        <p:spPr>
          <a:xfrm>
            <a:off x="2198707" y="5186576"/>
            <a:ext cx="1321956" cy="40903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>
                <a:solidFill>
                  <a:schemeClr val="tx1"/>
                </a:solidFill>
              </a:rPr>
              <a:t>同位角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8F6634B9-A005-258E-DA30-36F0E4AC2B89}"/>
              </a:ext>
            </a:extLst>
          </p:cNvPr>
          <p:cNvSpPr/>
          <p:nvPr/>
        </p:nvSpPr>
        <p:spPr>
          <a:xfrm>
            <a:off x="4209839" y="3340885"/>
            <a:ext cx="1321956" cy="40903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>
                <a:solidFill>
                  <a:schemeClr val="tx1"/>
                </a:solidFill>
              </a:rPr>
              <a:t>錯角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E53FC34-0E88-1E96-4E51-71E6A30BE31E}"/>
              </a:ext>
            </a:extLst>
          </p:cNvPr>
          <p:cNvSpPr txBox="1"/>
          <p:nvPr/>
        </p:nvSpPr>
        <p:spPr>
          <a:xfrm>
            <a:off x="2095079" y="4531421"/>
            <a:ext cx="306343" cy="2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31" dirty="0">
                <a:solidFill>
                  <a:schemeClr val="accent3"/>
                </a:solidFill>
              </a:rPr>
              <a:t>●</a:t>
            </a:r>
            <a:endParaRPr kumimoji="1" lang="ja-JP" altLang="en-US" sz="1463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70396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F42A1"/>
      </a:accent6>
      <a:hlink>
        <a:srgbClr val="0563C1"/>
      </a:hlink>
      <a:folHlink>
        <a:srgbClr val="954F72"/>
      </a:folHlink>
    </a:clrScheme>
    <a:fontScheme name="V1">
      <a:majorFont>
        <a:latin typeface="Pretendard JP Medium"/>
        <a:ea typeface="ヒカリ角ゴ Normal Medium"/>
        <a:cs typeface=""/>
      </a:majorFont>
      <a:minorFont>
        <a:latin typeface="Pretendard JP Black"/>
        <a:ea typeface="ヒカリ角ゴ Normal Heavy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0280F33B-D706-4565-98F8-51DFD03F8C13}" vid="{D7991047-7DB5-4FC6-B505-CACDAF36230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17BAD2A974274468B93BA0E70B86153" ma:contentTypeVersion="14" ma:contentTypeDescription="新しいドキュメントを作成します。" ma:contentTypeScope="" ma:versionID="19deaf902174782fcab1e59d5990709b">
  <xsd:schema xmlns:xsd="http://www.w3.org/2001/XMLSchema" xmlns:xs="http://www.w3.org/2001/XMLSchema" xmlns:p="http://schemas.microsoft.com/office/2006/metadata/properties" xmlns:ns3="4952ab04-0ae3-4d00-bda6-702fdc5fffab" xmlns:ns4="a9997899-e6ea-448c-9370-6665c1cb1ca9" targetNamespace="http://schemas.microsoft.com/office/2006/metadata/properties" ma:root="true" ma:fieldsID="626e8013a1feda8fd847dbe4d0402ef4" ns3:_="" ns4:_="">
    <xsd:import namespace="4952ab04-0ae3-4d00-bda6-702fdc5fffab"/>
    <xsd:import namespace="a9997899-e6ea-448c-9370-6665c1cb1c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52ab04-0ae3-4d00-bda6-702fdc5ff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997899-e6ea-448c-9370-6665c1cb1c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52ab04-0ae3-4d00-bda6-702fdc5fffa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12A431-86F1-4D8E-AC27-86C6F4A4DCAA}">
  <ds:schemaRefs>
    <ds:schemaRef ds:uri="4952ab04-0ae3-4d00-bda6-702fdc5fffab"/>
    <ds:schemaRef ds:uri="a9997899-e6ea-448c-9370-6665c1cb1c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5BCF84E-3EFE-4EC9-AB6C-7D53083CF2F0}">
  <ds:schemaRefs>
    <ds:schemaRef ds:uri="4952ab04-0ae3-4d00-bda6-702fdc5fffab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a9997899-e6ea-448c-9370-6665c1cb1ca9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E556F4D6-31A5-4692-BD03-E6D6534FF5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2434</TotalTime>
  <Words>692</Words>
  <Application>Microsoft Office PowerPoint</Application>
  <PresentationFormat>A4 210 x 297 mm</PresentationFormat>
  <Paragraphs>122</Paragraphs>
  <Slides>10</Slides>
  <Notes>0</Notes>
  <HiddenSlides>2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Arial</vt:lpstr>
      <vt:lpstr>Wingdings</vt:lpstr>
      <vt:lpstr>Template</vt:lpstr>
      <vt:lpstr>中学理科 物理分野 ～エネルギーと発電～</vt:lpstr>
      <vt:lpstr>身近なエネルギー相関</vt:lpstr>
      <vt:lpstr>エネルギーとは</vt:lpstr>
      <vt:lpstr>エネルギーを変換する</vt:lpstr>
      <vt:lpstr>エネルギーの変換には効率がある</vt:lpstr>
      <vt:lpstr>身近なエネルギの変換例</vt:lpstr>
      <vt:lpstr>仕事とは</vt:lpstr>
      <vt:lpstr>重力の分解</vt:lpstr>
      <vt:lpstr>重力の分解</vt:lpstr>
      <vt:lpstr>重力の分解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Hojicya</dc:creator>
  <cp:lastModifiedBy>テラヤユウキ</cp:lastModifiedBy>
  <cp:revision>160</cp:revision>
  <cp:lastPrinted>2025-07-26T19:55:07Z</cp:lastPrinted>
  <dcterms:created xsi:type="dcterms:W3CDTF">2025-07-12T17:38:21Z</dcterms:created>
  <dcterms:modified xsi:type="dcterms:W3CDTF">2025-08-22T13:14:34Z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0x010100317BAD2A974274468B93BA0E70B86153</vt:lpwstr>
  </property>
</Properties>
</file>