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7" r:id="rId5"/>
    <p:sldId id="287" r:id="rId6"/>
    <p:sldId id="285" r:id="rId7"/>
    <p:sldId id="291" r:id="rId8"/>
    <p:sldId id="331" r:id="rId9"/>
    <p:sldId id="293" r:id="rId10"/>
    <p:sldId id="294" r:id="rId11"/>
    <p:sldId id="298" r:id="rId12"/>
    <p:sldId id="300" r:id="rId13"/>
    <p:sldId id="299" r:id="rId14"/>
    <p:sldId id="301" r:id="rId15"/>
    <p:sldId id="302" r:id="rId16"/>
    <p:sldId id="328" r:id="rId17"/>
    <p:sldId id="311" r:id="rId18"/>
    <p:sldId id="318" r:id="rId19"/>
    <p:sldId id="319" r:id="rId20"/>
    <p:sldId id="306" r:id="rId21"/>
    <p:sldId id="305" r:id="rId22"/>
    <p:sldId id="307" r:id="rId23"/>
    <p:sldId id="308" r:id="rId24"/>
    <p:sldId id="303" r:id="rId25"/>
    <p:sldId id="297" r:id="rId26"/>
    <p:sldId id="304" r:id="rId27"/>
    <p:sldId id="309" r:id="rId28"/>
    <p:sldId id="330" r:id="rId29"/>
    <p:sldId id="314" r:id="rId30"/>
    <p:sldId id="321" r:id="rId31"/>
    <p:sldId id="332" r:id="rId32"/>
    <p:sldId id="333" r:id="rId33"/>
    <p:sldId id="326" r:id="rId34"/>
    <p:sldId id="327" r:id="rId35"/>
  </p:sldIdLst>
  <p:sldSz cx="12192000" cy="6858000"/>
  <p:notesSz cx="6858000" cy="9144000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1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60"/>
  </p:normalViewPr>
  <p:slideViewPr>
    <p:cSldViewPr snapToGrid="0">
      <p:cViewPr>
        <p:scale>
          <a:sx n="66" d="100"/>
          <a:sy n="66" d="100"/>
        </p:scale>
        <p:origin x="2370" y="978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テラヤユウキ" userId="e947cbe8-448f-4562-a9a1-6658acd25a21" providerId="ADAL" clId="{2F7278DA-B79F-4C46-8EC5-5328B495FDC0}"/>
    <pc:docChg chg="custSel modSld">
      <pc:chgData name="テラヤユウキ" userId="e947cbe8-448f-4562-a9a1-6658acd25a21" providerId="ADAL" clId="{2F7278DA-B79F-4C46-8EC5-5328B495FDC0}" dt="2025-07-15T13:14:40.669" v="0" actId="478"/>
      <pc:docMkLst>
        <pc:docMk/>
      </pc:docMkLst>
      <pc:sldChg chg="delSp">
        <pc:chgData name="テラヤユウキ" userId="e947cbe8-448f-4562-a9a1-6658acd25a21" providerId="ADAL" clId="{2F7278DA-B79F-4C46-8EC5-5328B495FDC0}" dt="2025-07-15T13:14:40.669" v="0" actId="478"/>
        <pc:sldMkLst>
          <pc:docMk/>
          <pc:sldMk cId="2533826868" sldId="333"/>
        </pc:sldMkLst>
        <pc:spChg chg="del">
          <ac:chgData name="テラヤユウキ" userId="e947cbe8-448f-4562-a9a1-6658acd25a21" providerId="ADAL" clId="{2F7278DA-B79F-4C46-8EC5-5328B495FDC0}" dt="2025-07-15T13:14:40.669" v="0" actId="478"/>
          <ac:spMkLst>
            <pc:docMk/>
            <pc:sldMk cId="2533826868" sldId="333"/>
            <ac:spMk id="3" creationId="{EC319731-D9B3-E0ED-A149-F773FB57A31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A2DC39A-F37D-EE26-E6A4-46D1CE53DC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95C2EF3-C4FB-7661-FCB6-5A7CBA558C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9DDF-1ACE-459E-A4C9-785D38D1BEA4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B95A5C-9F47-30BD-2CF4-D25F943646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F1A670-121D-259E-04B5-7F70EE450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98706-2D84-41EC-907D-A1E2F3D578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5905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D3436-84D5-46D2-9EE4-E2733CEAA42D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1621B-EAD0-4EC3-B311-357087C63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3372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629151"/>
            <a:ext cx="660400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u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7AE12B0-A78A-FBC5-A416-2CC15A437C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948256"/>
            <a:ext cx="6443133" cy="2158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4800" b="0">
                <a:latin typeface="+mn-lt"/>
                <a:ea typeface="+mn-ea"/>
              </a:defRPr>
            </a:lvl1pPr>
          </a:lstStyle>
          <a:p>
            <a:pPr lvl="0" algn="l">
              <a:lnSpc>
                <a:spcPct val="95449"/>
              </a:lnSpc>
            </a:pPr>
            <a:r>
              <a:rPr lang="ja-JP" altLang="en-US" sz="4800" dirty="0">
                <a:solidFill>
                  <a:srgbClr val="222222"/>
                </a:solidFill>
                <a:ea typeface="Noto Sans JP Black"/>
              </a:rPr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558800" y="4008967"/>
            <a:ext cx="11641667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7065" y="5816600"/>
            <a:ext cx="3056467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27066" y="5054599"/>
            <a:ext cx="3056467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9127065" y="5588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9127065" y="6350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27067" y="677332"/>
            <a:ext cx="3056467" cy="54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20XX.XX.XX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9127065" y="12192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98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日付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629151"/>
            <a:ext cx="660400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u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7AE12B0-A78A-FBC5-A416-2CC15A437C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948256"/>
            <a:ext cx="6443133" cy="2158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4800" b="0">
                <a:latin typeface="+mn-lt"/>
                <a:ea typeface="+mn-ea"/>
              </a:defRPr>
            </a:lvl1pPr>
          </a:lstStyle>
          <a:p>
            <a:pPr lvl="0" algn="l">
              <a:lnSpc>
                <a:spcPct val="95449"/>
              </a:lnSpc>
            </a:pPr>
            <a:r>
              <a:rPr lang="ja-JP" altLang="en-US" sz="4800">
                <a:solidFill>
                  <a:srgbClr val="222222"/>
                </a:solidFill>
                <a:ea typeface="Noto Sans JP Black"/>
              </a:rPr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558800" y="4008967"/>
            <a:ext cx="11641667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7065" y="5816600"/>
            <a:ext cx="3056467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27066" y="5054599"/>
            <a:ext cx="3056467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9127065" y="5588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9127065" y="6350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_名入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>
            <a:off x="953465" y="5193467"/>
            <a:ext cx="112385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14;p3">
            <a:extLst>
              <a:ext uri="{FF2B5EF4-FFF2-40B4-BE49-F238E27FC236}">
                <a16:creationId xmlns:a16="http://schemas.microsoft.com/office/drawing/2014/main" id="{97530CF8-5EC2-EE9B-948A-62E20168E05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53465" y="4064718"/>
            <a:ext cx="11238535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504769F1-3AAA-A870-7F50-0DD820A1F65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953464" y="5195583"/>
            <a:ext cx="7343869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3466" y="2647876"/>
            <a:ext cx="137200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6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68751EF7-2DA0-28D4-9776-6CB5BC7000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7065" y="5816600"/>
            <a:ext cx="3056467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FFD9D35-EEBD-3EB4-200A-F912F84FAAF3}"/>
              </a:ext>
            </a:extLst>
          </p:cNvPr>
          <p:cNvCxnSpPr>
            <a:cxnSpLocks/>
          </p:cNvCxnSpPr>
          <p:nvPr/>
        </p:nvCxnSpPr>
        <p:spPr>
          <a:xfrm flipH="1">
            <a:off x="9127065" y="6350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9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3466" y="2647876"/>
            <a:ext cx="137200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6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953465" y="5193467"/>
            <a:ext cx="112385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53465" y="4064718"/>
            <a:ext cx="11238535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953464" y="5195583"/>
            <a:ext cx="11238535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テキスト プレースホルダー 51">
            <a:extLst>
              <a:ext uri="{FF2B5EF4-FFF2-40B4-BE49-F238E27FC236}">
                <a16:creationId xmlns:a16="http://schemas.microsoft.com/office/drawing/2014/main" id="{A59BFB2E-D45D-A922-9FB5-C69F28D02A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1990" y="5715000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5" name="テキスト プレースホルダー 51">
            <a:extLst>
              <a:ext uri="{FF2B5EF4-FFF2-40B4-BE49-F238E27FC236}">
                <a16:creationId xmlns:a16="http://schemas.microsoft.com/office/drawing/2014/main" id="{B39806A9-E268-90EC-A2A4-8BF6A459A3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11990" y="4535967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4" name="テキスト プレースホルダー 51">
            <a:extLst>
              <a:ext uri="{FF2B5EF4-FFF2-40B4-BE49-F238E27FC236}">
                <a16:creationId xmlns:a16="http://schemas.microsoft.com/office/drawing/2014/main" id="{958562F5-E80D-4089-B6A1-FC459FD680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04305" y="3350634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3" name="テキスト プレースホルダー 51">
            <a:extLst>
              <a:ext uri="{FF2B5EF4-FFF2-40B4-BE49-F238E27FC236}">
                <a16:creationId xmlns:a16="http://schemas.microsoft.com/office/drawing/2014/main" id="{71FC3B71-4825-92CF-26F3-C4B0FD17E5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99168" y="2126770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2" name="テキスト プレースホルダー 51">
            <a:extLst>
              <a:ext uri="{FF2B5EF4-FFF2-40B4-BE49-F238E27FC236}">
                <a16:creationId xmlns:a16="http://schemas.microsoft.com/office/drawing/2014/main" id="{E809D172-FACF-CF6E-DA0B-C1A1C03C68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1990" y="920700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47" name="テキスト プレースホルダー 45">
            <a:extLst>
              <a:ext uri="{FF2B5EF4-FFF2-40B4-BE49-F238E27FC236}">
                <a16:creationId xmlns:a16="http://schemas.microsoft.com/office/drawing/2014/main" id="{7C77C175-F75B-5C90-A3B1-1521CD7AD4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5" y="2122967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5" y="920700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711200" y="711200"/>
            <a:ext cx="1430865" cy="948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ja-JP" altLang="en-US" sz="5400" b="0">
                <a:solidFill>
                  <a:srgbClr val="222222"/>
                </a:solidFill>
                <a:latin typeface="+mn-ea"/>
                <a:ea typeface="+mn-ea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05" y="3342167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49" name="テキスト プレースホルダー 45">
            <a:extLst>
              <a:ext uri="{FF2B5EF4-FFF2-40B4-BE49-F238E27FC236}">
                <a16:creationId xmlns:a16="http://schemas.microsoft.com/office/drawing/2014/main" id="{7F708B84-1FBC-DF0A-A859-EC6F29E2C3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5" y="4525687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4" y="5727954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755353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70A53EF-E7EC-95B8-DF3A-83D09F5CC0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578FA6A-9862-ACB6-1C7F-88327E3AEF73}"/>
              </a:ext>
            </a:extLst>
          </p:cNvPr>
          <p:cNvGrpSpPr/>
          <p:nvPr/>
        </p:nvGrpSpPr>
        <p:grpSpPr>
          <a:xfrm>
            <a:off x="467375" y="367766"/>
            <a:ext cx="11257248" cy="943894"/>
            <a:chOff x="303813" y="246536"/>
            <a:chExt cx="11584371" cy="118276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57C4EFEF-125A-66A9-E178-54FCA07B4805}"/>
                </a:ext>
              </a:extLst>
            </p:cNvPr>
            <p:cNvSpPr/>
            <p:nvPr/>
          </p:nvSpPr>
          <p:spPr>
            <a:xfrm>
              <a:off x="303813" y="246536"/>
              <a:ext cx="11584371" cy="1182769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四角形: 上の 2 つの角を丸める 9">
              <a:extLst>
                <a:ext uri="{FF2B5EF4-FFF2-40B4-BE49-F238E27FC236}">
                  <a16:creationId xmlns:a16="http://schemas.microsoft.com/office/drawing/2014/main" id="{426358C3-5859-1DEB-FFC5-448C05AC298C}"/>
                </a:ext>
              </a:extLst>
            </p:cNvPr>
            <p:cNvSpPr/>
            <p:nvPr/>
          </p:nvSpPr>
          <p:spPr>
            <a:xfrm>
              <a:off x="341767" y="501831"/>
              <a:ext cx="11510508" cy="88357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1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8" name="タイトル 2">
            <a:extLst>
              <a:ext uri="{FF2B5EF4-FFF2-40B4-BE49-F238E27FC236}">
                <a16:creationId xmlns:a16="http://schemas.microsoft.com/office/drawing/2014/main" id="{363F29F0-53DC-60ED-C2D7-2ADA9D45A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500660"/>
            <a:ext cx="11080117" cy="809528"/>
          </a:xfrm>
          <a:prstGeom prst="rect">
            <a:avLst/>
          </a:prstGeom>
        </p:spPr>
        <p:txBody>
          <a:bodyPr anchor="b"/>
          <a:lstStyle>
            <a:lvl1pPr algn="l">
              <a:defRPr sz="36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141010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付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8" name="タイトル 2">
            <a:extLst>
              <a:ext uri="{FF2B5EF4-FFF2-40B4-BE49-F238E27FC236}">
                <a16:creationId xmlns:a16="http://schemas.microsoft.com/office/drawing/2014/main" id="{363F29F0-53DC-60ED-C2D7-2ADA9D45A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88" y="500660"/>
            <a:ext cx="10845740" cy="840368"/>
          </a:xfrm>
          <a:prstGeom prst="rect">
            <a:avLst/>
          </a:prstGeom>
          <a:solidFill>
            <a:srgbClr val="F1FAFD"/>
          </a:solidFill>
        </p:spPr>
        <p:txBody>
          <a:bodyPr anchor="ctr"/>
          <a:lstStyle>
            <a:lvl1pPr algn="ctr">
              <a:defRPr sz="36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B434EC-DFE3-E05A-6915-F9EAA244D055}"/>
              </a:ext>
            </a:extLst>
          </p:cNvPr>
          <p:cNvSpPr/>
          <p:nvPr/>
        </p:nvSpPr>
        <p:spPr>
          <a:xfrm>
            <a:off x="607626" y="500660"/>
            <a:ext cx="236362" cy="8403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515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70A53EF-E7EC-95B8-DF3A-83D09F5CC0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E865C3F-4A00-6810-C8DB-92BF96CCCC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9" name="スライド番号プレースホルダー 7">
            <a:extLst>
              <a:ext uri="{FF2B5EF4-FFF2-40B4-BE49-F238E27FC236}">
                <a16:creationId xmlns:a16="http://schemas.microsoft.com/office/drawing/2014/main" id="{B1F0E9D0-F786-2AC7-0378-3A6B9AF79B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と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7">
            <a:extLst>
              <a:ext uri="{FF2B5EF4-FFF2-40B4-BE49-F238E27FC236}">
                <a16:creationId xmlns:a16="http://schemas.microsoft.com/office/drawing/2014/main" id="{708C3FE0-E24C-A874-1C1F-49250A97A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8466" y="5033964"/>
            <a:ext cx="7721600" cy="1454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" name="テキスト プレースホルダー 13">
            <a:extLst>
              <a:ext uri="{FF2B5EF4-FFF2-40B4-BE49-F238E27FC236}">
                <a16:creationId xmlns:a16="http://schemas.microsoft.com/office/drawing/2014/main" id="{8E230CD6-48C2-8EB5-1413-4C61D6B18C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1933" y="5035748"/>
            <a:ext cx="3164371" cy="1452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400"/>
              <a:t>（文章）</a:t>
            </a:r>
            <a:endParaRPr kumimoji="1" lang="ja-JP" altLang="en-US"/>
          </a:p>
        </p:txBody>
      </p:sp>
      <p:cxnSp>
        <p:nvCxnSpPr>
          <p:cNvPr id="4" name="Google Shape;146;p21">
            <a:extLst>
              <a:ext uri="{FF2B5EF4-FFF2-40B4-BE49-F238E27FC236}">
                <a16:creationId xmlns:a16="http://schemas.microsoft.com/office/drawing/2014/main" id="{6BD3FB05-173D-EAB1-A488-558CB9E10280}"/>
              </a:ext>
            </a:extLst>
          </p:cNvPr>
          <p:cNvCxnSpPr/>
          <p:nvPr userDrawn="1"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497EDCA-DF90-D7FE-3F46-B62601B259EB}"/>
              </a:ext>
            </a:extLst>
          </p:cNvPr>
          <p:cNvCxnSpPr>
            <a:cxnSpLocks/>
          </p:cNvCxnSpPr>
          <p:nvPr userDrawn="1"/>
        </p:nvCxnSpPr>
        <p:spPr>
          <a:xfrm>
            <a:off x="651933" y="5033964"/>
            <a:ext cx="108881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タイトル 2">
            <a:extLst>
              <a:ext uri="{FF2B5EF4-FFF2-40B4-BE49-F238E27FC236}">
                <a16:creationId xmlns:a16="http://schemas.microsoft.com/office/drawing/2014/main" id="{150D62D0-BACB-3F2E-1220-EFD42DCB54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097F114-5B16-E600-F504-1ECC6285DAB2}"/>
              </a:ext>
            </a:extLst>
          </p:cNvPr>
          <p:cNvCxnSpPr>
            <a:cxnSpLocks/>
          </p:cNvCxnSpPr>
          <p:nvPr userDrawn="1"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プレースホルダー 11">
            <a:extLst>
              <a:ext uri="{FF2B5EF4-FFF2-40B4-BE49-F238E27FC236}">
                <a16:creationId xmlns:a16="http://schemas.microsoft.com/office/drawing/2014/main" id="{B2CB61FC-7C90-0E2E-21B4-A6F6A9B624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7" name="テキスト プレースホルダー 11">
            <a:extLst>
              <a:ext uri="{FF2B5EF4-FFF2-40B4-BE49-F238E27FC236}">
                <a16:creationId xmlns:a16="http://schemas.microsoft.com/office/drawing/2014/main" id="{29D5CC39-3683-48EB-69C6-EA7F21E2EA0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8" name="スライド番号プレースホルダー 7">
            <a:extLst>
              <a:ext uri="{FF2B5EF4-FFF2-40B4-BE49-F238E27FC236}">
                <a16:creationId xmlns:a16="http://schemas.microsoft.com/office/drawing/2014/main" id="{6F5158FD-421E-D227-73CC-66758C38B8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9" name="テキスト プレースホルダー 15">
            <a:extLst>
              <a:ext uri="{FF2B5EF4-FFF2-40B4-BE49-F238E27FC236}">
                <a16:creationId xmlns:a16="http://schemas.microsoft.com/office/drawing/2014/main" id="{5E4583F6-459D-0E6F-6E5D-1363E05DF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113606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テキスト プレースホルダー 17">
            <a:extLst>
              <a:ext uri="{FF2B5EF4-FFF2-40B4-BE49-F238E27FC236}">
                <a16:creationId xmlns:a16="http://schemas.microsoft.com/office/drawing/2014/main" id="{7A63D63D-C15E-6912-5C3B-3B13F410C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66" y="2624667"/>
            <a:ext cx="4978400" cy="3672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3" name="テキスト プレースホルダー 32">
            <a:extLst>
              <a:ext uri="{FF2B5EF4-FFF2-40B4-BE49-F238E27FC236}">
                <a16:creationId xmlns:a16="http://schemas.microsoft.com/office/drawing/2014/main" id="{DE5C35B3-FC30-896D-AF18-51CC304F6C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93932" y="1911684"/>
            <a:ext cx="4978400" cy="5267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000"/>
              <a:t>（文章）</a:t>
            </a:r>
            <a:endParaRPr kumimoji="1" lang="ja-JP" altLang="en-US"/>
          </a:p>
        </p:txBody>
      </p:sp>
      <p:sp>
        <p:nvSpPr>
          <p:cNvPr id="30" name="図プレースホルダー 29">
            <a:extLst>
              <a:ext uri="{FF2B5EF4-FFF2-40B4-BE49-F238E27FC236}">
                <a16:creationId xmlns:a16="http://schemas.microsoft.com/office/drawing/2014/main" id="{4CDB6037-B7D7-C053-0D83-CBD0E5620D7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1933" y="1911685"/>
            <a:ext cx="5469467" cy="4385733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アイコンをクリックして図を追加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1767BC6-B5E0-B160-02C4-2462E8A8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3" y="2438400"/>
            <a:ext cx="4978400" cy="8467"/>
          </a:xfrm>
          <a:prstGeom prst="rect">
            <a:avLst/>
          </a:prstGeom>
        </p:spPr>
      </p:pic>
      <p:cxnSp>
        <p:nvCxnSpPr>
          <p:cNvPr id="26" name="Google Shape;146;p21">
            <a:extLst>
              <a:ext uri="{FF2B5EF4-FFF2-40B4-BE49-F238E27FC236}">
                <a16:creationId xmlns:a16="http://schemas.microsoft.com/office/drawing/2014/main" id="{10931993-51A5-109C-4F5C-24AC55A3DA55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タイトル 2">
            <a:extLst>
              <a:ext uri="{FF2B5EF4-FFF2-40B4-BE49-F238E27FC236}">
                <a16:creationId xmlns:a16="http://schemas.microsoft.com/office/drawing/2014/main" id="{F8195B85-3812-07C4-A20F-838E791123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95F66CB-BC22-C430-E444-7CA7C5386CBD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プレースホルダー 15">
            <a:extLst>
              <a:ext uri="{FF2B5EF4-FFF2-40B4-BE49-F238E27FC236}">
                <a16:creationId xmlns:a16="http://schemas.microsoft.com/office/drawing/2014/main" id="{F96CA446-BAAD-4513-9C0A-AB4A07EBD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F6B9F262-23D6-E0FD-67A3-63D5F301D4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7F6462D4-87A3-0AF5-C9AA-7B7695741B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9" name="スライド番号プレースホルダー 7">
            <a:extLst>
              <a:ext uri="{FF2B5EF4-FFF2-40B4-BE49-F238E27FC236}">
                <a16:creationId xmlns:a16="http://schemas.microsoft.com/office/drawing/2014/main" id="{84AD84D6-2954-62D8-2D19-AA5F15FF831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811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80BE4E4E-52CA-340D-D8D6-4A9E10059E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8501" y="2022645"/>
            <a:ext cx="5397501" cy="6646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9" name="Google Shape;146;p21">
            <a:extLst>
              <a:ext uri="{FF2B5EF4-FFF2-40B4-BE49-F238E27FC236}">
                <a16:creationId xmlns:a16="http://schemas.microsoft.com/office/drawing/2014/main" id="{4F6A570A-D897-C310-7DBE-2D82F9DEFEF6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テキスト プレースホルダー 17">
            <a:extLst>
              <a:ext uri="{FF2B5EF4-FFF2-40B4-BE49-F238E27FC236}">
                <a16:creationId xmlns:a16="http://schemas.microsoft.com/office/drawing/2014/main" id="{DF252F91-42B3-708C-CBAB-10962955CF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1401" y="3076123"/>
            <a:ext cx="4571999" cy="2537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3" name="テキスト プレースホルダー 17">
            <a:extLst>
              <a:ext uri="{FF2B5EF4-FFF2-40B4-BE49-F238E27FC236}">
                <a16:creationId xmlns:a16="http://schemas.microsoft.com/office/drawing/2014/main" id="{1D54C140-A0FC-AD71-CDF9-EBF6910137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78601" y="3076123"/>
            <a:ext cx="4571999" cy="2537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6" name="テキスト プレースホルダー 34">
            <a:extLst>
              <a:ext uri="{FF2B5EF4-FFF2-40B4-BE49-F238E27FC236}">
                <a16:creationId xmlns:a16="http://schemas.microsoft.com/office/drawing/2014/main" id="{B64AF0A5-52CA-7D82-AA0D-07E1B2F189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2024539"/>
            <a:ext cx="5397501" cy="6646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625B09C-1197-2396-BFB9-4F8CDB43D0B5}"/>
              </a:ext>
            </a:extLst>
          </p:cNvPr>
          <p:cNvCxnSpPr>
            <a:cxnSpLocks/>
          </p:cNvCxnSpPr>
          <p:nvPr/>
        </p:nvCxnSpPr>
        <p:spPr>
          <a:xfrm>
            <a:off x="690034" y="6015219"/>
            <a:ext cx="10778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B16983A-D26A-9989-2EEF-FF270C2B2B71}"/>
              </a:ext>
            </a:extLst>
          </p:cNvPr>
          <p:cNvCxnSpPr>
            <a:cxnSpLocks/>
          </p:cNvCxnSpPr>
          <p:nvPr/>
        </p:nvCxnSpPr>
        <p:spPr>
          <a:xfrm>
            <a:off x="698501" y="2687278"/>
            <a:ext cx="10795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D38A7E7-D0FD-4098-FE64-42590C733E3C}"/>
              </a:ext>
            </a:extLst>
          </p:cNvPr>
          <p:cNvCxnSpPr>
            <a:cxnSpLocks/>
          </p:cNvCxnSpPr>
          <p:nvPr/>
        </p:nvCxnSpPr>
        <p:spPr>
          <a:xfrm>
            <a:off x="6096000" y="2687278"/>
            <a:ext cx="0" cy="3327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タイトル 2">
            <a:extLst>
              <a:ext uri="{FF2B5EF4-FFF2-40B4-BE49-F238E27FC236}">
                <a16:creationId xmlns:a16="http://schemas.microsoft.com/office/drawing/2014/main" id="{6A3C6E09-B152-1DD2-85B0-481E2A73F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01BE3F3-57CB-503F-230D-6D0C58335759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15">
            <a:extLst>
              <a:ext uri="{FF2B5EF4-FFF2-40B4-BE49-F238E27FC236}">
                <a16:creationId xmlns:a16="http://schemas.microsoft.com/office/drawing/2014/main" id="{BD3B74E9-75EE-59BC-255F-47C2E93DBD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8EA63224-722D-7FB4-5175-2E49AB405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33AF5847-97A0-36E6-BFFD-42724CCB93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3" name="スライド番号プレースホルダー 7">
            <a:extLst>
              <a:ext uri="{FF2B5EF4-FFF2-40B4-BE49-F238E27FC236}">
                <a16:creationId xmlns:a16="http://schemas.microsoft.com/office/drawing/2014/main" id="{2E701924-67EC-566C-C445-FB7575EB6EA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395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問題と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A3A59FD-98A7-0B01-8200-C8A38A220AE6}"/>
              </a:ext>
            </a:extLst>
          </p:cNvPr>
          <p:cNvCxnSpPr>
            <a:cxnSpLocks/>
          </p:cNvCxnSpPr>
          <p:nvPr/>
        </p:nvCxnSpPr>
        <p:spPr>
          <a:xfrm>
            <a:off x="5646488" y="4058989"/>
            <a:ext cx="329262" cy="312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2C38747-AA83-46AB-B5EC-13436DEA348A}"/>
              </a:ext>
            </a:extLst>
          </p:cNvPr>
          <p:cNvCxnSpPr>
            <a:cxnSpLocks/>
          </p:cNvCxnSpPr>
          <p:nvPr/>
        </p:nvCxnSpPr>
        <p:spPr>
          <a:xfrm>
            <a:off x="5975750" y="3733194"/>
            <a:ext cx="0" cy="6386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E49678A-E497-FEEE-5D94-4E412FBE7818}"/>
              </a:ext>
            </a:extLst>
          </p:cNvPr>
          <p:cNvCxnSpPr>
            <a:cxnSpLocks/>
          </p:cNvCxnSpPr>
          <p:nvPr/>
        </p:nvCxnSpPr>
        <p:spPr>
          <a:xfrm>
            <a:off x="651933" y="6130408"/>
            <a:ext cx="10778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CB98CE4-3DBD-64DE-55F1-5643C19EE1C9}"/>
              </a:ext>
            </a:extLst>
          </p:cNvPr>
          <p:cNvCxnSpPr>
            <a:cxnSpLocks/>
          </p:cNvCxnSpPr>
          <p:nvPr/>
        </p:nvCxnSpPr>
        <p:spPr>
          <a:xfrm>
            <a:off x="651933" y="3733194"/>
            <a:ext cx="10778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Google Shape;146;p21">
            <a:extLst>
              <a:ext uri="{FF2B5EF4-FFF2-40B4-BE49-F238E27FC236}">
                <a16:creationId xmlns:a16="http://schemas.microsoft.com/office/drawing/2014/main" id="{2BF939F9-D4A5-CFAC-6627-A2CCC890EAA1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6E21742C-8A5C-2A08-FD77-C9F969D745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934" y="4374119"/>
            <a:ext cx="1219200" cy="1753967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（終）</a:t>
            </a:r>
          </a:p>
        </p:txBody>
      </p:sp>
      <p:sp>
        <p:nvSpPr>
          <p:cNvPr id="10" name="テキスト プレースホルダー 18">
            <a:extLst>
              <a:ext uri="{FF2B5EF4-FFF2-40B4-BE49-F238E27FC236}">
                <a16:creationId xmlns:a16="http://schemas.microsoft.com/office/drawing/2014/main" id="{853F1702-938D-DC1A-0CAF-89B31BA6E4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79600" y="4374118"/>
            <a:ext cx="9550385" cy="1753967"/>
          </a:xfrm>
          <a:prstGeom prst="rect">
            <a:avLst/>
          </a:prstGeom>
        </p:spPr>
        <p:txBody>
          <a:bodyPr anchor="ctr"/>
          <a:lstStyle>
            <a:lvl1pPr marL="285750" indent="-285750" algn="l">
              <a:buFont typeface="Wingdings" panose="05000000000000000000" pitchFamily="2" charset="2"/>
              <a:buChar char="Ø"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2" name="テキスト プレースホルダー 18">
            <a:extLst>
              <a:ext uri="{FF2B5EF4-FFF2-40B4-BE49-F238E27FC236}">
                <a16:creationId xmlns:a16="http://schemas.microsoft.com/office/drawing/2014/main" id="{876E888B-1C64-2F3D-21DC-AD072F18D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933" y="1980119"/>
            <a:ext cx="1219200" cy="17507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（始）</a:t>
            </a:r>
          </a:p>
        </p:txBody>
      </p:sp>
      <p:sp>
        <p:nvSpPr>
          <p:cNvPr id="13" name="テキスト プレースホルダー 18">
            <a:extLst>
              <a:ext uri="{FF2B5EF4-FFF2-40B4-BE49-F238E27FC236}">
                <a16:creationId xmlns:a16="http://schemas.microsoft.com/office/drawing/2014/main" id="{5FCFBAE9-FF73-FA88-94DC-D5334A8CC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79600" y="1979226"/>
            <a:ext cx="9550385" cy="1753967"/>
          </a:xfrm>
          <a:prstGeom prst="rect">
            <a:avLst/>
          </a:prstGeom>
        </p:spPr>
        <p:txBody>
          <a:bodyPr anchor="ctr"/>
          <a:lstStyle>
            <a:lvl1pPr marL="285750" indent="-285750" algn="l">
              <a:buFont typeface="Wingdings" panose="05000000000000000000" pitchFamily="2" charset="2"/>
              <a:buChar char="Ø"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55BA6990-2AC6-C173-07B2-687CE1CD79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53C7617-4918-FA09-CF38-FFD9B6C1E381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5">
            <a:extLst>
              <a:ext uri="{FF2B5EF4-FFF2-40B4-BE49-F238E27FC236}">
                <a16:creationId xmlns:a16="http://schemas.microsoft.com/office/drawing/2014/main" id="{FBB390C8-13DA-66C5-CC53-6676821F0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4FD304DD-4A06-F4CD-BB72-7DF427EA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6DA70E7-CC7F-CFB3-F52D-CCF9E4E31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4" name="スライド番号プレースホルダー 7">
            <a:extLst>
              <a:ext uri="{FF2B5EF4-FFF2-40B4-BE49-F238E27FC236}">
                <a16:creationId xmlns:a16="http://schemas.microsoft.com/office/drawing/2014/main" id="{AFABA4F2-2225-43D1-65A5-BC3AFBADB6D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99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90950" y="2430878"/>
            <a:ext cx="4610100" cy="199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11500" b="0">
                <a:solidFill>
                  <a:schemeClr val="tx1"/>
                </a:solidFill>
                <a:latin typeface="+mn-ea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6" r:id="rId2"/>
    <p:sldLayoutId id="2147483661" r:id="rId3"/>
    <p:sldLayoutId id="2147483663" r:id="rId4"/>
    <p:sldLayoutId id="2147483657" r:id="rId5"/>
    <p:sldLayoutId id="2147483666" r:id="rId6"/>
    <p:sldLayoutId id="2147483671" r:id="rId7"/>
    <p:sldLayoutId id="2147483672" r:id="rId8"/>
    <p:sldLayoutId id="2147483668" r:id="rId9"/>
    <p:sldLayoutId id="2147483669" r:id="rId10"/>
    <p:sldLayoutId id="2147483659" r:id="rId11"/>
    <p:sldLayoutId id="2147483660" r:id="rId12"/>
    <p:sldLayoutId id="2147483662" r:id="rId13"/>
    <p:sldLayoutId id="2147483667" r:id="rId14"/>
  </p:sldLayoutIdLst>
  <p:hf hdr="0" ftr="0" dt="0"/>
  <p:txStyles>
    <p:titleStyle>
      <a:lvl1pPr algn="ctr" defTabSz="609630" rtl="0" eaLnBrk="1" latinLnBrk="0" hangingPunct="1">
        <a:spcBef>
          <a:spcPct val="0"/>
        </a:spcBef>
        <a:buNone/>
        <a:defRPr kumimoji="1"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x.com/@hojicya_appx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ijo.ed.jp/wp-content/uploads/2016/02/2010summer_2Ozawa.pdf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useumpreneurs.org/aru.htm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ijo.ed.jp/wp-content/uploads/2016/02/2010summer_2Ozawa.pdf" TargetMode="Externa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hk-ondemand.jp/goods/G2024143177SA000/index.htm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nli-research.co.jp/report/detail/id=76426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irasutoya.com/2013/02/blog-post_698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mathsuke.jp/zeno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news.mynavi.jp/article/20200825-1236792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ijo.ed.jp/wp-content/uploads/2016/02/2010summer_2Ozawa.pdf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www.kansai-u.ac.jp/dai-ichi/high/discovery_reports/asset/report4.pdf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harigamiya.jp/item/illust-fly.html" TargetMode="Externa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rekisiru.com/1339/2" TargetMode="Externa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x.com/kek_jp/status/1875117045018427481" TargetMode="Externa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hyperlink" Target="https://www.irasutoya.com/2015/10/blog-post_105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2.yukawa.kyoto-u.ac.jp/~takehiro.azuma/kagakugijutsu_azuma_slide.pdf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CD39C5-344E-C3A4-E95E-7920FFEDEC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sz="6600"/>
              <a:t>高校物理</a:t>
            </a:r>
            <a:endParaRPr lang="en-US" altLang="ja-JP" sz="6600"/>
          </a:p>
          <a:p>
            <a:r>
              <a:rPr kumimoji="1" lang="ja-JP" altLang="en-US" sz="2400"/>
              <a:t>～</a:t>
            </a:r>
            <a:r>
              <a:rPr kumimoji="1" lang="en-US" altLang="ja-JP" sz="2400"/>
              <a:t>Introduction</a:t>
            </a:r>
            <a:r>
              <a:rPr kumimoji="1" lang="ja-JP" altLang="en-US" sz="2400"/>
              <a:t>～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549EC0-4A12-084E-B646-FC2CE0C61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sz="2300">
                <a:hlinkClick r:id="rId2"/>
              </a:rPr>
              <a:t>@hojicya_appx</a:t>
            </a:r>
            <a:endParaRPr kumimoji="1" lang="ja-JP" altLang="en-US" sz="230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10BCA04-E862-355A-A0BA-CC3FCBA379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ja-JP" altLang="en-US" sz="2300"/>
              <a:t>ほうじ茶</a:t>
            </a:r>
          </a:p>
        </p:txBody>
      </p:sp>
      <p:sp>
        <p:nvSpPr>
          <p:cNvPr id="8" name="テキスト プレースホルダー 1">
            <a:extLst>
              <a:ext uri="{FF2B5EF4-FFF2-40B4-BE49-F238E27FC236}">
                <a16:creationId xmlns:a16="http://schemas.microsoft.com/office/drawing/2014/main" id="{3C1FD535-A322-4EFA-A940-AEF02154DCAA}"/>
              </a:ext>
            </a:extLst>
          </p:cNvPr>
          <p:cNvSpPr txBox="1">
            <a:spLocks/>
          </p:cNvSpPr>
          <p:nvPr/>
        </p:nvSpPr>
        <p:spPr>
          <a:xfrm>
            <a:off x="558800" y="4629150"/>
            <a:ext cx="7309152" cy="118745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numCol="2"/>
          <a:lstStyle>
            <a:lvl1pPr marL="285750" indent="-285750" algn="l" defTabSz="60963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u"/>
              <a:defRPr kumimoji="1" sz="18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科学史 ～天動説から地動説へ～</a:t>
            </a:r>
            <a:endParaRPr lang="en-US" altLang="ja-JP"/>
          </a:p>
          <a:p>
            <a:r>
              <a:rPr lang="ja-JP" altLang="en-US"/>
              <a:t>数学史 </a:t>
            </a:r>
            <a:r>
              <a:rPr lang="en-US" altLang="ja-JP"/>
              <a:t>〜</a:t>
            </a:r>
            <a:r>
              <a:rPr lang="ja-JP" altLang="en-US"/>
              <a:t>微分積分の歴史～</a:t>
            </a:r>
            <a:endParaRPr lang="en-US" altLang="ja-JP"/>
          </a:p>
          <a:p>
            <a:r>
              <a:rPr lang="ja-JP" altLang="en-US"/>
              <a:t>「学問」とは？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43566339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1371-E597-73C8-E973-064BCB63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2AB00A4-4177-00B6-5D97-BE47FB8F8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02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340E236-6DBD-5DF1-2A68-AC77A940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数学史 </a:t>
            </a:r>
            <a:r>
              <a:rPr lang="ja-JP" altLang="en-US" sz="2800"/>
              <a:t>～微分積分の歴史～</a:t>
            </a:r>
            <a:endParaRPr kumimoji="1" lang="ja-JP" altLang="en-US"/>
          </a:p>
        </p:txBody>
      </p:sp>
      <p:sp>
        <p:nvSpPr>
          <p:cNvPr id="5" name="テキスト プレースホルダー 1">
            <a:extLst>
              <a:ext uri="{FF2B5EF4-FFF2-40B4-BE49-F238E27FC236}">
                <a16:creationId xmlns:a16="http://schemas.microsoft.com/office/drawing/2014/main" id="{507EE1F2-8FBF-B57E-BFC6-94E2521C58B0}"/>
              </a:ext>
            </a:extLst>
          </p:cNvPr>
          <p:cNvSpPr txBox="1">
            <a:spLocks/>
          </p:cNvSpPr>
          <p:nvPr/>
        </p:nvSpPr>
        <p:spPr>
          <a:xfrm>
            <a:off x="953465" y="5334362"/>
            <a:ext cx="7717865" cy="1126520"/>
          </a:xfrm>
          <a:prstGeom prst="rect">
            <a:avLst/>
          </a:prstGeom>
        </p:spPr>
        <p:txBody>
          <a:bodyPr numCol="1"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ja-JP" altLang="en-US" sz="2200"/>
              <a:t>本日の授業内容を覚えてもらうことは求めていません．
「</a:t>
            </a:r>
            <a:r>
              <a:rPr lang="ja-JP" altLang="en-US" sz="2200">
                <a:solidFill>
                  <a:schemeClr val="accent6"/>
                </a:solidFill>
              </a:rPr>
              <a:t>感じて</a:t>
            </a:r>
            <a:r>
              <a:rPr lang="ja-JP" altLang="en-US" sz="2200"/>
              <a:t>」もらえれば十分です．</a:t>
            </a:r>
            <a:endParaRPr lang="en-US" altLang="ja-JP" sz="2200"/>
          </a:p>
        </p:txBody>
      </p:sp>
    </p:spTree>
    <p:extLst>
      <p:ext uri="{BB962C8B-B14F-4D97-AF65-F5344CB8AC3E}">
        <p14:creationId xmlns:p14="http://schemas.microsoft.com/office/powerpoint/2010/main" val="1382502174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42000B41-77D3-675C-1BA7-71209EB566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" r="581"/>
          <a:stretch/>
        </p:blipFill>
        <p:spPr bwMode="auto">
          <a:xfrm>
            <a:off x="830391" y="442582"/>
            <a:ext cx="4367966" cy="585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73373A4A-4AAC-8573-90CD-AB175312B87D}"/>
              </a:ext>
            </a:extLst>
          </p:cNvPr>
          <p:cNvSpPr/>
          <p:nvPr/>
        </p:nvSpPr>
        <p:spPr>
          <a:xfrm>
            <a:off x="6282064" y="3317801"/>
            <a:ext cx="5079545" cy="2598906"/>
          </a:xfrm>
          <a:prstGeom prst="wedgeRoundRectCallout">
            <a:avLst>
              <a:gd name="adj1" fmla="val -86835"/>
              <a:gd name="adj2" fmla="val -6177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私の</a:t>
            </a:r>
            <a:r>
              <a:rPr kumimoji="1" lang="ja-JP" altLang="en-US" sz="3600">
                <a:solidFill>
                  <a:schemeClr val="accent6"/>
                </a:solidFill>
              </a:rPr>
              <a:t>円</a:t>
            </a:r>
            <a:r>
              <a:rPr kumimoji="1" lang="ja-JP" altLang="en-US" sz="3600">
                <a:solidFill>
                  <a:schemeClr val="tx1"/>
                </a:solidFill>
              </a:rPr>
              <a:t>を台無しに</a:t>
            </a:r>
            <a:endParaRPr kumimoji="1" lang="en-US" altLang="ja-JP" sz="36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するな！</a:t>
            </a:r>
            <a:endParaRPr kumimoji="1" lang="en-US" altLang="ja-JP" sz="36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（円の面積）</a:t>
            </a:r>
            <a:endParaRPr kumimoji="1" lang="en-US" altLang="ja-JP" sz="3600">
              <a:solidFill>
                <a:schemeClr val="tx1"/>
              </a:solidFill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1C0DAA-8852-7954-FF30-C7B4CCD277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3"/>
              </a:rPr>
              <a:t>https://www.kaijo.ed.jp/wp-content/uploads/2016/02/2010summer_2Ozawa.pdf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168E0F-6589-DBC1-25B3-9FE0AAE626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3233EB95-BDEA-1B2B-CF06-DD495987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61" y="799141"/>
            <a:ext cx="6964139" cy="1510401"/>
          </a:xfrm>
        </p:spPr>
        <p:txBody>
          <a:bodyPr anchor="ctr"/>
          <a:lstStyle/>
          <a:p>
            <a:pPr algn="ctr"/>
            <a:r>
              <a:rPr lang="ja-JP" altLang="en-US"/>
              <a:t>アルキメデス</a:t>
            </a:r>
            <a:br>
              <a:rPr kumimoji="1" lang="en-US" altLang="ja-JP"/>
            </a:br>
            <a:r>
              <a:rPr kumimoji="1" lang="ja-JP" altLang="en-US" sz="3600"/>
              <a:t>（</a:t>
            </a:r>
            <a:r>
              <a:rPr kumimoji="1" lang="en-US" altLang="ja-JP" sz="3600"/>
              <a:t>B.C. </a:t>
            </a:r>
            <a:r>
              <a:rPr lang="en-US" altLang="ja-JP" sz="3600"/>
              <a:t>287</a:t>
            </a:r>
            <a:r>
              <a:rPr kumimoji="1" lang="en-US" altLang="ja-JP" sz="3600"/>
              <a:t>-212</a:t>
            </a:r>
            <a:r>
              <a:rPr kumimoji="1" lang="ja-JP" altLang="en-US" sz="3600"/>
              <a:t>年）</a:t>
            </a:r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CEE3B6ED-E533-E39C-BB05-FBA3678D7AE3}"/>
              </a:ext>
            </a:extLst>
          </p:cNvPr>
          <p:cNvSpPr/>
          <p:nvPr/>
        </p:nvSpPr>
        <p:spPr>
          <a:xfrm>
            <a:off x="6282063" y="3317801"/>
            <a:ext cx="5079545" cy="2598906"/>
          </a:xfrm>
          <a:prstGeom prst="wedgeRoundRectCallout">
            <a:avLst>
              <a:gd name="adj1" fmla="val -86306"/>
              <a:gd name="adj2" fmla="val -619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/>
              <a:t>我に</a:t>
            </a:r>
            <a:r>
              <a:rPr lang="ja-JP" altLang="en-US" sz="3200" dirty="0">
                <a:solidFill>
                  <a:schemeClr val="accent6"/>
                </a:solidFill>
              </a:rPr>
              <a:t>一つの支点</a:t>
            </a:r>
            <a:r>
              <a:rPr lang="ja-JP" altLang="en-US" sz="3200" dirty="0"/>
              <a:t>を与えよ．さすれば地球を動かして見せよう．</a:t>
            </a:r>
            <a:endParaRPr lang="en-US" altLang="ja-JP" sz="3200" dirty="0"/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（てこの原理）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61A18B-62DE-5C14-4144-CA7F01EF6539}"/>
              </a:ext>
            </a:extLst>
          </p:cNvPr>
          <p:cNvSpPr txBox="1"/>
          <p:nvPr/>
        </p:nvSpPr>
        <p:spPr>
          <a:xfrm>
            <a:off x="7993038" y="5972637"/>
            <a:ext cx="4198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400"/>
              <a:t>このあと，</a:t>
            </a:r>
            <a:r>
              <a:rPr kumimoji="1" lang="ja-JP" altLang="en-US" sz="2400">
                <a:solidFill>
                  <a:schemeClr val="accent6"/>
                </a:solidFill>
              </a:rPr>
              <a:t>殺される</a:t>
            </a:r>
            <a:r>
              <a:rPr kumimoji="1" lang="ja-JP" altLang="en-US" sz="2400"/>
              <a:t>ことに</a:t>
            </a:r>
            <a:r>
              <a:rPr kumimoji="1" lang="en-US" altLang="ja-JP" sz="2400"/>
              <a:t>…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1939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0" grpId="1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B9BBA4FB-3395-77C4-3BCA-4195299D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てこの原理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227859-5DBE-509A-E332-EB84A6932AB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E99B09EA-867D-D0F1-BD02-AEACA396A5B3}"/>
              </a:ext>
            </a:extLst>
          </p:cNvPr>
          <p:cNvSpPr/>
          <p:nvPr/>
        </p:nvSpPr>
        <p:spPr>
          <a:xfrm rot="1003818">
            <a:off x="607146" y="3374562"/>
            <a:ext cx="5284696" cy="995901"/>
          </a:xfrm>
          <a:custGeom>
            <a:avLst/>
            <a:gdLst>
              <a:gd name="connsiteX0" fmla="*/ 2651570 w 5284696"/>
              <a:gd name="connsiteY0" fmla="*/ 145561 h 995901"/>
              <a:gd name="connsiteX1" fmla="*/ 3289205 w 5284696"/>
              <a:gd name="connsiteY1" fmla="*/ 743418 h 995901"/>
              <a:gd name="connsiteX2" fmla="*/ 2449250 w 5284696"/>
              <a:gd name="connsiteY2" fmla="*/ 995901 h 995901"/>
              <a:gd name="connsiteX3" fmla="*/ 0 w 5284696"/>
              <a:gd name="connsiteY3" fmla="*/ 0 h 995901"/>
              <a:gd name="connsiteX4" fmla="*/ 5284696 w 5284696"/>
              <a:gd name="connsiteY4" fmla="*/ 0 h 995901"/>
              <a:gd name="connsiteX5" fmla="*/ 5284696 w 5284696"/>
              <a:gd name="connsiteY5" fmla="*/ 144787 h 995901"/>
              <a:gd name="connsiteX6" fmla="*/ 0 w 5284696"/>
              <a:gd name="connsiteY6" fmla="*/ 144787 h 995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84696" h="995901">
                <a:moveTo>
                  <a:pt x="2651570" y="145561"/>
                </a:moveTo>
                <a:lnTo>
                  <a:pt x="3289205" y="743418"/>
                </a:lnTo>
                <a:lnTo>
                  <a:pt x="2449250" y="995901"/>
                </a:lnTo>
                <a:close/>
                <a:moveTo>
                  <a:pt x="0" y="0"/>
                </a:moveTo>
                <a:lnTo>
                  <a:pt x="5284696" y="0"/>
                </a:lnTo>
                <a:lnTo>
                  <a:pt x="5284696" y="144787"/>
                </a:lnTo>
                <a:lnTo>
                  <a:pt x="0" y="144787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吹き出し: 円形 13">
            <a:extLst>
              <a:ext uri="{FF2B5EF4-FFF2-40B4-BE49-F238E27FC236}">
                <a16:creationId xmlns:a16="http://schemas.microsoft.com/office/drawing/2014/main" id="{EEF1A307-F803-E1DC-E531-A5C97C4733CD}"/>
              </a:ext>
            </a:extLst>
          </p:cNvPr>
          <p:cNvSpPr/>
          <p:nvPr/>
        </p:nvSpPr>
        <p:spPr>
          <a:xfrm>
            <a:off x="3122414" y="2336579"/>
            <a:ext cx="1705103" cy="756105"/>
          </a:xfrm>
          <a:prstGeom prst="wedgeEllipseCallout">
            <a:avLst>
              <a:gd name="adj1" fmla="val -28695"/>
              <a:gd name="adj2" fmla="val 780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支点</a:t>
            </a:r>
          </a:p>
        </p:txBody>
      </p:sp>
      <p:sp>
        <p:nvSpPr>
          <p:cNvPr id="15" name="吹き出し: 円形 14">
            <a:extLst>
              <a:ext uri="{FF2B5EF4-FFF2-40B4-BE49-F238E27FC236}">
                <a16:creationId xmlns:a16="http://schemas.microsoft.com/office/drawing/2014/main" id="{0653EBC6-E504-3CFF-39B6-8C46A8A5ED3A}"/>
              </a:ext>
            </a:extLst>
          </p:cNvPr>
          <p:cNvSpPr/>
          <p:nvPr/>
        </p:nvSpPr>
        <p:spPr>
          <a:xfrm>
            <a:off x="4598770" y="4660111"/>
            <a:ext cx="1705103" cy="756105"/>
          </a:xfrm>
          <a:prstGeom prst="wedgeEllipseCallout">
            <a:avLst>
              <a:gd name="adj1" fmla="val 20330"/>
              <a:gd name="adj2" fmla="val -7401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作用点</a:t>
            </a:r>
          </a:p>
        </p:txBody>
      </p:sp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A8BCE42D-EFB7-3322-2234-DC45826A6FFA}"/>
              </a:ext>
            </a:extLst>
          </p:cNvPr>
          <p:cNvSpPr/>
          <p:nvPr/>
        </p:nvSpPr>
        <p:spPr>
          <a:xfrm>
            <a:off x="331385" y="3287545"/>
            <a:ext cx="1705103" cy="756105"/>
          </a:xfrm>
          <a:prstGeom prst="wedgeEllipseCallout">
            <a:avLst>
              <a:gd name="adj1" fmla="val -17982"/>
              <a:gd name="adj2" fmla="val -8502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力点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BDEA97E-B3B7-BB62-D9C5-30F659416FE7}"/>
              </a:ext>
            </a:extLst>
          </p:cNvPr>
          <p:cNvSpPr txBox="1"/>
          <p:nvPr/>
        </p:nvSpPr>
        <p:spPr>
          <a:xfrm>
            <a:off x="331385" y="4179677"/>
            <a:ext cx="1772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solidFill>
                  <a:schemeClr val="accent6"/>
                </a:solidFill>
              </a:rPr>
              <a:t>外力</a:t>
            </a:r>
            <a:r>
              <a:rPr kumimoji="1" lang="ja-JP" altLang="en-US" sz="2400"/>
              <a:t>の位置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ACBBB08-A5C9-8ECF-E1A2-D5754DFC44F9}"/>
              </a:ext>
            </a:extLst>
          </p:cNvPr>
          <p:cNvSpPr txBox="1"/>
          <p:nvPr/>
        </p:nvSpPr>
        <p:spPr>
          <a:xfrm>
            <a:off x="4598770" y="5539267"/>
            <a:ext cx="1772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solidFill>
                  <a:schemeClr val="accent6"/>
                </a:solidFill>
              </a:rPr>
              <a:t>重り</a:t>
            </a:r>
            <a:r>
              <a:rPr kumimoji="1" lang="ja-JP" altLang="en-US" sz="2400"/>
              <a:t>の位置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3979648-5246-DDF9-F7F3-DECD3D00E83B}"/>
              </a:ext>
            </a:extLst>
          </p:cNvPr>
          <p:cNvCxnSpPr>
            <a:cxnSpLocks/>
          </p:cNvCxnSpPr>
          <p:nvPr/>
        </p:nvCxnSpPr>
        <p:spPr>
          <a:xfrm>
            <a:off x="917564" y="2492121"/>
            <a:ext cx="2496407" cy="748153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716C012-2854-C0E5-02EC-448748E7155C}"/>
              </a:ext>
            </a:extLst>
          </p:cNvPr>
          <p:cNvCxnSpPr>
            <a:cxnSpLocks/>
          </p:cNvCxnSpPr>
          <p:nvPr/>
        </p:nvCxnSpPr>
        <p:spPr>
          <a:xfrm>
            <a:off x="3481454" y="3257972"/>
            <a:ext cx="2496407" cy="748153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266727F-CAAA-4113-12A5-2F4BCE689E52}"/>
              </a:ext>
            </a:extLst>
          </p:cNvPr>
          <p:cNvSpPr txBox="1"/>
          <p:nvPr/>
        </p:nvSpPr>
        <p:spPr>
          <a:xfrm rot="962533">
            <a:off x="1997668" y="2446027"/>
            <a:ext cx="503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L</a:t>
            </a:r>
            <a:r>
              <a:rPr kumimoji="1" lang="en-US" altLang="ja-JP" sz="2400" baseline="-25000">
                <a:latin typeface="+mj-lt"/>
              </a:rPr>
              <a:t>1</a:t>
            </a:r>
            <a:endParaRPr kumimoji="1" lang="ja-JP" altLang="en-US" sz="2400" baseline="-25000">
              <a:latin typeface="+mj-lt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4485DE7-34CE-987B-EB2C-EFC6C73179EA}"/>
              </a:ext>
            </a:extLst>
          </p:cNvPr>
          <p:cNvSpPr txBox="1"/>
          <p:nvPr/>
        </p:nvSpPr>
        <p:spPr>
          <a:xfrm rot="962533">
            <a:off x="4615324" y="3211859"/>
            <a:ext cx="503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L</a:t>
            </a:r>
            <a:r>
              <a:rPr kumimoji="1" lang="en-US" altLang="ja-JP" sz="2400" baseline="-25000">
                <a:latin typeface="+mj-lt"/>
              </a:rPr>
              <a:t>2</a:t>
            </a:r>
            <a:endParaRPr kumimoji="1" lang="ja-JP" altLang="en-US" sz="2400" baseline="-25000">
              <a:latin typeface="+mj-lt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5D2BB4A-8AA1-8F0C-0431-EA9AB6107F91}"/>
              </a:ext>
            </a:extLst>
          </p:cNvPr>
          <p:cNvSpPr txBox="1"/>
          <p:nvPr/>
        </p:nvSpPr>
        <p:spPr>
          <a:xfrm>
            <a:off x="515949" y="4777369"/>
            <a:ext cx="60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W</a:t>
            </a:r>
            <a:r>
              <a:rPr kumimoji="1" lang="en-US" altLang="ja-JP" sz="2400" baseline="-25000">
                <a:latin typeface="+mj-lt"/>
              </a:rPr>
              <a:t>1</a:t>
            </a:r>
            <a:endParaRPr kumimoji="1" lang="ja-JP" altLang="en-US" sz="2400" baseline="-25000">
              <a:latin typeface="+mj-lt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6B354DA-BC4E-E7E5-33A7-9CE74E0FC666}"/>
              </a:ext>
            </a:extLst>
          </p:cNvPr>
          <p:cNvSpPr txBox="1"/>
          <p:nvPr/>
        </p:nvSpPr>
        <p:spPr>
          <a:xfrm>
            <a:off x="5560426" y="5317843"/>
            <a:ext cx="60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W</a:t>
            </a:r>
            <a:r>
              <a:rPr kumimoji="1" lang="en-US" altLang="ja-JP" sz="2400" baseline="-25000">
                <a:latin typeface="+mj-lt"/>
              </a:rPr>
              <a:t>2</a:t>
            </a:r>
            <a:endParaRPr kumimoji="1" lang="ja-JP" altLang="en-US" sz="2400" baseline="-25000">
              <a:latin typeface="+mj-lt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9BF864EF-F90E-67E8-D60D-12486D1BCAAC}"/>
              </a:ext>
            </a:extLst>
          </p:cNvPr>
          <p:cNvCxnSpPr>
            <a:cxnSpLocks/>
          </p:cNvCxnSpPr>
          <p:nvPr/>
        </p:nvCxnSpPr>
        <p:spPr>
          <a:xfrm flipV="1">
            <a:off x="820659" y="2878693"/>
            <a:ext cx="0" cy="1900849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2D52064F-6DCE-30C0-B032-8E7561696BF0}"/>
              </a:ext>
            </a:extLst>
          </p:cNvPr>
          <p:cNvCxnSpPr>
            <a:cxnSpLocks/>
          </p:cNvCxnSpPr>
          <p:nvPr/>
        </p:nvCxnSpPr>
        <p:spPr>
          <a:xfrm flipV="1">
            <a:off x="5865136" y="4354402"/>
            <a:ext cx="0" cy="961986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テキスト プレースホルダー 1">
            <a:extLst>
              <a:ext uri="{FF2B5EF4-FFF2-40B4-BE49-F238E27FC236}">
                <a16:creationId xmlns:a16="http://schemas.microsoft.com/office/drawing/2014/main" id="{9C6B6F39-7440-75B3-1D24-6D4D9C496A39}"/>
              </a:ext>
            </a:extLst>
          </p:cNvPr>
          <p:cNvSpPr txBox="1">
            <a:spLocks/>
          </p:cNvSpPr>
          <p:nvPr/>
        </p:nvSpPr>
        <p:spPr>
          <a:xfrm>
            <a:off x="6820307" y="1262563"/>
            <a:ext cx="5342189" cy="5595437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/>
              <a:t>力のモーメント</a:t>
            </a:r>
            <a:endParaRPr lang="en-US" altLang="ja-JP"/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en-US" altLang="ja-JP">
                <a:latin typeface="+mj-lt"/>
              </a:rPr>
              <a:t>L</a:t>
            </a:r>
            <a:r>
              <a:rPr lang="en-US" altLang="ja-JP" baseline="-25000">
                <a:latin typeface="+mj-lt"/>
              </a:rPr>
              <a:t>1</a:t>
            </a:r>
            <a:r>
              <a:rPr lang="en-US" altLang="ja-JP">
                <a:latin typeface="+mj-lt"/>
              </a:rPr>
              <a:t> </a:t>
            </a:r>
            <a:r>
              <a:rPr lang="en-US" altLang="ja-JP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· </a:t>
            </a:r>
            <a:r>
              <a:rPr lang="en-US" altLang="ja-JP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r>
              <a:rPr lang="en-US" altLang="ja-JP" baseline="-2500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r>
              <a:rPr lang="en-US" altLang="ja-JP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L</a:t>
            </a:r>
            <a:r>
              <a:rPr lang="en-US" altLang="ja-JP" baseline="-2500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en-US" altLang="ja-JP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· W</a:t>
            </a:r>
            <a:r>
              <a:rPr lang="en-US" altLang="ja-JP" baseline="-2500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>
                <a:latin typeface="+mn-ea"/>
                <a:cs typeface="CMU Serif" panose="02000603000000000000" pitchFamily="2" charset="0"/>
              </a:rPr>
              <a:t>投石器に応用</a:t>
            </a:r>
            <a:endParaRPr lang="en-US" altLang="ja-JP">
              <a:latin typeface="+mn-ea"/>
              <a:cs typeface="CMU Serif" panose="02000603000000000000" pitchFamily="2" charset="0"/>
            </a:endParaRPr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/>
              <a:t>海岸からローマ海軍の船を攻撃</a:t>
            </a:r>
            <a:endParaRPr lang="en-US" altLang="ja-JP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EB02D7-C93C-90E7-A737-654BBE691800}"/>
              </a:ext>
            </a:extLst>
          </p:cNvPr>
          <p:cNvSpPr txBox="1">
            <a:spLocks/>
          </p:cNvSpPr>
          <p:nvPr/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>
                <a:hlinkClick r:id="rId2"/>
              </a:rPr>
              <a:t>https://www.museumpreneurs.org/aru.htm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8429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/>
      <p:bldP spid="17" grpId="1"/>
      <p:bldP spid="18" grpId="0"/>
      <p:bldP spid="18" grpId="1"/>
      <p:bldP spid="26" grpId="0"/>
      <p:bldP spid="27" grpId="0"/>
      <p:bldP spid="28" grpId="0"/>
      <p:bldP spid="29" grpId="0"/>
      <p:bldP spid="3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7774C10-8521-5275-7F2D-2AFC720695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970" y="5033964"/>
            <a:ext cx="9739096" cy="1454485"/>
          </a:xfr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/>
              <a:t>円の面積を </a:t>
            </a:r>
            <a:r>
              <a:rPr lang="en-US" altLang="ja-JP" dirty="0"/>
              <a:t>S </a:t>
            </a:r>
            <a:r>
              <a:rPr lang="ja-JP" altLang="en-US" dirty="0"/>
              <a:t>，直角三角形の面積を </a:t>
            </a:r>
            <a:r>
              <a:rPr lang="en-US" altLang="ja-JP" dirty="0"/>
              <a:t>K </a:t>
            </a:r>
            <a:r>
              <a:rPr lang="ja-JP" altLang="en-US" dirty="0"/>
              <a:t>と置く．</a:t>
            </a:r>
            <a:endParaRPr lang="en-US" altLang="ja-JP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/>
              <a:t>証明すべきは </a:t>
            </a:r>
            <a:r>
              <a:rPr lang="en-US" altLang="ja-JP" dirty="0"/>
              <a:t>S = K </a:t>
            </a:r>
            <a:r>
              <a:rPr lang="ja-JP" altLang="en-US" dirty="0"/>
              <a:t>であるがこれを</a:t>
            </a:r>
            <a:r>
              <a:rPr lang="ja-JP" altLang="en-US" dirty="0">
                <a:solidFill>
                  <a:schemeClr val="accent6"/>
                </a:solidFill>
              </a:rPr>
              <a:t>背理法</a:t>
            </a:r>
            <a:r>
              <a:rPr lang="ja-JP" altLang="en-US" dirty="0"/>
              <a:t>で示す．</a:t>
            </a:r>
            <a:endParaRPr lang="en-US" altLang="ja-JP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/>
              <a:t>つまり </a:t>
            </a:r>
            <a:r>
              <a:rPr lang="en-US" altLang="ja-JP" dirty="0"/>
              <a:t>S </a:t>
            </a:r>
            <a:r>
              <a:rPr lang="ja-JP" altLang="en-US" dirty="0"/>
              <a:t>≠ </a:t>
            </a:r>
            <a:r>
              <a:rPr lang="en-US" altLang="ja-JP" dirty="0"/>
              <a:t>K </a:t>
            </a:r>
            <a:r>
              <a:rPr lang="ja-JP" altLang="en-US" dirty="0"/>
              <a:t>を</a:t>
            </a:r>
            <a:r>
              <a:rPr lang="ja-JP" altLang="en-US" dirty="0">
                <a:solidFill>
                  <a:schemeClr val="accent6"/>
                </a:solidFill>
              </a:rPr>
              <a:t>仮定して矛盾を導く</a:t>
            </a:r>
            <a:r>
              <a:rPr lang="ja-JP" altLang="en-US" dirty="0"/>
              <a:t>．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D1563B-9BAA-3A2C-8F07-E384BED57B5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1933" y="5035748"/>
            <a:ext cx="1149037" cy="1452702"/>
          </a:xfrm>
        </p:spPr>
        <p:txBody>
          <a:bodyPr/>
          <a:lstStyle/>
          <a:p>
            <a:pPr algn="ctr"/>
            <a:r>
              <a:rPr kumimoji="1" lang="ja-JP" altLang="en-US" dirty="0"/>
              <a:t>証明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9521135-AC6F-428F-31A1-68194C2B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円の面積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464E3E-0345-2781-6E3C-D62CA377419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https://www.kaijo.ed.jp/wp-content/uploads/2016/02/2010summer_2Ozawa.pdf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438B2B-928D-9093-26FD-0640AE4C519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6AA979F-2EBD-A4E5-D5A1-A4CC1D7E43AA}"/>
              </a:ext>
            </a:extLst>
          </p:cNvPr>
          <p:cNvSpPr/>
          <p:nvPr/>
        </p:nvSpPr>
        <p:spPr>
          <a:xfrm>
            <a:off x="540728" y="2025528"/>
            <a:ext cx="1951539" cy="195153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2B3BFE-219C-B949-8806-A7E731345BC0}"/>
              </a:ext>
            </a:extLst>
          </p:cNvPr>
          <p:cNvSpPr txBox="1"/>
          <p:nvPr/>
        </p:nvSpPr>
        <p:spPr>
          <a:xfrm>
            <a:off x="2492267" y="2616576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dirty="0">
                <a:latin typeface="+mj-lt"/>
              </a:rPr>
              <a:t>=</a:t>
            </a:r>
            <a:endParaRPr kumimoji="1" lang="ja-JP" altLang="en-US" sz="4400" dirty="0">
              <a:latin typeface="+mj-lt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B39C19-CACB-7E9D-90B0-314995627A69}"/>
              </a:ext>
            </a:extLst>
          </p:cNvPr>
          <p:cNvSpPr txBox="1"/>
          <p:nvPr/>
        </p:nvSpPr>
        <p:spPr>
          <a:xfrm>
            <a:off x="6562152" y="4047162"/>
            <a:ext cx="1062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>
                <a:latin typeface="+mj-lt"/>
                <a:sym typeface="BKM-cmmi10" panose="020B0501010101010101" pitchFamily="34" charset="2"/>
              </a:rPr>
              <a:t>2π</a:t>
            </a:r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r</a:t>
            </a:r>
            <a:endParaRPr kumimoji="1" lang="ja-JP" altLang="en-US" sz="4000" i="1" baseline="30000">
              <a:latin typeface="+mj-lt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F821C6E-33F9-8B97-9D6B-68A843E2714E}"/>
              </a:ext>
            </a:extLst>
          </p:cNvPr>
          <p:cNvGrpSpPr/>
          <p:nvPr/>
        </p:nvGrpSpPr>
        <p:grpSpPr>
          <a:xfrm>
            <a:off x="1473034" y="2341601"/>
            <a:ext cx="1062696" cy="769441"/>
            <a:chOff x="1473034" y="2341601"/>
            <a:chExt cx="1062696" cy="769441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2DBF0C5-2B54-D7F5-4BF1-5952FB8EB169}"/>
                </a:ext>
              </a:extLst>
            </p:cNvPr>
            <p:cNvSpPr txBox="1"/>
            <p:nvPr/>
          </p:nvSpPr>
          <p:spPr>
            <a:xfrm>
              <a:off x="1473034" y="2341601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 i="1">
                  <a:solidFill>
                    <a:schemeClr val="accent6"/>
                  </a:solidFill>
                  <a:latin typeface="+mj-lt"/>
                  <a:sym typeface="BKM-cmmi10" panose="020B0501010101010101" pitchFamily="34" charset="2"/>
                </a:rPr>
                <a:t>r</a:t>
              </a:r>
              <a:endParaRPr kumimoji="1" lang="ja-JP" altLang="en-US" sz="4400" i="1" baseline="30000">
                <a:solidFill>
                  <a:schemeClr val="accent6"/>
                </a:solidFill>
                <a:latin typeface="+mj-lt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45844971-F4D1-FF74-97F7-9D49AE6EAAFF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H="1">
              <a:off x="1516497" y="3001298"/>
              <a:ext cx="975770" cy="0"/>
            </a:xfrm>
            <a:prstGeom prst="line">
              <a:avLst/>
            </a:prstGeom>
            <a:ln>
              <a:solidFill>
                <a:schemeClr val="accent6"/>
              </a:solidFill>
              <a:headEnd type="triangl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直角三角形 14">
            <a:extLst>
              <a:ext uri="{FF2B5EF4-FFF2-40B4-BE49-F238E27FC236}">
                <a16:creationId xmlns:a16="http://schemas.microsoft.com/office/drawing/2014/main" id="{CC69EB29-7212-D8DD-3CDE-6AE70E53DADD}"/>
              </a:ext>
            </a:extLst>
          </p:cNvPr>
          <p:cNvSpPr/>
          <p:nvPr/>
        </p:nvSpPr>
        <p:spPr>
          <a:xfrm>
            <a:off x="3990467" y="2025528"/>
            <a:ext cx="6206067" cy="1953320"/>
          </a:xfrm>
          <a:prstGeom prst="rtTriangl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7E265D9-1EA6-BBAD-5ACF-EDF144C9FE6B}"/>
              </a:ext>
            </a:extLst>
          </p:cNvPr>
          <p:cNvSpPr txBox="1"/>
          <p:nvPr/>
        </p:nvSpPr>
        <p:spPr>
          <a:xfrm>
            <a:off x="9665186" y="2616576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j-lt"/>
              </a:rPr>
              <a:t>=</a:t>
            </a:r>
            <a:endParaRPr kumimoji="1" lang="ja-JP" altLang="en-US" sz="4400">
              <a:latin typeface="+mj-lt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0BDBC37-1D88-8E1B-3EE6-FCB7B89AEC43}"/>
              </a:ext>
            </a:extLst>
          </p:cNvPr>
          <p:cNvSpPr txBox="1"/>
          <p:nvPr/>
        </p:nvSpPr>
        <p:spPr>
          <a:xfrm>
            <a:off x="3140656" y="2616576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i="1">
                <a:latin typeface="+mj-lt"/>
                <a:sym typeface="BKM-cmmi10" panose="020B0501010101010101" pitchFamily="34" charset="2"/>
              </a:rPr>
              <a:t>r</a:t>
            </a:r>
            <a:endParaRPr kumimoji="1" lang="ja-JP" altLang="en-US" sz="4400" i="1" baseline="30000">
              <a:latin typeface="+mj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DC0FDB0-4CEE-75F3-05C0-1E7EF974E105}"/>
              </a:ext>
            </a:extLst>
          </p:cNvPr>
          <p:cNvSpPr txBox="1"/>
          <p:nvPr/>
        </p:nvSpPr>
        <p:spPr>
          <a:xfrm>
            <a:off x="10588575" y="2616575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j-lt"/>
                <a:sym typeface="BKM-cmmi10" panose="020B0501010101010101" pitchFamily="34" charset="2"/>
              </a:rPr>
              <a:t>π</a:t>
            </a:r>
            <a:r>
              <a:rPr kumimoji="1" lang="en-US" altLang="ja-JP" sz="4400" i="1">
                <a:latin typeface="+mj-lt"/>
                <a:sym typeface="BKM-cmmi10" panose="020B0501010101010101" pitchFamily="34" charset="2"/>
              </a:rPr>
              <a:t>r</a:t>
            </a:r>
            <a:r>
              <a:rPr kumimoji="1" lang="en-US" altLang="ja-JP" sz="4400" baseline="30000">
                <a:latin typeface="+mj-lt"/>
                <a:sym typeface="BKM-cmmi10" panose="020B0501010101010101" pitchFamily="34" charset="2"/>
              </a:rPr>
              <a:t>2</a:t>
            </a:r>
            <a:endParaRPr kumimoji="1" lang="ja-JP" altLang="en-US" sz="4400" baseline="30000">
              <a:latin typeface="+mj-lt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17D3340-2736-6C79-112C-B6D92329D287}"/>
              </a:ext>
            </a:extLst>
          </p:cNvPr>
          <p:cNvSpPr txBox="1"/>
          <p:nvPr/>
        </p:nvSpPr>
        <p:spPr>
          <a:xfrm>
            <a:off x="2104688" y="3733247"/>
            <a:ext cx="1062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>
                <a:latin typeface="+mj-lt"/>
                <a:sym typeface="BKM-cmmi10" panose="020B0501010101010101" pitchFamily="34" charset="2"/>
              </a:rPr>
              <a:t>2π</a:t>
            </a:r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r</a:t>
            </a:r>
            <a:endParaRPr kumimoji="1" lang="ja-JP" altLang="en-US" sz="4000" i="1" baseline="30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80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 animBg="1"/>
      <p:bldP spid="10" grpId="0"/>
      <p:bldP spid="11" grpId="0"/>
      <p:bldP spid="15" grpId="0" animBg="1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ACD7F85B-57A0-F34D-7BCA-26C43C13A75E}"/>
              </a:ext>
            </a:extLst>
          </p:cNvPr>
          <p:cNvSpPr/>
          <p:nvPr/>
        </p:nvSpPr>
        <p:spPr>
          <a:xfrm>
            <a:off x="1431799" y="2745496"/>
            <a:ext cx="3431648" cy="3333941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33941">
                <a:moveTo>
                  <a:pt x="1707129" y="3333941"/>
                </a:moveTo>
                <a:lnTo>
                  <a:pt x="0" y="1158935"/>
                </a:lnTo>
                <a:lnTo>
                  <a:pt x="3431648" y="0"/>
                </a:lnTo>
                <a:lnTo>
                  <a:pt x="1707129" y="3333941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二等辺三角形 18">
            <a:extLst>
              <a:ext uri="{FF2B5EF4-FFF2-40B4-BE49-F238E27FC236}">
                <a16:creationId xmlns:a16="http://schemas.microsoft.com/office/drawing/2014/main" id="{21F38B35-BDA2-4E3C-7DC8-FD84459F64BA}"/>
              </a:ext>
            </a:extLst>
          </p:cNvPr>
          <p:cNvSpPr/>
          <p:nvPr/>
        </p:nvSpPr>
        <p:spPr>
          <a:xfrm>
            <a:off x="1431799" y="3911665"/>
            <a:ext cx="1697571" cy="2174957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571" h="2165480">
                <a:moveTo>
                  <a:pt x="1697571" y="2165480"/>
                </a:moveTo>
                <a:lnTo>
                  <a:pt x="0" y="0"/>
                </a:lnTo>
                <a:lnTo>
                  <a:pt x="848769" y="1778247"/>
                </a:lnTo>
                <a:lnTo>
                  <a:pt x="1697571" y="2165480"/>
                </a:ln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18">
            <a:extLst>
              <a:ext uri="{FF2B5EF4-FFF2-40B4-BE49-F238E27FC236}">
                <a16:creationId xmlns:a16="http://schemas.microsoft.com/office/drawing/2014/main" id="{AAE6DA8A-38E1-925D-BE9B-DA88951BE154}"/>
              </a:ext>
            </a:extLst>
          </p:cNvPr>
          <p:cNvSpPr/>
          <p:nvPr/>
        </p:nvSpPr>
        <p:spPr>
          <a:xfrm>
            <a:off x="3121651" y="2738777"/>
            <a:ext cx="1747268" cy="3348798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3282947 w 3282947"/>
              <a:gd name="connsiteY0" fmla="*/ 0 h 3089360"/>
              <a:gd name="connsiteX1" fmla="*/ 0 w 3282947"/>
              <a:gd name="connsiteY1" fmla="*/ 1311113 h 3089360"/>
              <a:gd name="connsiteX2" fmla="*/ 848769 w 3282947"/>
              <a:gd name="connsiteY2" fmla="*/ 3089360 h 3089360"/>
              <a:gd name="connsiteX3" fmla="*/ 3282947 w 3282947"/>
              <a:gd name="connsiteY3" fmla="*/ 0 h 3089360"/>
              <a:gd name="connsiteX0" fmla="*/ 2434178 w 2434178"/>
              <a:gd name="connsiteY0" fmla="*/ 0 h 3305317"/>
              <a:gd name="connsiteX1" fmla="*/ 724124 w 2434178"/>
              <a:gd name="connsiteY1" fmla="*/ 3305317 h 3305317"/>
              <a:gd name="connsiteX2" fmla="*/ 0 w 2434178"/>
              <a:gd name="connsiteY2" fmla="*/ 3089360 h 3305317"/>
              <a:gd name="connsiteX3" fmla="*/ 2434178 w 2434178"/>
              <a:gd name="connsiteY3" fmla="*/ 0 h 3305317"/>
              <a:gd name="connsiteX0" fmla="*/ 1710054 w 1710054"/>
              <a:gd name="connsiteY0" fmla="*/ 0 h 3305317"/>
              <a:gd name="connsiteX1" fmla="*/ 0 w 1710054"/>
              <a:gd name="connsiteY1" fmla="*/ 3305317 h 3305317"/>
              <a:gd name="connsiteX2" fmla="*/ 848769 w 1710054"/>
              <a:gd name="connsiteY2" fmla="*/ 2359089 h 3305317"/>
              <a:gd name="connsiteX3" fmla="*/ 1710054 w 1710054"/>
              <a:gd name="connsiteY3" fmla="*/ 0 h 3305317"/>
              <a:gd name="connsiteX0" fmla="*/ 1710054 w 1710054"/>
              <a:gd name="connsiteY0" fmla="*/ 0 h 3305317"/>
              <a:gd name="connsiteX1" fmla="*/ 0 w 1710054"/>
              <a:gd name="connsiteY1" fmla="*/ 3305317 h 3305317"/>
              <a:gd name="connsiteX2" fmla="*/ 826210 w 1710054"/>
              <a:gd name="connsiteY2" fmla="*/ 2356081 h 3305317"/>
              <a:gd name="connsiteX3" fmla="*/ 1710054 w 1710054"/>
              <a:gd name="connsiteY3" fmla="*/ 0 h 3305317"/>
              <a:gd name="connsiteX0" fmla="*/ 1747268 w 1747268"/>
              <a:gd name="connsiteY0" fmla="*/ 0 h 3333670"/>
              <a:gd name="connsiteX1" fmla="*/ 0 w 1747268"/>
              <a:gd name="connsiteY1" fmla="*/ 3333670 h 3333670"/>
              <a:gd name="connsiteX2" fmla="*/ 863424 w 1747268"/>
              <a:gd name="connsiteY2" fmla="*/ 2356081 h 3333670"/>
              <a:gd name="connsiteX3" fmla="*/ 1747268 w 1747268"/>
              <a:gd name="connsiteY3" fmla="*/ 0 h 3333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7268" h="3333670">
                <a:moveTo>
                  <a:pt x="1747268" y="0"/>
                </a:moveTo>
                <a:lnTo>
                  <a:pt x="0" y="3333670"/>
                </a:lnTo>
                <a:lnTo>
                  <a:pt x="863424" y="2356081"/>
                </a:lnTo>
                <a:lnTo>
                  <a:pt x="1747268" y="0"/>
                </a:ln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二等辺三角形 18">
            <a:extLst>
              <a:ext uri="{FF2B5EF4-FFF2-40B4-BE49-F238E27FC236}">
                <a16:creationId xmlns:a16="http://schemas.microsoft.com/office/drawing/2014/main" id="{DD09D146-6BFD-0268-4D0E-BA7536A0C4D0}"/>
              </a:ext>
            </a:extLst>
          </p:cNvPr>
          <p:cNvSpPr/>
          <p:nvPr/>
        </p:nvSpPr>
        <p:spPr>
          <a:xfrm>
            <a:off x="1433690" y="3919148"/>
            <a:ext cx="841344" cy="1771385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1344" h="1763666">
                <a:moveTo>
                  <a:pt x="841344" y="1763666"/>
                </a:moveTo>
                <a:lnTo>
                  <a:pt x="0" y="0"/>
                </a:lnTo>
                <a:lnTo>
                  <a:pt x="419759" y="1044137"/>
                </a:lnTo>
                <a:lnTo>
                  <a:pt x="841344" y="1763666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二等辺三角形 18">
            <a:extLst>
              <a:ext uri="{FF2B5EF4-FFF2-40B4-BE49-F238E27FC236}">
                <a16:creationId xmlns:a16="http://schemas.microsoft.com/office/drawing/2014/main" id="{40610564-237F-3149-6569-E23D9EFC2F79}"/>
              </a:ext>
            </a:extLst>
          </p:cNvPr>
          <p:cNvSpPr/>
          <p:nvPr/>
        </p:nvSpPr>
        <p:spPr>
          <a:xfrm flipH="1">
            <a:off x="3992088" y="2766729"/>
            <a:ext cx="870670" cy="2347217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  <a:gd name="connsiteX0" fmla="*/ 694721 w 694721"/>
              <a:gd name="connsiteY0" fmla="*/ 2052982 h 2052982"/>
              <a:gd name="connsiteX1" fmla="*/ 0 w 694721"/>
              <a:gd name="connsiteY1" fmla="*/ 0 h 2052982"/>
              <a:gd name="connsiteX2" fmla="*/ 273136 w 694721"/>
              <a:gd name="connsiteY2" fmla="*/ 1333453 h 2052982"/>
              <a:gd name="connsiteX3" fmla="*/ 694721 w 694721"/>
              <a:gd name="connsiteY3" fmla="*/ 2052982 h 2052982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273136 w 870670"/>
              <a:gd name="connsiteY2" fmla="*/ 1333453 h 2336989"/>
              <a:gd name="connsiteX3" fmla="*/ 870670 w 870670"/>
              <a:gd name="connsiteY3" fmla="*/ 2336989 h 2336989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390435 w 870670"/>
              <a:gd name="connsiteY2" fmla="*/ 1301602 h 2336989"/>
              <a:gd name="connsiteX3" fmla="*/ 870670 w 870670"/>
              <a:gd name="connsiteY3" fmla="*/ 2336989 h 2336989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452347 w 870670"/>
              <a:gd name="connsiteY2" fmla="*/ 1306344 h 2336989"/>
              <a:gd name="connsiteX3" fmla="*/ 870670 w 870670"/>
              <a:gd name="connsiteY3" fmla="*/ 2336989 h 2336989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422581 w 870670"/>
              <a:gd name="connsiteY2" fmla="*/ 1317013 h 2336989"/>
              <a:gd name="connsiteX3" fmla="*/ 870670 w 870670"/>
              <a:gd name="connsiteY3" fmla="*/ 2336989 h 233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0670" h="2336989">
                <a:moveTo>
                  <a:pt x="870670" y="2336989"/>
                </a:moveTo>
                <a:lnTo>
                  <a:pt x="0" y="0"/>
                </a:lnTo>
                <a:lnTo>
                  <a:pt x="422581" y="1317013"/>
                </a:lnTo>
                <a:lnTo>
                  <a:pt x="870670" y="233698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二等辺三角形 18">
            <a:extLst>
              <a:ext uri="{FF2B5EF4-FFF2-40B4-BE49-F238E27FC236}">
                <a16:creationId xmlns:a16="http://schemas.microsoft.com/office/drawing/2014/main" id="{2AD3D01F-2122-961C-B95D-43A4E732519B}"/>
              </a:ext>
            </a:extLst>
          </p:cNvPr>
          <p:cNvSpPr/>
          <p:nvPr/>
        </p:nvSpPr>
        <p:spPr>
          <a:xfrm>
            <a:off x="2280360" y="5696987"/>
            <a:ext cx="836648" cy="38255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698329 w 1119914"/>
              <a:gd name="connsiteY2" fmla="*/ 351532 h 1071061"/>
              <a:gd name="connsiteX3" fmla="*/ 1119914 w 1119914"/>
              <a:gd name="connsiteY3" fmla="*/ 1071061 h 1071061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811645 w 1119914"/>
              <a:gd name="connsiteY2" fmla="*/ 384438 h 1071061"/>
              <a:gd name="connsiteX3" fmla="*/ 1119914 w 1119914"/>
              <a:gd name="connsiteY3" fmla="*/ 1071061 h 1071061"/>
              <a:gd name="connsiteX0" fmla="*/ 400670 w 811645"/>
              <a:gd name="connsiteY0" fmla="*/ 307942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00670 w 811645"/>
              <a:gd name="connsiteY3" fmla="*/ 307942 h 384438"/>
              <a:gd name="connsiteX0" fmla="*/ 410195 w 811645"/>
              <a:gd name="connsiteY0" fmla="*/ 355359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10195 w 811645"/>
              <a:gd name="connsiteY3" fmla="*/ 355359 h 384438"/>
              <a:gd name="connsiteX0" fmla="*/ 423292 w 824742"/>
              <a:gd name="connsiteY0" fmla="*/ 348247 h 377326"/>
              <a:gd name="connsiteX1" fmla="*/ 0 w 824742"/>
              <a:gd name="connsiteY1" fmla="*/ 0 h 377326"/>
              <a:gd name="connsiteX2" fmla="*/ 824742 w 824742"/>
              <a:gd name="connsiteY2" fmla="*/ 377326 h 377326"/>
              <a:gd name="connsiteX3" fmla="*/ 423292 w 824742"/>
              <a:gd name="connsiteY3" fmla="*/ 348247 h 377326"/>
              <a:gd name="connsiteX0" fmla="*/ 423292 w 836648"/>
              <a:gd name="connsiteY0" fmla="*/ 348247 h 380882"/>
              <a:gd name="connsiteX1" fmla="*/ 0 w 836648"/>
              <a:gd name="connsiteY1" fmla="*/ 0 h 380882"/>
              <a:gd name="connsiteX2" fmla="*/ 836648 w 836648"/>
              <a:gd name="connsiteY2" fmla="*/ 380882 h 380882"/>
              <a:gd name="connsiteX3" fmla="*/ 423292 w 836648"/>
              <a:gd name="connsiteY3" fmla="*/ 348247 h 380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648" h="380882">
                <a:moveTo>
                  <a:pt x="423292" y="348247"/>
                </a:moveTo>
                <a:lnTo>
                  <a:pt x="0" y="0"/>
                </a:lnTo>
                <a:lnTo>
                  <a:pt x="836648" y="380882"/>
                </a:lnTo>
                <a:lnTo>
                  <a:pt x="423292" y="348247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二等辺三角形 18">
            <a:extLst>
              <a:ext uri="{FF2B5EF4-FFF2-40B4-BE49-F238E27FC236}">
                <a16:creationId xmlns:a16="http://schemas.microsoft.com/office/drawing/2014/main" id="{EDA620F7-C27D-6662-CC73-1866BB3199BD}"/>
              </a:ext>
            </a:extLst>
          </p:cNvPr>
          <p:cNvSpPr/>
          <p:nvPr/>
        </p:nvSpPr>
        <p:spPr>
          <a:xfrm flipH="1">
            <a:off x="3126105" y="5128509"/>
            <a:ext cx="864524" cy="956431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698329 w 1119914"/>
              <a:gd name="connsiteY2" fmla="*/ 351532 h 1071061"/>
              <a:gd name="connsiteX3" fmla="*/ 1119914 w 1119914"/>
              <a:gd name="connsiteY3" fmla="*/ 1071061 h 1071061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811645 w 1119914"/>
              <a:gd name="connsiteY2" fmla="*/ 384438 h 1071061"/>
              <a:gd name="connsiteX3" fmla="*/ 1119914 w 1119914"/>
              <a:gd name="connsiteY3" fmla="*/ 1071061 h 1071061"/>
              <a:gd name="connsiteX0" fmla="*/ 400670 w 811645"/>
              <a:gd name="connsiteY0" fmla="*/ 307942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00670 w 811645"/>
              <a:gd name="connsiteY3" fmla="*/ 307942 h 384438"/>
              <a:gd name="connsiteX0" fmla="*/ 410195 w 811645"/>
              <a:gd name="connsiteY0" fmla="*/ 355359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10195 w 811645"/>
              <a:gd name="connsiteY3" fmla="*/ 355359 h 384438"/>
              <a:gd name="connsiteX0" fmla="*/ 423292 w 824742"/>
              <a:gd name="connsiteY0" fmla="*/ 348247 h 377326"/>
              <a:gd name="connsiteX1" fmla="*/ 0 w 824742"/>
              <a:gd name="connsiteY1" fmla="*/ 0 h 377326"/>
              <a:gd name="connsiteX2" fmla="*/ 824742 w 824742"/>
              <a:gd name="connsiteY2" fmla="*/ 377326 h 377326"/>
              <a:gd name="connsiteX3" fmla="*/ 423292 w 824742"/>
              <a:gd name="connsiteY3" fmla="*/ 348247 h 377326"/>
              <a:gd name="connsiteX0" fmla="*/ 423292 w 836648"/>
              <a:gd name="connsiteY0" fmla="*/ 348247 h 380882"/>
              <a:gd name="connsiteX1" fmla="*/ 0 w 836648"/>
              <a:gd name="connsiteY1" fmla="*/ 0 h 380882"/>
              <a:gd name="connsiteX2" fmla="*/ 836648 w 836648"/>
              <a:gd name="connsiteY2" fmla="*/ 380882 h 380882"/>
              <a:gd name="connsiteX3" fmla="*/ 423292 w 836648"/>
              <a:gd name="connsiteY3" fmla="*/ 348247 h 380882"/>
              <a:gd name="connsiteX0" fmla="*/ 532988 w 946344"/>
              <a:gd name="connsiteY0" fmla="*/ 667129 h 699764"/>
              <a:gd name="connsiteX1" fmla="*/ 0 w 946344"/>
              <a:gd name="connsiteY1" fmla="*/ 0 h 699764"/>
              <a:gd name="connsiteX2" fmla="*/ 946344 w 946344"/>
              <a:gd name="connsiteY2" fmla="*/ 699764 h 699764"/>
              <a:gd name="connsiteX3" fmla="*/ 532988 w 946344"/>
              <a:gd name="connsiteY3" fmla="*/ 667129 h 699764"/>
              <a:gd name="connsiteX0" fmla="*/ 532988 w 1410594"/>
              <a:gd name="connsiteY0" fmla="*/ 667129 h 938036"/>
              <a:gd name="connsiteX1" fmla="*/ 0 w 1410594"/>
              <a:gd name="connsiteY1" fmla="*/ 0 h 938036"/>
              <a:gd name="connsiteX2" fmla="*/ 1410594 w 1410594"/>
              <a:gd name="connsiteY2" fmla="*/ 938036 h 938036"/>
              <a:gd name="connsiteX3" fmla="*/ 532988 w 1410594"/>
              <a:gd name="connsiteY3" fmla="*/ 667129 h 938036"/>
              <a:gd name="connsiteX0" fmla="*/ 532988 w 1422348"/>
              <a:gd name="connsiteY0" fmla="*/ 667129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532988 w 1422348"/>
              <a:gd name="connsiteY3" fmla="*/ 667129 h 952262"/>
              <a:gd name="connsiteX0" fmla="*/ 683822 w 1422348"/>
              <a:gd name="connsiteY0" fmla="*/ 587706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683822 w 1422348"/>
              <a:gd name="connsiteY3" fmla="*/ 587706 h 952262"/>
              <a:gd name="connsiteX0" fmla="*/ 709287 w 1422348"/>
              <a:gd name="connsiteY0" fmla="*/ 616156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709287 w 1422348"/>
              <a:gd name="connsiteY3" fmla="*/ 616156 h 952262"/>
              <a:gd name="connsiteX0" fmla="*/ 709287 w 1422348"/>
              <a:gd name="connsiteY0" fmla="*/ 625640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709287 w 1422348"/>
              <a:gd name="connsiteY3" fmla="*/ 625640 h 952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2348" h="952262">
                <a:moveTo>
                  <a:pt x="709287" y="625640"/>
                </a:moveTo>
                <a:lnTo>
                  <a:pt x="0" y="0"/>
                </a:lnTo>
                <a:lnTo>
                  <a:pt x="1422348" y="952262"/>
                </a:lnTo>
                <a:lnTo>
                  <a:pt x="709287" y="625640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EE1CCD3-A830-DA7C-7FDC-AC66E39E96F9}"/>
              </a:ext>
            </a:extLst>
          </p:cNvPr>
          <p:cNvCxnSpPr/>
          <p:nvPr/>
        </p:nvCxnSpPr>
        <p:spPr>
          <a:xfrm flipH="1">
            <a:off x="607626" y="2518913"/>
            <a:ext cx="4940061" cy="16735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03CA5635-FBE6-0E8D-E970-590B80F81667}"/>
              </a:ext>
            </a:extLst>
          </p:cNvPr>
          <p:cNvSpPr/>
          <p:nvPr/>
        </p:nvSpPr>
        <p:spPr>
          <a:xfrm>
            <a:off x="855048" y="2054085"/>
            <a:ext cx="4192307" cy="4047666"/>
          </a:xfrm>
          <a:custGeom>
            <a:avLst/>
            <a:gdLst>
              <a:gd name="connsiteX0" fmla="*/ 0 w 4966138"/>
              <a:gd name="connsiteY0" fmla="*/ 0 h 3394847"/>
              <a:gd name="connsiteX1" fmla="*/ 2511973 w 4966138"/>
              <a:gd name="connsiteY1" fmla="*/ 3394842 h 3394847"/>
              <a:gd name="connsiteX2" fmla="*/ 4966138 w 4966138"/>
              <a:gd name="connsiteY2" fmla="*/ 21021 h 3394847"/>
              <a:gd name="connsiteX0" fmla="*/ 0 w 4885928"/>
              <a:gd name="connsiteY0" fmla="*/ 0 h 3410889"/>
              <a:gd name="connsiteX1" fmla="*/ 2431763 w 4885928"/>
              <a:gd name="connsiteY1" fmla="*/ 3410884 h 3410889"/>
              <a:gd name="connsiteX2" fmla="*/ 4885928 w 4885928"/>
              <a:gd name="connsiteY2" fmla="*/ 37063 h 3410889"/>
              <a:gd name="connsiteX0" fmla="*/ 0 w 4922023"/>
              <a:gd name="connsiteY0" fmla="*/ 0 h 3410889"/>
              <a:gd name="connsiteX1" fmla="*/ 2467858 w 4922023"/>
              <a:gd name="connsiteY1" fmla="*/ 3410884 h 3410889"/>
              <a:gd name="connsiteX2" fmla="*/ 4922023 w 4922023"/>
              <a:gd name="connsiteY2" fmla="*/ 37063 h 3410889"/>
              <a:gd name="connsiteX0" fmla="*/ 0 w 4922023"/>
              <a:gd name="connsiteY0" fmla="*/ 0 h 3402868"/>
              <a:gd name="connsiteX1" fmla="*/ 2511974 w 4922023"/>
              <a:gd name="connsiteY1" fmla="*/ 3402863 h 3402868"/>
              <a:gd name="connsiteX2" fmla="*/ 4922023 w 4922023"/>
              <a:gd name="connsiteY2" fmla="*/ 37063 h 3402868"/>
              <a:gd name="connsiteX0" fmla="*/ 0 w 4922023"/>
              <a:gd name="connsiteY0" fmla="*/ 0 h 3386825"/>
              <a:gd name="connsiteX1" fmla="*/ 2507963 w 4922023"/>
              <a:gd name="connsiteY1" fmla="*/ 3386820 h 3386825"/>
              <a:gd name="connsiteX2" fmla="*/ 4922023 w 4922023"/>
              <a:gd name="connsiteY2" fmla="*/ 37063 h 3386825"/>
              <a:gd name="connsiteX0" fmla="*/ 0 w 4986191"/>
              <a:gd name="connsiteY0" fmla="*/ 19084 h 3405909"/>
              <a:gd name="connsiteX1" fmla="*/ 2507963 w 4986191"/>
              <a:gd name="connsiteY1" fmla="*/ 3405904 h 3405909"/>
              <a:gd name="connsiteX2" fmla="*/ 4986191 w 4986191"/>
              <a:gd name="connsiteY2" fmla="*/ 0 h 3405909"/>
              <a:gd name="connsiteX0" fmla="*/ 0 w 4986191"/>
              <a:gd name="connsiteY0" fmla="*/ 19084 h 3405909"/>
              <a:gd name="connsiteX1" fmla="*/ 2507963 w 4986191"/>
              <a:gd name="connsiteY1" fmla="*/ 3405904 h 3405909"/>
              <a:gd name="connsiteX2" fmla="*/ 4986191 w 4986191"/>
              <a:gd name="connsiteY2" fmla="*/ 0 h 3405909"/>
              <a:gd name="connsiteX0" fmla="*/ 0 w 4969361"/>
              <a:gd name="connsiteY0" fmla="*/ 0 h 3386825"/>
              <a:gd name="connsiteX1" fmla="*/ 2507963 w 4969361"/>
              <a:gd name="connsiteY1" fmla="*/ 3386820 h 3386825"/>
              <a:gd name="connsiteX2" fmla="*/ 4969361 w 4969361"/>
              <a:gd name="connsiteY2" fmla="*/ 6160 h 3386825"/>
              <a:gd name="connsiteX0" fmla="*/ 0 w 4969361"/>
              <a:gd name="connsiteY0" fmla="*/ 0 h 3386826"/>
              <a:gd name="connsiteX1" fmla="*/ 2507963 w 4969361"/>
              <a:gd name="connsiteY1" fmla="*/ 3386820 h 3386826"/>
              <a:gd name="connsiteX2" fmla="*/ 4969361 w 4969361"/>
              <a:gd name="connsiteY2" fmla="*/ 6160 h 338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69361" h="3386826">
                <a:moveTo>
                  <a:pt x="0" y="0"/>
                </a:moveTo>
                <a:cubicBezTo>
                  <a:pt x="973551" y="2473183"/>
                  <a:pt x="1680273" y="3383317"/>
                  <a:pt x="2507963" y="3386820"/>
                </a:cubicBezTo>
                <a:cubicBezTo>
                  <a:pt x="3335653" y="3390324"/>
                  <a:pt x="4245880" y="2059460"/>
                  <a:pt x="4969361" y="616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9A52C27-BC36-E7F7-2A72-2882CCD2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曲線に囲まれた面積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21FC03-233F-D58B-9598-BA1F690CF5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https://www.nhk-ondemand.jp/goods/G2024143177SA000/index.html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30FBD4-E4B6-F8B3-2FAA-E375F85F69D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6CDB0AB-36EB-FE66-C1BD-CD7E1D9D8FC9}"/>
              </a:ext>
            </a:extLst>
          </p:cNvPr>
          <p:cNvCxnSpPr>
            <a:stCxn id="24" idx="4"/>
            <a:endCxn id="9" idx="0"/>
          </p:cNvCxnSpPr>
          <p:nvPr/>
        </p:nvCxnSpPr>
        <p:spPr>
          <a:xfrm flipH="1">
            <a:off x="3126105" y="3404343"/>
            <a:ext cx="15820" cy="259738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FCA0FDD-6DE3-4ECC-C46C-3ECA76BAD0A0}"/>
              </a:ext>
            </a:extLst>
          </p:cNvPr>
          <p:cNvCxnSpPr>
            <a:cxnSpLocks/>
            <a:stCxn id="38" idx="4"/>
            <a:endCxn id="18" idx="0"/>
          </p:cNvCxnSpPr>
          <p:nvPr/>
        </p:nvCxnSpPr>
        <p:spPr>
          <a:xfrm>
            <a:off x="2275811" y="5067198"/>
            <a:ext cx="5501" cy="55088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2517A5C-ACEC-553D-23D5-A4A5F6F00852}"/>
              </a:ext>
            </a:extLst>
          </p:cNvPr>
          <p:cNvCxnSpPr>
            <a:cxnSpLocks/>
            <a:stCxn id="11" idx="4"/>
            <a:endCxn id="26" idx="0"/>
          </p:cNvCxnSpPr>
          <p:nvPr/>
        </p:nvCxnSpPr>
        <p:spPr>
          <a:xfrm>
            <a:off x="3983112" y="4505551"/>
            <a:ext cx="0" cy="50552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E8DF26BA-FBF7-857E-22AB-833AA4DE99AF}"/>
              </a:ext>
            </a:extLst>
          </p:cNvPr>
          <p:cNvCxnSpPr>
            <a:cxnSpLocks/>
            <a:stCxn id="48" idx="4"/>
            <a:endCxn id="35" idx="0"/>
          </p:cNvCxnSpPr>
          <p:nvPr/>
        </p:nvCxnSpPr>
        <p:spPr>
          <a:xfrm>
            <a:off x="1851460" y="4883007"/>
            <a:ext cx="0" cy="7117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643CEEC5-7344-25A7-27C3-D8FB7336B6D0}"/>
              </a:ext>
            </a:extLst>
          </p:cNvPr>
          <p:cNvCxnSpPr>
            <a:cxnSpLocks/>
            <a:stCxn id="51" idx="4"/>
            <a:endCxn id="36" idx="0"/>
          </p:cNvCxnSpPr>
          <p:nvPr/>
        </p:nvCxnSpPr>
        <p:spPr>
          <a:xfrm flipH="1">
            <a:off x="4427423" y="3943004"/>
            <a:ext cx="5587" cy="14103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F3E6A4F-4CFF-AAA2-41A4-1A7F93410021}"/>
              </a:ext>
            </a:extLst>
          </p:cNvPr>
          <p:cNvCxnSpPr>
            <a:cxnSpLocks/>
            <a:stCxn id="49" idx="4"/>
            <a:endCxn id="54" idx="0"/>
          </p:cNvCxnSpPr>
          <p:nvPr/>
        </p:nvCxnSpPr>
        <p:spPr>
          <a:xfrm flipH="1">
            <a:off x="2700737" y="5949137"/>
            <a:ext cx="1709" cy="76112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DAE98C8D-47FC-DC61-A6AE-E41DBEEEC71F}"/>
              </a:ext>
            </a:extLst>
          </p:cNvPr>
          <p:cNvCxnSpPr>
            <a:cxnSpLocks/>
            <a:stCxn id="50" idx="4"/>
            <a:endCxn id="47" idx="0"/>
          </p:cNvCxnSpPr>
          <p:nvPr/>
        </p:nvCxnSpPr>
        <p:spPr>
          <a:xfrm flipH="1">
            <a:off x="3562519" y="5655761"/>
            <a:ext cx="346" cy="103556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テキスト プレースホルダー 1">
            <a:extLst>
              <a:ext uri="{FF2B5EF4-FFF2-40B4-BE49-F238E27FC236}">
                <a16:creationId xmlns:a16="http://schemas.microsoft.com/office/drawing/2014/main" id="{38324D8E-99F8-E6D8-BDA0-5EFFA5ED6FB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3136" y="1462863"/>
            <a:ext cx="5459417" cy="5393356"/>
          </a:xfrm>
        </p:spPr>
        <p:txBody>
          <a:bodyPr anchor="t"/>
          <a:lstStyle/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三角形の面積で近似</a:t>
            </a:r>
            <a:endParaRPr kumimoji="1" lang="en-US" altLang="ja-JP" i="1" dirty="0">
              <a:latin typeface="+mj-lt"/>
              <a:ea typeface="CMU Classical Serif" panose="02000603000000000000" pitchFamily="2" charset="0"/>
              <a:cs typeface="CMU Classical Serif" panose="02000603000000000000" pitchFamily="2" charset="0"/>
            </a:endParaRP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だんだん曲線に沿って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三角形を作られる．</a:t>
            </a:r>
            <a:endParaRPr kumimoji="1" lang="en-US" altLang="ja-JP" dirty="0">
              <a:latin typeface="+mj-lt"/>
            </a:endParaRPr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ある規則を発見して面積を求められた．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E2911408-4799-6FEB-A0C5-1B6F603CA60F}"/>
              </a:ext>
            </a:extLst>
          </p:cNvPr>
          <p:cNvSpPr/>
          <p:nvPr/>
        </p:nvSpPr>
        <p:spPr>
          <a:xfrm>
            <a:off x="3064219" y="3248932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BE11DD7A-2FF7-BDD6-7D82-8355C1ABE6A2}"/>
              </a:ext>
            </a:extLst>
          </p:cNvPr>
          <p:cNvSpPr/>
          <p:nvPr/>
        </p:nvSpPr>
        <p:spPr>
          <a:xfrm>
            <a:off x="2198105" y="4911787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E3B71CA-F11D-78EE-F259-E1FF1FEC5D41}"/>
              </a:ext>
            </a:extLst>
          </p:cNvPr>
          <p:cNvSpPr/>
          <p:nvPr/>
        </p:nvSpPr>
        <p:spPr>
          <a:xfrm>
            <a:off x="3905406" y="4350140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64E944F6-F5EA-592C-1ED1-45FE2F22215C}"/>
              </a:ext>
            </a:extLst>
          </p:cNvPr>
          <p:cNvSpPr/>
          <p:nvPr/>
        </p:nvSpPr>
        <p:spPr>
          <a:xfrm>
            <a:off x="1773754" y="4727596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9A8BF4CE-E1A4-2328-278E-E3426AAAEE67}"/>
              </a:ext>
            </a:extLst>
          </p:cNvPr>
          <p:cNvSpPr/>
          <p:nvPr/>
        </p:nvSpPr>
        <p:spPr>
          <a:xfrm>
            <a:off x="4355304" y="3787593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17F1E353-C5F2-A761-30C7-98621CA7E8C7}"/>
              </a:ext>
            </a:extLst>
          </p:cNvPr>
          <p:cNvSpPr/>
          <p:nvPr/>
        </p:nvSpPr>
        <p:spPr>
          <a:xfrm>
            <a:off x="2624740" y="5793726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72B10A51-A55C-194B-3A91-02BD3C96DF67}"/>
              </a:ext>
            </a:extLst>
          </p:cNvPr>
          <p:cNvSpPr/>
          <p:nvPr/>
        </p:nvSpPr>
        <p:spPr>
          <a:xfrm>
            <a:off x="3485159" y="5500350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5087BF69-6FB7-1008-6A40-C7AA3DC55AFB}"/>
              </a:ext>
            </a:extLst>
          </p:cNvPr>
          <p:cNvSpPr/>
          <p:nvPr/>
        </p:nvSpPr>
        <p:spPr>
          <a:xfrm>
            <a:off x="1355295" y="3826313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CAECBEF-0DFF-70F3-CD28-4039BA2C4991}"/>
              </a:ext>
            </a:extLst>
          </p:cNvPr>
          <p:cNvSpPr/>
          <p:nvPr/>
        </p:nvSpPr>
        <p:spPr>
          <a:xfrm>
            <a:off x="4802725" y="2667690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9E10EF3-E9A0-9F8F-100F-321DC7FE6B8C}"/>
              </a:ext>
            </a:extLst>
          </p:cNvPr>
          <p:cNvSpPr/>
          <p:nvPr/>
        </p:nvSpPr>
        <p:spPr>
          <a:xfrm>
            <a:off x="3048399" y="6001731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42BF6FBB-9D01-BE1F-D979-B5E7E8FCAB8E}"/>
              </a:ext>
            </a:extLst>
          </p:cNvPr>
          <p:cNvSpPr/>
          <p:nvPr/>
        </p:nvSpPr>
        <p:spPr>
          <a:xfrm>
            <a:off x="2203606" y="5618078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9AF497D9-5261-38D8-EB1E-1BD2D2CFD15A}"/>
              </a:ext>
            </a:extLst>
          </p:cNvPr>
          <p:cNvSpPr/>
          <p:nvPr/>
        </p:nvSpPr>
        <p:spPr>
          <a:xfrm>
            <a:off x="3905406" y="5011074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4910AF43-C965-5022-E09A-A4F889AC35D2}"/>
              </a:ext>
            </a:extLst>
          </p:cNvPr>
          <p:cNvSpPr/>
          <p:nvPr/>
        </p:nvSpPr>
        <p:spPr>
          <a:xfrm>
            <a:off x="1773754" y="4954179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439F3529-62DD-F1F6-5DDD-D9C20B4DA736}"/>
              </a:ext>
            </a:extLst>
          </p:cNvPr>
          <p:cNvSpPr/>
          <p:nvPr/>
        </p:nvSpPr>
        <p:spPr>
          <a:xfrm>
            <a:off x="4349717" y="4084037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E316AA1B-C557-293F-B323-C690C848C6FD}"/>
              </a:ext>
            </a:extLst>
          </p:cNvPr>
          <p:cNvSpPr/>
          <p:nvPr/>
        </p:nvSpPr>
        <p:spPr>
          <a:xfrm>
            <a:off x="3484813" y="5759317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22E87001-3830-AD61-DE77-8AFA3DD47AE1}"/>
              </a:ext>
            </a:extLst>
          </p:cNvPr>
          <p:cNvSpPr/>
          <p:nvPr/>
        </p:nvSpPr>
        <p:spPr>
          <a:xfrm>
            <a:off x="2623031" y="6025249"/>
            <a:ext cx="155411" cy="15541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6" name="二等辺三角形 18">
            <a:extLst>
              <a:ext uri="{FF2B5EF4-FFF2-40B4-BE49-F238E27FC236}">
                <a16:creationId xmlns:a16="http://schemas.microsoft.com/office/drawing/2014/main" id="{5C190886-A13C-7100-1C8D-BBD651CB7D15}"/>
              </a:ext>
            </a:extLst>
          </p:cNvPr>
          <p:cNvSpPr/>
          <p:nvPr/>
        </p:nvSpPr>
        <p:spPr>
          <a:xfrm>
            <a:off x="1452714" y="2739327"/>
            <a:ext cx="3434321" cy="33633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  <a:gradFill>
            <a:gsLst>
              <a:gs pos="0">
                <a:schemeClr val="accent4">
                  <a:tint val="50000"/>
                  <a:satMod val="300000"/>
                  <a:alpha val="70000"/>
                </a:schemeClr>
              </a:gs>
              <a:gs pos="35000">
                <a:schemeClr val="accent4">
                  <a:tint val="37000"/>
                  <a:satMod val="300000"/>
                  <a:alpha val="70000"/>
                </a:schemeClr>
              </a:gs>
              <a:gs pos="100000">
                <a:schemeClr val="accent4">
                  <a:tint val="15000"/>
                  <a:satMod val="350000"/>
                  <a:alpha val="70000"/>
                </a:schemeClr>
              </a:gs>
            </a:gsLst>
          </a:gra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07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EAF6"/>
                                      </p:to>
                                    </p:animClr>
                                    <p:animClr clrSpc="rgb" dir="cw">
                                      <p:cBhvr>
                                        <p:cTn id="2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EAF6"/>
                                      </p:to>
                                    </p:animClr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EAF6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EAF6"/>
                                      </p:to>
                                    </p:animClr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6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6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6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500"/>
                            </p:stCondLst>
                            <p:childTnLst>
                              <p:par>
                                <p:cTn id="95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9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10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0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500"/>
                            </p:stCondLst>
                            <p:childTnLst>
                              <p:par>
                                <p:cTn id="12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13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139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140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000"/>
                            </p:stCondLst>
                            <p:childTnLst>
                              <p:par>
                                <p:cTn id="15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500"/>
                            </p:stCondLst>
                            <p:childTnLst>
                              <p:par>
                                <p:cTn id="172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174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175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4000"/>
                            </p:stCondLst>
                            <p:childTnLst>
                              <p:par>
                                <p:cTn id="178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18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18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50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50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600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7000"/>
                            </p:stCondLst>
                            <p:childTnLst>
                              <p:par>
                                <p:cTn id="213" presetID="27" presetClass="emph" presetSubtype="0" fill="remove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215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21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7500"/>
                            </p:stCondLst>
                            <p:childTnLst>
                              <p:par>
                                <p:cTn id="219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22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22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9000"/>
                            </p:stCondLst>
                            <p:childTnLst>
                              <p:par>
                                <p:cTn id="2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9500"/>
                            </p:stCondLst>
                            <p:childTnLst>
                              <p:par>
                                <p:cTn id="2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4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4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256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25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0" presetID="27" presetClass="emph" presetSubtype="0" fill="remove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animClr clrSpc="rgb" dir="cw">
                                      <p:cBhvr>
                                        <p:cTn id="26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6EC0"/>
                                      </p:to>
                                    </p:animClr>
                                    <p:set>
                                      <p:cBhvr>
                                        <p:cTn id="26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1500"/>
                            </p:stCondLst>
                            <p:childTnLst>
                              <p:par>
                                <p:cTn id="2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2000"/>
                            </p:stCondLst>
                            <p:childTnLst>
                              <p:par>
                                <p:cTn id="2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2500"/>
                            </p:stCondLst>
                            <p:childTnLst>
                              <p:par>
                                <p:cTn id="2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3000"/>
                            </p:stCondLst>
                            <p:childTnLst>
                              <p:par>
                                <p:cTn id="2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3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14000"/>
                            </p:stCondLst>
                            <p:childTnLst>
                              <p:par>
                                <p:cTn id="301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450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0" grpId="0" animBg="1"/>
      <p:bldP spid="21" grpId="0" animBg="1"/>
      <p:bldP spid="52" grpId="0" animBg="1"/>
      <p:bldP spid="53" grpId="0" animBg="1"/>
      <p:bldP spid="55" grpId="0" animBg="1"/>
      <p:bldP spid="56" grpId="0" animBg="1"/>
      <p:bldP spid="8" grpId="0" animBg="1"/>
      <p:bldP spid="8" grpId="1" animBg="1"/>
      <p:bldP spid="68" grpId="0" uiExpand="1" build="p"/>
      <p:bldP spid="24" grpId="0" animBg="1"/>
      <p:bldP spid="24" grpId="1" animBg="1"/>
      <p:bldP spid="38" grpId="0" animBg="1"/>
      <p:bldP spid="38" grpId="1" animBg="1"/>
      <p:bldP spid="11" grpId="0" animBg="1"/>
      <p:bldP spid="11" grpId="1" animBg="1"/>
      <p:bldP spid="48" grpId="0" animBg="1"/>
      <p:bldP spid="48" grpId="1" animBg="1"/>
      <p:bldP spid="51" grpId="0" animBg="1"/>
      <p:bldP spid="51" grpId="1" animBg="1"/>
      <p:bldP spid="49" grpId="0" animBg="1"/>
      <p:bldP spid="49" grpId="1" animBg="1"/>
      <p:bldP spid="50" grpId="0" animBg="1"/>
      <p:bldP spid="50" grpId="1" animBg="1"/>
      <p:bldP spid="2" grpId="0" animBg="1"/>
      <p:bldP spid="2" grpId="1" animBg="1"/>
      <p:bldP spid="2" grpId="2" animBg="1"/>
      <p:bldP spid="2" grpId="3" animBg="1"/>
      <p:bldP spid="2" grpId="4" animBg="1"/>
      <p:bldP spid="3" grpId="0" animBg="1"/>
      <p:bldP spid="3" grpId="1" animBg="1"/>
      <p:bldP spid="3" grpId="2" animBg="1"/>
      <p:bldP spid="3" grpId="3" animBg="1"/>
      <p:bldP spid="3" grpId="4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18" grpId="0" animBg="1"/>
      <p:bldP spid="18" grpId="1" animBg="1"/>
      <p:bldP spid="18" grpId="2" animBg="1"/>
      <p:bldP spid="18" grpId="3" animBg="1"/>
      <p:bldP spid="26" grpId="0" animBg="1"/>
      <p:bldP spid="26" grpId="1" animBg="1"/>
      <p:bldP spid="26" grpId="2" animBg="1"/>
      <p:bldP spid="26" grpId="3" animBg="1"/>
      <p:bldP spid="35" grpId="0" animBg="1"/>
      <p:bldP spid="35" grpId="1" animBg="1"/>
      <p:bldP spid="36" grpId="0" animBg="1"/>
      <p:bldP spid="36" grpId="1" animBg="1"/>
      <p:bldP spid="47" grpId="0" animBg="1"/>
      <p:bldP spid="47" grpId="1" animBg="1"/>
      <p:bldP spid="54" grpId="0" animBg="1"/>
      <p:bldP spid="54" grpId="1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二等辺三角形 18">
            <a:extLst>
              <a:ext uri="{FF2B5EF4-FFF2-40B4-BE49-F238E27FC236}">
                <a16:creationId xmlns:a16="http://schemas.microsoft.com/office/drawing/2014/main" id="{361E5D6F-41FC-2515-260F-0868A1440916}"/>
              </a:ext>
            </a:extLst>
          </p:cNvPr>
          <p:cNvSpPr/>
          <p:nvPr/>
        </p:nvSpPr>
        <p:spPr>
          <a:xfrm>
            <a:off x="8977039" y="2631079"/>
            <a:ext cx="431459" cy="908404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1344" h="1763666">
                <a:moveTo>
                  <a:pt x="841344" y="1763666"/>
                </a:moveTo>
                <a:lnTo>
                  <a:pt x="0" y="0"/>
                </a:lnTo>
                <a:lnTo>
                  <a:pt x="419759" y="1044137"/>
                </a:lnTo>
                <a:lnTo>
                  <a:pt x="841344" y="1763666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二等辺三角形 18">
            <a:extLst>
              <a:ext uri="{FF2B5EF4-FFF2-40B4-BE49-F238E27FC236}">
                <a16:creationId xmlns:a16="http://schemas.microsoft.com/office/drawing/2014/main" id="{3CB98B44-CF27-EA62-7E37-62EC23ACF6F9}"/>
              </a:ext>
            </a:extLst>
          </p:cNvPr>
          <p:cNvSpPr/>
          <p:nvPr/>
        </p:nvSpPr>
        <p:spPr>
          <a:xfrm flipH="1">
            <a:off x="10291666" y="2039633"/>
            <a:ext cx="446498" cy="1203703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  <a:gd name="connsiteX0" fmla="*/ 694721 w 694721"/>
              <a:gd name="connsiteY0" fmla="*/ 2052982 h 2052982"/>
              <a:gd name="connsiteX1" fmla="*/ 0 w 694721"/>
              <a:gd name="connsiteY1" fmla="*/ 0 h 2052982"/>
              <a:gd name="connsiteX2" fmla="*/ 273136 w 694721"/>
              <a:gd name="connsiteY2" fmla="*/ 1333453 h 2052982"/>
              <a:gd name="connsiteX3" fmla="*/ 694721 w 694721"/>
              <a:gd name="connsiteY3" fmla="*/ 2052982 h 2052982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273136 w 870670"/>
              <a:gd name="connsiteY2" fmla="*/ 1333453 h 2336989"/>
              <a:gd name="connsiteX3" fmla="*/ 870670 w 870670"/>
              <a:gd name="connsiteY3" fmla="*/ 2336989 h 2336989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390435 w 870670"/>
              <a:gd name="connsiteY2" fmla="*/ 1301602 h 2336989"/>
              <a:gd name="connsiteX3" fmla="*/ 870670 w 870670"/>
              <a:gd name="connsiteY3" fmla="*/ 2336989 h 2336989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452347 w 870670"/>
              <a:gd name="connsiteY2" fmla="*/ 1306344 h 2336989"/>
              <a:gd name="connsiteX3" fmla="*/ 870670 w 870670"/>
              <a:gd name="connsiteY3" fmla="*/ 2336989 h 2336989"/>
              <a:gd name="connsiteX0" fmla="*/ 870670 w 870670"/>
              <a:gd name="connsiteY0" fmla="*/ 2336989 h 2336989"/>
              <a:gd name="connsiteX1" fmla="*/ 0 w 870670"/>
              <a:gd name="connsiteY1" fmla="*/ 0 h 2336989"/>
              <a:gd name="connsiteX2" fmla="*/ 422581 w 870670"/>
              <a:gd name="connsiteY2" fmla="*/ 1317013 h 2336989"/>
              <a:gd name="connsiteX3" fmla="*/ 870670 w 870670"/>
              <a:gd name="connsiteY3" fmla="*/ 2336989 h 233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0670" h="2336989">
                <a:moveTo>
                  <a:pt x="870670" y="2336989"/>
                </a:moveTo>
                <a:lnTo>
                  <a:pt x="0" y="0"/>
                </a:lnTo>
                <a:lnTo>
                  <a:pt x="422581" y="1317013"/>
                </a:lnTo>
                <a:lnTo>
                  <a:pt x="870670" y="233698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18">
            <a:extLst>
              <a:ext uri="{FF2B5EF4-FFF2-40B4-BE49-F238E27FC236}">
                <a16:creationId xmlns:a16="http://schemas.microsoft.com/office/drawing/2014/main" id="{9774E5C4-B73C-8418-D6FB-7C992B371C95}"/>
              </a:ext>
            </a:extLst>
          </p:cNvPr>
          <p:cNvSpPr/>
          <p:nvPr/>
        </p:nvSpPr>
        <p:spPr>
          <a:xfrm>
            <a:off x="9412289" y="3542221"/>
            <a:ext cx="429051" cy="19618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698329 w 1119914"/>
              <a:gd name="connsiteY2" fmla="*/ 351532 h 1071061"/>
              <a:gd name="connsiteX3" fmla="*/ 1119914 w 1119914"/>
              <a:gd name="connsiteY3" fmla="*/ 1071061 h 1071061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811645 w 1119914"/>
              <a:gd name="connsiteY2" fmla="*/ 384438 h 1071061"/>
              <a:gd name="connsiteX3" fmla="*/ 1119914 w 1119914"/>
              <a:gd name="connsiteY3" fmla="*/ 1071061 h 1071061"/>
              <a:gd name="connsiteX0" fmla="*/ 400670 w 811645"/>
              <a:gd name="connsiteY0" fmla="*/ 307942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00670 w 811645"/>
              <a:gd name="connsiteY3" fmla="*/ 307942 h 384438"/>
              <a:gd name="connsiteX0" fmla="*/ 410195 w 811645"/>
              <a:gd name="connsiteY0" fmla="*/ 355359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10195 w 811645"/>
              <a:gd name="connsiteY3" fmla="*/ 355359 h 384438"/>
              <a:gd name="connsiteX0" fmla="*/ 423292 w 824742"/>
              <a:gd name="connsiteY0" fmla="*/ 348247 h 377326"/>
              <a:gd name="connsiteX1" fmla="*/ 0 w 824742"/>
              <a:gd name="connsiteY1" fmla="*/ 0 h 377326"/>
              <a:gd name="connsiteX2" fmla="*/ 824742 w 824742"/>
              <a:gd name="connsiteY2" fmla="*/ 377326 h 377326"/>
              <a:gd name="connsiteX3" fmla="*/ 423292 w 824742"/>
              <a:gd name="connsiteY3" fmla="*/ 348247 h 377326"/>
              <a:gd name="connsiteX0" fmla="*/ 423292 w 836648"/>
              <a:gd name="connsiteY0" fmla="*/ 348247 h 380882"/>
              <a:gd name="connsiteX1" fmla="*/ 0 w 836648"/>
              <a:gd name="connsiteY1" fmla="*/ 0 h 380882"/>
              <a:gd name="connsiteX2" fmla="*/ 836648 w 836648"/>
              <a:gd name="connsiteY2" fmla="*/ 380882 h 380882"/>
              <a:gd name="connsiteX3" fmla="*/ 423292 w 836648"/>
              <a:gd name="connsiteY3" fmla="*/ 348247 h 380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648" h="380882">
                <a:moveTo>
                  <a:pt x="423292" y="348247"/>
                </a:moveTo>
                <a:lnTo>
                  <a:pt x="0" y="0"/>
                </a:lnTo>
                <a:lnTo>
                  <a:pt x="836648" y="380882"/>
                </a:lnTo>
                <a:lnTo>
                  <a:pt x="423292" y="348247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18">
            <a:extLst>
              <a:ext uri="{FF2B5EF4-FFF2-40B4-BE49-F238E27FC236}">
                <a16:creationId xmlns:a16="http://schemas.microsoft.com/office/drawing/2014/main" id="{4714A145-DCDA-FBC0-9BA6-80A5346861ED}"/>
              </a:ext>
            </a:extLst>
          </p:cNvPr>
          <p:cNvSpPr/>
          <p:nvPr/>
        </p:nvSpPr>
        <p:spPr>
          <a:xfrm flipH="1">
            <a:off x="9845751" y="3248913"/>
            <a:ext cx="443345" cy="490477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1095849 w 1095849"/>
              <a:gd name="connsiteY0" fmla="*/ 2474985 h 2474985"/>
              <a:gd name="connsiteX1" fmla="*/ 0 w 1095849"/>
              <a:gd name="connsiteY1" fmla="*/ 0 h 2474985"/>
              <a:gd name="connsiteX2" fmla="*/ 247047 w 1095849"/>
              <a:gd name="connsiteY2" fmla="*/ 2087752 h 2474985"/>
              <a:gd name="connsiteX3" fmla="*/ 1095849 w 1095849"/>
              <a:gd name="connsiteY3" fmla="*/ 2474985 h 2474985"/>
              <a:gd name="connsiteX0" fmla="*/ 841344 w 841344"/>
              <a:gd name="connsiteY0" fmla="*/ 1763666 h 2087752"/>
              <a:gd name="connsiteX1" fmla="*/ 0 w 841344"/>
              <a:gd name="connsiteY1" fmla="*/ 0 h 2087752"/>
              <a:gd name="connsiteX2" fmla="*/ 247047 w 841344"/>
              <a:gd name="connsiteY2" fmla="*/ 2087752 h 2087752"/>
              <a:gd name="connsiteX3" fmla="*/ 841344 w 841344"/>
              <a:gd name="connsiteY3" fmla="*/ 1763666 h 2087752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0651 w 841344"/>
              <a:gd name="connsiteY2" fmla="*/ 1363763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193626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54287 w 841344"/>
              <a:gd name="connsiteY2" fmla="*/ 1018058 h 1763666"/>
              <a:gd name="connsiteX3" fmla="*/ 841344 w 841344"/>
              <a:gd name="connsiteY3" fmla="*/ 1763666 h 1763666"/>
              <a:gd name="connsiteX0" fmla="*/ 841344 w 841344"/>
              <a:gd name="connsiteY0" fmla="*/ 1763666 h 1763666"/>
              <a:gd name="connsiteX1" fmla="*/ 0 w 841344"/>
              <a:gd name="connsiteY1" fmla="*/ 0 h 1763666"/>
              <a:gd name="connsiteX2" fmla="*/ 419759 w 841344"/>
              <a:gd name="connsiteY2" fmla="*/ 1044137 h 1763666"/>
              <a:gd name="connsiteX3" fmla="*/ 841344 w 841344"/>
              <a:gd name="connsiteY3" fmla="*/ 1763666 h 1763666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698329 w 1119914"/>
              <a:gd name="connsiteY2" fmla="*/ 351532 h 1071061"/>
              <a:gd name="connsiteX3" fmla="*/ 1119914 w 1119914"/>
              <a:gd name="connsiteY3" fmla="*/ 1071061 h 1071061"/>
              <a:gd name="connsiteX0" fmla="*/ 1119914 w 1119914"/>
              <a:gd name="connsiteY0" fmla="*/ 1071061 h 1071061"/>
              <a:gd name="connsiteX1" fmla="*/ 0 w 1119914"/>
              <a:gd name="connsiteY1" fmla="*/ 0 h 1071061"/>
              <a:gd name="connsiteX2" fmla="*/ 811645 w 1119914"/>
              <a:gd name="connsiteY2" fmla="*/ 384438 h 1071061"/>
              <a:gd name="connsiteX3" fmla="*/ 1119914 w 1119914"/>
              <a:gd name="connsiteY3" fmla="*/ 1071061 h 1071061"/>
              <a:gd name="connsiteX0" fmla="*/ 400670 w 811645"/>
              <a:gd name="connsiteY0" fmla="*/ 307942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00670 w 811645"/>
              <a:gd name="connsiteY3" fmla="*/ 307942 h 384438"/>
              <a:gd name="connsiteX0" fmla="*/ 410195 w 811645"/>
              <a:gd name="connsiteY0" fmla="*/ 355359 h 384438"/>
              <a:gd name="connsiteX1" fmla="*/ 0 w 811645"/>
              <a:gd name="connsiteY1" fmla="*/ 0 h 384438"/>
              <a:gd name="connsiteX2" fmla="*/ 811645 w 811645"/>
              <a:gd name="connsiteY2" fmla="*/ 384438 h 384438"/>
              <a:gd name="connsiteX3" fmla="*/ 410195 w 811645"/>
              <a:gd name="connsiteY3" fmla="*/ 355359 h 384438"/>
              <a:gd name="connsiteX0" fmla="*/ 423292 w 824742"/>
              <a:gd name="connsiteY0" fmla="*/ 348247 h 377326"/>
              <a:gd name="connsiteX1" fmla="*/ 0 w 824742"/>
              <a:gd name="connsiteY1" fmla="*/ 0 h 377326"/>
              <a:gd name="connsiteX2" fmla="*/ 824742 w 824742"/>
              <a:gd name="connsiteY2" fmla="*/ 377326 h 377326"/>
              <a:gd name="connsiteX3" fmla="*/ 423292 w 824742"/>
              <a:gd name="connsiteY3" fmla="*/ 348247 h 377326"/>
              <a:gd name="connsiteX0" fmla="*/ 423292 w 836648"/>
              <a:gd name="connsiteY0" fmla="*/ 348247 h 380882"/>
              <a:gd name="connsiteX1" fmla="*/ 0 w 836648"/>
              <a:gd name="connsiteY1" fmla="*/ 0 h 380882"/>
              <a:gd name="connsiteX2" fmla="*/ 836648 w 836648"/>
              <a:gd name="connsiteY2" fmla="*/ 380882 h 380882"/>
              <a:gd name="connsiteX3" fmla="*/ 423292 w 836648"/>
              <a:gd name="connsiteY3" fmla="*/ 348247 h 380882"/>
              <a:gd name="connsiteX0" fmla="*/ 532988 w 946344"/>
              <a:gd name="connsiteY0" fmla="*/ 667129 h 699764"/>
              <a:gd name="connsiteX1" fmla="*/ 0 w 946344"/>
              <a:gd name="connsiteY1" fmla="*/ 0 h 699764"/>
              <a:gd name="connsiteX2" fmla="*/ 946344 w 946344"/>
              <a:gd name="connsiteY2" fmla="*/ 699764 h 699764"/>
              <a:gd name="connsiteX3" fmla="*/ 532988 w 946344"/>
              <a:gd name="connsiteY3" fmla="*/ 667129 h 699764"/>
              <a:gd name="connsiteX0" fmla="*/ 532988 w 1410594"/>
              <a:gd name="connsiteY0" fmla="*/ 667129 h 938036"/>
              <a:gd name="connsiteX1" fmla="*/ 0 w 1410594"/>
              <a:gd name="connsiteY1" fmla="*/ 0 h 938036"/>
              <a:gd name="connsiteX2" fmla="*/ 1410594 w 1410594"/>
              <a:gd name="connsiteY2" fmla="*/ 938036 h 938036"/>
              <a:gd name="connsiteX3" fmla="*/ 532988 w 1410594"/>
              <a:gd name="connsiteY3" fmla="*/ 667129 h 938036"/>
              <a:gd name="connsiteX0" fmla="*/ 532988 w 1422348"/>
              <a:gd name="connsiteY0" fmla="*/ 667129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532988 w 1422348"/>
              <a:gd name="connsiteY3" fmla="*/ 667129 h 952262"/>
              <a:gd name="connsiteX0" fmla="*/ 683822 w 1422348"/>
              <a:gd name="connsiteY0" fmla="*/ 587706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683822 w 1422348"/>
              <a:gd name="connsiteY3" fmla="*/ 587706 h 952262"/>
              <a:gd name="connsiteX0" fmla="*/ 709287 w 1422348"/>
              <a:gd name="connsiteY0" fmla="*/ 616156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709287 w 1422348"/>
              <a:gd name="connsiteY3" fmla="*/ 616156 h 952262"/>
              <a:gd name="connsiteX0" fmla="*/ 709287 w 1422348"/>
              <a:gd name="connsiteY0" fmla="*/ 625640 h 952262"/>
              <a:gd name="connsiteX1" fmla="*/ 0 w 1422348"/>
              <a:gd name="connsiteY1" fmla="*/ 0 h 952262"/>
              <a:gd name="connsiteX2" fmla="*/ 1422348 w 1422348"/>
              <a:gd name="connsiteY2" fmla="*/ 952262 h 952262"/>
              <a:gd name="connsiteX3" fmla="*/ 709287 w 1422348"/>
              <a:gd name="connsiteY3" fmla="*/ 625640 h 952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2348" h="952262">
                <a:moveTo>
                  <a:pt x="709287" y="625640"/>
                </a:moveTo>
                <a:lnTo>
                  <a:pt x="0" y="0"/>
                </a:lnTo>
                <a:lnTo>
                  <a:pt x="1422348" y="952262"/>
                </a:lnTo>
                <a:lnTo>
                  <a:pt x="709287" y="625640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二等辺三角形 18">
            <a:extLst>
              <a:ext uri="{FF2B5EF4-FFF2-40B4-BE49-F238E27FC236}">
                <a16:creationId xmlns:a16="http://schemas.microsoft.com/office/drawing/2014/main" id="{EDC8BDFD-8CB7-2D6C-2141-15F40810432E}"/>
              </a:ext>
            </a:extLst>
          </p:cNvPr>
          <p:cNvSpPr/>
          <p:nvPr/>
        </p:nvSpPr>
        <p:spPr>
          <a:xfrm>
            <a:off x="6096120" y="2626353"/>
            <a:ext cx="880056" cy="1127543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571" h="2165480">
                <a:moveTo>
                  <a:pt x="1697571" y="2165480"/>
                </a:moveTo>
                <a:lnTo>
                  <a:pt x="0" y="0"/>
                </a:lnTo>
                <a:lnTo>
                  <a:pt x="848769" y="1778247"/>
                </a:lnTo>
                <a:lnTo>
                  <a:pt x="1697571" y="2165480"/>
                </a:ln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二等辺三角形 18">
            <a:extLst>
              <a:ext uri="{FF2B5EF4-FFF2-40B4-BE49-F238E27FC236}">
                <a16:creationId xmlns:a16="http://schemas.microsoft.com/office/drawing/2014/main" id="{145FC781-EC67-8B95-EB1B-10E6C8B0B512}"/>
              </a:ext>
            </a:extLst>
          </p:cNvPr>
          <p:cNvSpPr/>
          <p:nvPr/>
        </p:nvSpPr>
        <p:spPr>
          <a:xfrm>
            <a:off x="6985512" y="2011135"/>
            <a:ext cx="905820" cy="1736086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196815 w 2921334"/>
              <a:gd name="connsiteY0" fmla="*/ 3333941 h 3333941"/>
              <a:gd name="connsiteX1" fmla="*/ 0 w 2921334"/>
              <a:gd name="connsiteY1" fmla="*/ 529894 h 3333941"/>
              <a:gd name="connsiteX2" fmla="*/ 2921334 w 2921334"/>
              <a:gd name="connsiteY2" fmla="*/ 0 h 3333941"/>
              <a:gd name="connsiteX3" fmla="*/ 1196815 w 2921334"/>
              <a:gd name="connsiteY3" fmla="*/ 3333941 h 3333941"/>
              <a:gd name="connsiteX0" fmla="*/ 1684217 w 2921334"/>
              <a:gd name="connsiteY0" fmla="*/ 2686154 h 2686154"/>
              <a:gd name="connsiteX1" fmla="*/ 0 w 2921334"/>
              <a:gd name="connsiteY1" fmla="*/ 529894 h 2686154"/>
              <a:gd name="connsiteX2" fmla="*/ 2921334 w 2921334"/>
              <a:gd name="connsiteY2" fmla="*/ 0 h 2686154"/>
              <a:gd name="connsiteX3" fmla="*/ 1684217 w 2921334"/>
              <a:gd name="connsiteY3" fmla="*/ 2686154 h 2686154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559307 w 1684217"/>
              <a:gd name="connsiteY2" fmla="*/ 1198926 h 2156260"/>
              <a:gd name="connsiteX3" fmla="*/ 1684217 w 1684217"/>
              <a:gd name="connsiteY3" fmla="*/ 2156260 h 2156260"/>
              <a:gd name="connsiteX0" fmla="*/ 1684217 w 1684217"/>
              <a:gd name="connsiteY0" fmla="*/ 2156260 h 2156260"/>
              <a:gd name="connsiteX1" fmla="*/ 0 w 1684217"/>
              <a:gd name="connsiteY1" fmla="*/ 0 h 2156260"/>
              <a:gd name="connsiteX2" fmla="*/ 489060 w 1684217"/>
              <a:gd name="connsiteY2" fmla="*/ 1215595 h 2156260"/>
              <a:gd name="connsiteX3" fmla="*/ 1684217 w 1684217"/>
              <a:gd name="connsiteY3" fmla="*/ 2156260 h 2156260"/>
              <a:gd name="connsiteX0" fmla="*/ 1703267 w 1703267"/>
              <a:gd name="connsiteY0" fmla="*/ 2164595 h 2164595"/>
              <a:gd name="connsiteX1" fmla="*/ 0 w 1703267"/>
              <a:gd name="connsiteY1" fmla="*/ 0 h 2164595"/>
              <a:gd name="connsiteX2" fmla="*/ 508110 w 1703267"/>
              <a:gd name="connsiteY2" fmla="*/ 1223930 h 2164595"/>
              <a:gd name="connsiteX3" fmla="*/ 1703267 w 1703267"/>
              <a:gd name="connsiteY3" fmla="*/ 2164595 h 2164595"/>
              <a:gd name="connsiteX0" fmla="*/ 1708029 w 1708029"/>
              <a:gd name="connsiteY0" fmla="*/ 2166976 h 2166976"/>
              <a:gd name="connsiteX1" fmla="*/ 0 w 1708029"/>
              <a:gd name="connsiteY1" fmla="*/ 0 h 2166976"/>
              <a:gd name="connsiteX2" fmla="*/ 508110 w 1708029"/>
              <a:gd name="connsiteY2" fmla="*/ 1223930 h 2166976"/>
              <a:gd name="connsiteX3" fmla="*/ 1708029 w 1708029"/>
              <a:gd name="connsiteY3" fmla="*/ 2166976 h 2166976"/>
              <a:gd name="connsiteX0" fmla="*/ 1703547 w 1703547"/>
              <a:gd name="connsiteY0" fmla="*/ 2163988 h 2163988"/>
              <a:gd name="connsiteX1" fmla="*/ 0 w 1703547"/>
              <a:gd name="connsiteY1" fmla="*/ 0 h 2163988"/>
              <a:gd name="connsiteX2" fmla="*/ 508110 w 1703547"/>
              <a:gd name="connsiteY2" fmla="*/ 1223930 h 2163988"/>
              <a:gd name="connsiteX3" fmla="*/ 1703547 w 1703547"/>
              <a:gd name="connsiteY3" fmla="*/ 2163988 h 2163988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508110 w 1690100"/>
              <a:gd name="connsiteY2" fmla="*/ 1223930 h 2149046"/>
              <a:gd name="connsiteX3" fmla="*/ 1690100 w 1690100"/>
              <a:gd name="connsiteY3" fmla="*/ 2149046 h 2149046"/>
              <a:gd name="connsiteX0" fmla="*/ 1690100 w 1690100"/>
              <a:gd name="connsiteY0" fmla="*/ 2149046 h 2149046"/>
              <a:gd name="connsiteX1" fmla="*/ 0 w 1690100"/>
              <a:gd name="connsiteY1" fmla="*/ 0 h 2149046"/>
              <a:gd name="connsiteX2" fmla="*/ 848768 w 1690100"/>
              <a:gd name="connsiteY2" fmla="*/ 1764800 h 2149046"/>
              <a:gd name="connsiteX3" fmla="*/ 1690100 w 1690100"/>
              <a:gd name="connsiteY3" fmla="*/ 2149046 h 2149046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8 w 1697571"/>
              <a:gd name="connsiteY2" fmla="*/ 1764800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33827 w 1697571"/>
              <a:gd name="connsiteY2" fmla="*/ 1758824 h 2153528"/>
              <a:gd name="connsiteX3" fmla="*/ 1697571 w 1697571"/>
              <a:gd name="connsiteY3" fmla="*/ 2153528 h 2153528"/>
              <a:gd name="connsiteX0" fmla="*/ 1697571 w 1697571"/>
              <a:gd name="connsiteY0" fmla="*/ 2153528 h 2153528"/>
              <a:gd name="connsiteX1" fmla="*/ 0 w 1697571"/>
              <a:gd name="connsiteY1" fmla="*/ 0 h 2153528"/>
              <a:gd name="connsiteX2" fmla="*/ 848769 w 1697571"/>
              <a:gd name="connsiteY2" fmla="*/ 1766295 h 2153528"/>
              <a:gd name="connsiteX3" fmla="*/ 1697571 w 1697571"/>
              <a:gd name="connsiteY3" fmla="*/ 2153528 h 2153528"/>
              <a:gd name="connsiteX0" fmla="*/ 1696077 w 1696077"/>
              <a:gd name="connsiteY0" fmla="*/ 2158010 h 2158010"/>
              <a:gd name="connsiteX1" fmla="*/ 0 w 1696077"/>
              <a:gd name="connsiteY1" fmla="*/ 0 h 2158010"/>
              <a:gd name="connsiteX2" fmla="*/ 847275 w 1696077"/>
              <a:gd name="connsiteY2" fmla="*/ 1770777 h 2158010"/>
              <a:gd name="connsiteX3" fmla="*/ 1696077 w 1696077"/>
              <a:gd name="connsiteY3" fmla="*/ 2158010 h 2158010"/>
              <a:gd name="connsiteX0" fmla="*/ 1697571 w 1697571"/>
              <a:gd name="connsiteY0" fmla="*/ 2165480 h 2165480"/>
              <a:gd name="connsiteX1" fmla="*/ 0 w 1697571"/>
              <a:gd name="connsiteY1" fmla="*/ 0 h 2165480"/>
              <a:gd name="connsiteX2" fmla="*/ 848769 w 1697571"/>
              <a:gd name="connsiteY2" fmla="*/ 1778247 h 2165480"/>
              <a:gd name="connsiteX3" fmla="*/ 1697571 w 1697571"/>
              <a:gd name="connsiteY3" fmla="*/ 2165480 h 2165480"/>
              <a:gd name="connsiteX0" fmla="*/ 3282947 w 3282947"/>
              <a:gd name="connsiteY0" fmla="*/ 0 h 3089360"/>
              <a:gd name="connsiteX1" fmla="*/ 0 w 3282947"/>
              <a:gd name="connsiteY1" fmla="*/ 1311113 h 3089360"/>
              <a:gd name="connsiteX2" fmla="*/ 848769 w 3282947"/>
              <a:gd name="connsiteY2" fmla="*/ 3089360 h 3089360"/>
              <a:gd name="connsiteX3" fmla="*/ 3282947 w 3282947"/>
              <a:gd name="connsiteY3" fmla="*/ 0 h 3089360"/>
              <a:gd name="connsiteX0" fmla="*/ 2434178 w 2434178"/>
              <a:gd name="connsiteY0" fmla="*/ 0 h 3305317"/>
              <a:gd name="connsiteX1" fmla="*/ 724124 w 2434178"/>
              <a:gd name="connsiteY1" fmla="*/ 3305317 h 3305317"/>
              <a:gd name="connsiteX2" fmla="*/ 0 w 2434178"/>
              <a:gd name="connsiteY2" fmla="*/ 3089360 h 3305317"/>
              <a:gd name="connsiteX3" fmla="*/ 2434178 w 2434178"/>
              <a:gd name="connsiteY3" fmla="*/ 0 h 3305317"/>
              <a:gd name="connsiteX0" fmla="*/ 1710054 w 1710054"/>
              <a:gd name="connsiteY0" fmla="*/ 0 h 3305317"/>
              <a:gd name="connsiteX1" fmla="*/ 0 w 1710054"/>
              <a:gd name="connsiteY1" fmla="*/ 3305317 h 3305317"/>
              <a:gd name="connsiteX2" fmla="*/ 848769 w 1710054"/>
              <a:gd name="connsiteY2" fmla="*/ 2359089 h 3305317"/>
              <a:gd name="connsiteX3" fmla="*/ 1710054 w 1710054"/>
              <a:gd name="connsiteY3" fmla="*/ 0 h 3305317"/>
              <a:gd name="connsiteX0" fmla="*/ 1710054 w 1710054"/>
              <a:gd name="connsiteY0" fmla="*/ 0 h 3305317"/>
              <a:gd name="connsiteX1" fmla="*/ 0 w 1710054"/>
              <a:gd name="connsiteY1" fmla="*/ 3305317 h 3305317"/>
              <a:gd name="connsiteX2" fmla="*/ 826210 w 1710054"/>
              <a:gd name="connsiteY2" fmla="*/ 2356081 h 3305317"/>
              <a:gd name="connsiteX3" fmla="*/ 1710054 w 1710054"/>
              <a:gd name="connsiteY3" fmla="*/ 0 h 3305317"/>
              <a:gd name="connsiteX0" fmla="*/ 1747268 w 1747268"/>
              <a:gd name="connsiteY0" fmla="*/ 0 h 3333670"/>
              <a:gd name="connsiteX1" fmla="*/ 0 w 1747268"/>
              <a:gd name="connsiteY1" fmla="*/ 3333670 h 3333670"/>
              <a:gd name="connsiteX2" fmla="*/ 863424 w 1747268"/>
              <a:gd name="connsiteY2" fmla="*/ 2356081 h 3333670"/>
              <a:gd name="connsiteX3" fmla="*/ 1747268 w 1747268"/>
              <a:gd name="connsiteY3" fmla="*/ 0 h 3333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7268" h="3333670">
                <a:moveTo>
                  <a:pt x="1747268" y="0"/>
                </a:moveTo>
                <a:lnTo>
                  <a:pt x="0" y="3333670"/>
                </a:lnTo>
                <a:lnTo>
                  <a:pt x="863424" y="2356081"/>
                </a:lnTo>
                <a:lnTo>
                  <a:pt x="1747268" y="0"/>
                </a:ln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06D2ACB-E942-1C32-C725-BF9945FE2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ある規則とは？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34F6E6-0BF1-C8FF-1191-FD75DB9D208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sp>
        <p:nvSpPr>
          <p:cNvPr id="8" name="二等辺三角形 18">
            <a:extLst>
              <a:ext uri="{FF2B5EF4-FFF2-40B4-BE49-F238E27FC236}">
                <a16:creationId xmlns:a16="http://schemas.microsoft.com/office/drawing/2014/main" id="{32AF7F3F-382C-24C3-16A4-3F34146A9D57}"/>
              </a:ext>
            </a:extLst>
          </p:cNvPr>
          <p:cNvSpPr/>
          <p:nvPr/>
        </p:nvSpPr>
        <p:spPr>
          <a:xfrm>
            <a:off x="3500209" y="1968580"/>
            <a:ext cx="1795332" cy="1744215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33941">
                <a:moveTo>
                  <a:pt x="1707129" y="3333941"/>
                </a:moveTo>
                <a:lnTo>
                  <a:pt x="0" y="1158935"/>
                </a:lnTo>
                <a:lnTo>
                  <a:pt x="3431648" y="0"/>
                </a:lnTo>
                <a:lnTo>
                  <a:pt x="1707129" y="3333941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18">
            <a:extLst>
              <a:ext uri="{FF2B5EF4-FFF2-40B4-BE49-F238E27FC236}">
                <a16:creationId xmlns:a16="http://schemas.microsoft.com/office/drawing/2014/main" id="{797A8374-1BF4-D04F-535C-C6B5B1B24505}"/>
              </a:ext>
            </a:extLst>
          </p:cNvPr>
          <p:cNvSpPr/>
          <p:nvPr/>
        </p:nvSpPr>
        <p:spPr>
          <a:xfrm>
            <a:off x="792599" y="1851029"/>
            <a:ext cx="1795332" cy="17582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9A189AE-3582-9F9D-E4EE-6EB820513195}"/>
              </a:ext>
            </a:extLst>
          </p:cNvPr>
          <p:cNvSpPr txBox="1"/>
          <p:nvPr/>
        </p:nvSpPr>
        <p:spPr>
          <a:xfrm>
            <a:off x="2437513" y="2455968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=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C45A031-54F2-FF96-25DA-9D9B64457020}"/>
              </a:ext>
            </a:extLst>
          </p:cNvPr>
          <p:cNvSpPr txBox="1"/>
          <p:nvPr/>
        </p:nvSpPr>
        <p:spPr>
          <a:xfrm>
            <a:off x="5033304" y="2494577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+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FA6FC9D-3F34-E1DF-A810-B971C4D4C558}"/>
              </a:ext>
            </a:extLst>
          </p:cNvPr>
          <p:cNvSpPr txBox="1"/>
          <p:nvPr/>
        </p:nvSpPr>
        <p:spPr>
          <a:xfrm>
            <a:off x="7891332" y="2495946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+</a:t>
            </a:r>
            <a:endParaRPr kumimoji="1" lang="ja-JP" altLang="en-US" sz="4400">
              <a:latin typeface="+mn-ea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EC34070-0C4C-B757-7F27-87A2FFC7683B}"/>
              </a:ext>
            </a:extLst>
          </p:cNvPr>
          <p:cNvGrpSpPr/>
          <p:nvPr/>
        </p:nvGrpSpPr>
        <p:grpSpPr>
          <a:xfrm>
            <a:off x="792599" y="4384064"/>
            <a:ext cx="4486637" cy="1783947"/>
            <a:chOff x="754499" y="2042031"/>
            <a:chExt cx="4486637" cy="1783947"/>
          </a:xfrm>
        </p:grpSpPr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A5A1E2BF-A4F8-00E2-BF07-78FED1F33DAD}"/>
                </a:ext>
              </a:extLst>
            </p:cNvPr>
            <p:cNvSpPr/>
            <p:nvPr/>
          </p:nvSpPr>
          <p:spPr>
            <a:xfrm>
              <a:off x="3445804" y="2076779"/>
              <a:ext cx="1795332" cy="1749199"/>
            </a:xfrm>
            <a:custGeom>
              <a:avLst/>
              <a:gdLst>
                <a:gd name="connsiteX0" fmla="*/ 3437120 w 3437120"/>
                <a:gd name="connsiteY0" fmla="*/ 0 h 3348798"/>
                <a:gd name="connsiteX1" fmla="*/ 2553276 w 3437120"/>
                <a:gd name="connsiteY1" fmla="*/ 2366773 h 3348798"/>
                <a:gd name="connsiteX2" fmla="*/ 1694335 w 3437120"/>
                <a:gd name="connsiteY2" fmla="*/ 3343699 h 3348798"/>
                <a:gd name="connsiteX3" fmla="*/ 1697571 w 3437120"/>
                <a:gd name="connsiteY3" fmla="*/ 3347845 h 3348798"/>
                <a:gd name="connsiteX4" fmla="*/ 1692666 w 3437120"/>
                <a:gd name="connsiteY4" fmla="*/ 3345598 h 3348798"/>
                <a:gd name="connsiteX5" fmla="*/ 1689852 w 3437120"/>
                <a:gd name="connsiteY5" fmla="*/ 3348798 h 3348798"/>
                <a:gd name="connsiteX6" fmla="*/ 1691743 w 3437120"/>
                <a:gd name="connsiteY6" fmla="*/ 3345175 h 3348798"/>
                <a:gd name="connsiteX7" fmla="*/ 848769 w 3437120"/>
                <a:gd name="connsiteY7" fmla="*/ 2958918 h 3348798"/>
                <a:gd name="connsiteX8" fmla="*/ 0 w 3437120"/>
                <a:gd name="connsiteY8" fmla="*/ 1172888 h 3348798"/>
                <a:gd name="connsiteX9" fmla="*/ 1693243 w 3437120"/>
                <a:gd name="connsiteY9" fmla="*/ 3342300 h 334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7120" h="3348798">
                  <a:moveTo>
                    <a:pt x="3437120" y="0"/>
                  </a:moveTo>
                  <a:lnTo>
                    <a:pt x="2553276" y="2366773"/>
                  </a:lnTo>
                  <a:lnTo>
                    <a:pt x="1694335" y="3343699"/>
                  </a:lnTo>
                  <a:lnTo>
                    <a:pt x="1697571" y="3347845"/>
                  </a:lnTo>
                  <a:lnTo>
                    <a:pt x="1692666" y="3345598"/>
                  </a:lnTo>
                  <a:lnTo>
                    <a:pt x="1689852" y="3348798"/>
                  </a:lnTo>
                  <a:lnTo>
                    <a:pt x="1691743" y="3345175"/>
                  </a:lnTo>
                  <a:lnTo>
                    <a:pt x="848769" y="2958918"/>
                  </a:lnTo>
                  <a:lnTo>
                    <a:pt x="0" y="1172888"/>
                  </a:lnTo>
                  <a:lnTo>
                    <a:pt x="1693243" y="3342300"/>
                  </a:lnTo>
                  <a:close/>
                </a:path>
              </a:pathLst>
            </a:cu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7913A50F-DE2D-3740-C87E-E918121CD131}"/>
                </a:ext>
              </a:extLst>
            </p:cNvPr>
            <p:cNvSpPr txBox="1"/>
            <p:nvPr/>
          </p:nvSpPr>
          <p:spPr>
            <a:xfrm>
              <a:off x="2399413" y="2492701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39" name="二等辺三角形 18">
              <a:extLst>
                <a:ext uri="{FF2B5EF4-FFF2-40B4-BE49-F238E27FC236}">
                  <a16:creationId xmlns:a16="http://schemas.microsoft.com/office/drawing/2014/main" id="{5C1357B8-1A58-173C-48B7-59356DF41360}"/>
                </a:ext>
              </a:extLst>
            </p:cNvPr>
            <p:cNvSpPr/>
            <p:nvPr/>
          </p:nvSpPr>
          <p:spPr>
            <a:xfrm>
              <a:off x="754499" y="2042031"/>
              <a:ext cx="1795332" cy="1744215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33941">
                  <a:moveTo>
                    <a:pt x="1707129" y="3333941"/>
                  </a:moveTo>
                  <a:lnTo>
                    <a:pt x="0" y="1158935"/>
                  </a:lnTo>
                  <a:lnTo>
                    <a:pt x="3431648" y="0"/>
                  </a:lnTo>
                  <a:lnTo>
                    <a:pt x="1707129" y="3333941"/>
                  </a:lnTo>
                  <a:close/>
                </a:path>
              </a:pathLst>
            </a:cu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BF7AF22-358A-CF11-BA24-941E4B57439E}"/>
              </a:ext>
            </a:extLst>
          </p:cNvPr>
          <p:cNvSpPr txBox="1"/>
          <p:nvPr/>
        </p:nvSpPr>
        <p:spPr>
          <a:xfrm>
            <a:off x="4550006" y="4834734"/>
            <a:ext cx="3091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400">
                <a:solidFill>
                  <a:schemeClr val="accent6"/>
                </a:solidFill>
                <a:latin typeface="+mn-ea"/>
              </a:rPr>
              <a:t>×</a:t>
            </a:r>
            <a:r>
              <a:rPr kumimoji="1" lang="ja-JP" altLang="en-US" sz="5400">
                <a:solidFill>
                  <a:schemeClr val="accent6"/>
                </a:solidFill>
                <a:latin typeface="+mn-ea"/>
              </a:rPr>
              <a:t> </a:t>
            </a:r>
            <a:r>
              <a:rPr kumimoji="1" lang="en-US" altLang="ja-JP" sz="5400">
                <a:solidFill>
                  <a:schemeClr val="accent6"/>
                </a:solidFill>
                <a:latin typeface="+mn-ea"/>
              </a:rPr>
              <a:t>4</a:t>
            </a:r>
            <a:endParaRPr kumimoji="1" lang="ja-JP" altLang="en-US" sz="540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A8DF85-D001-EBB2-1591-66B6DB6F3B15}"/>
              </a:ext>
            </a:extLst>
          </p:cNvPr>
          <p:cNvSpPr txBox="1"/>
          <p:nvPr/>
        </p:nvSpPr>
        <p:spPr>
          <a:xfrm>
            <a:off x="10478934" y="2651738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+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B5330D-E74E-562F-294F-6B6FC161AA22}"/>
              </a:ext>
            </a:extLst>
          </p:cNvPr>
          <p:cNvSpPr txBox="1"/>
          <p:nvPr/>
        </p:nvSpPr>
        <p:spPr>
          <a:xfrm>
            <a:off x="11193015" y="2651737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…</a:t>
            </a:r>
            <a:endParaRPr kumimoji="1" lang="ja-JP" altLang="en-US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399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40" grpId="0"/>
      <p:bldP spid="12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48EC-25D4-CCC5-D7F1-92612AAF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55C10A4-8797-3463-9D6E-74A65E4F51DC}"/>
              </a:ext>
            </a:extLst>
          </p:cNvPr>
          <p:cNvGrpSpPr/>
          <p:nvPr/>
        </p:nvGrpSpPr>
        <p:grpSpPr>
          <a:xfrm>
            <a:off x="4501434" y="4159481"/>
            <a:ext cx="1965523" cy="1670778"/>
            <a:chOff x="4501434" y="1946632"/>
            <a:chExt cx="1965523" cy="1670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D1622015-9732-3A1A-EF48-65D8A7E5E3D8}"/>
                    </a:ext>
                  </a:extLst>
                </p:cNvPr>
                <p:cNvSpPr txBox="1"/>
                <p:nvPr/>
              </p:nvSpPr>
              <p:spPr>
                <a:xfrm>
                  <a:off x="5032782" y="1946632"/>
                  <a:ext cx="1434175" cy="1670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ja-JP" sz="5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4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540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D1622015-9732-3A1A-EF48-65D8A7E5E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2782" y="1946632"/>
                  <a:ext cx="1434175" cy="16707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A08F2A7B-135C-5EF7-BF1B-9DA930712E81}"/>
                </a:ext>
              </a:extLst>
            </p:cNvPr>
            <p:cNvSpPr txBox="1"/>
            <p:nvPr/>
          </p:nvSpPr>
          <p:spPr>
            <a:xfrm>
              <a:off x="4501434" y="2534959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+</a:t>
              </a:r>
              <a:endParaRPr kumimoji="1" lang="ja-JP" altLang="en-US" sz="4400">
                <a:latin typeface="+mn-ea"/>
              </a:endParaRPr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63DC4DD8-E9B3-6A00-6915-10426A52C1B1}"/>
              </a:ext>
            </a:extLst>
          </p:cNvPr>
          <p:cNvGrpSpPr/>
          <p:nvPr/>
        </p:nvGrpSpPr>
        <p:grpSpPr>
          <a:xfrm>
            <a:off x="792599" y="1860040"/>
            <a:ext cx="4502942" cy="1870040"/>
            <a:chOff x="792599" y="4209613"/>
            <a:chExt cx="4502942" cy="1870040"/>
          </a:xfrm>
        </p:grpSpPr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F7A5FF74-6155-5A91-746F-54FAC2667540}"/>
                </a:ext>
              </a:extLst>
            </p:cNvPr>
            <p:cNvSpPr/>
            <p:nvPr/>
          </p:nvSpPr>
          <p:spPr>
            <a:xfrm>
              <a:off x="3500209" y="4342362"/>
              <a:ext cx="1795332" cy="1737291"/>
            </a:xfrm>
            <a:custGeom>
              <a:avLst/>
              <a:gdLst>
                <a:gd name="connsiteX0" fmla="*/ 846670 w 3429068"/>
                <a:gd name="connsiteY0" fmla="*/ 2930258 h 3318211"/>
                <a:gd name="connsiteX1" fmla="*/ 1683318 w 3429068"/>
                <a:gd name="connsiteY1" fmla="*/ 3312808 h 3318211"/>
                <a:gd name="connsiteX2" fmla="*/ 1269962 w 3429068"/>
                <a:gd name="connsiteY2" fmla="*/ 3280030 h 3318211"/>
                <a:gd name="connsiteX3" fmla="*/ 2556939 w 3429068"/>
                <a:gd name="connsiteY3" fmla="*/ 2361780 h 3318211"/>
                <a:gd name="connsiteX4" fmla="*/ 2125824 w 3429068"/>
                <a:gd name="connsiteY4" fmla="*/ 2990159 h 3318211"/>
                <a:gd name="connsiteX5" fmla="*/ 1692415 w 3429068"/>
                <a:gd name="connsiteY5" fmla="*/ 3318211 h 3318211"/>
                <a:gd name="connsiteX6" fmla="*/ 0 w 3429068"/>
                <a:gd name="connsiteY6" fmla="*/ 1152419 h 3318211"/>
                <a:gd name="connsiteX7" fmla="*/ 841344 w 3429068"/>
                <a:gd name="connsiteY7" fmla="*/ 2923804 h 3318211"/>
                <a:gd name="connsiteX8" fmla="*/ 419759 w 3429068"/>
                <a:gd name="connsiteY8" fmla="*/ 2201126 h 3318211"/>
                <a:gd name="connsiteX9" fmla="*/ 3429068 w 3429068"/>
                <a:gd name="connsiteY9" fmla="*/ 0 h 3318211"/>
                <a:gd name="connsiteX10" fmla="*/ 3006487 w 3429068"/>
                <a:gd name="connsiteY10" fmla="*/ 1322777 h 3318211"/>
                <a:gd name="connsiteX11" fmla="*/ 2558398 w 3429068"/>
                <a:gd name="connsiteY11" fmla="*/ 2347217 h 3318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29068" h="3318211">
                  <a:moveTo>
                    <a:pt x="846670" y="2930258"/>
                  </a:moveTo>
                  <a:lnTo>
                    <a:pt x="1683318" y="3312808"/>
                  </a:lnTo>
                  <a:lnTo>
                    <a:pt x="1269962" y="3280030"/>
                  </a:lnTo>
                  <a:close/>
                  <a:moveTo>
                    <a:pt x="2556939" y="2361780"/>
                  </a:moveTo>
                  <a:lnTo>
                    <a:pt x="2125824" y="2990159"/>
                  </a:lnTo>
                  <a:lnTo>
                    <a:pt x="1692415" y="3318211"/>
                  </a:lnTo>
                  <a:close/>
                  <a:moveTo>
                    <a:pt x="0" y="1152419"/>
                  </a:moveTo>
                  <a:lnTo>
                    <a:pt x="841344" y="2923804"/>
                  </a:lnTo>
                  <a:lnTo>
                    <a:pt x="419759" y="2201126"/>
                  </a:lnTo>
                  <a:close/>
                  <a:moveTo>
                    <a:pt x="3429068" y="0"/>
                  </a:moveTo>
                  <a:lnTo>
                    <a:pt x="3006487" y="1322777"/>
                  </a:lnTo>
                  <a:lnTo>
                    <a:pt x="2558398" y="2347217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D7471844-ABB3-D5A0-428E-F8160E31ED17}"/>
                </a:ext>
              </a:extLst>
            </p:cNvPr>
            <p:cNvSpPr txBox="1"/>
            <p:nvPr/>
          </p:nvSpPr>
          <p:spPr>
            <a:xfrm>
              <a:off x="2437513" y="4684121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CEE68CF1-9408-04D7-86B0-8511176B64ED}"/>
                </a:ext>
              </a:extLst>
            </p:cNvPr>
            <p:cNvSpPr/>
            <p:nvPr/>
          </p:nvSpPr>
          <p:spPr>
            <a:xfrm>
              <a:off x="792599" y="4209613"/>
              <a:ext cx="1795332" cy="1749199"/>
            </a:xfrm>
            <a:custGeom>
              <a:avLst/>
              <a:gdLst>
                <a:gd name="connsiteX0" fmla="*/ 3437120 w 3437120"/>
                <a:gd name="connsiteY0" fmla="*/ 0 h 3348798"/>
                <a:gd name="connsiteX1" fmla="*/ 2553276 w 3437120"/>
                <a:gd name="connsiteY1" fmla="*/ 2366773 h 3348798"/>
                <a:gd name="connsiteX2" fmla="*/ 1694335 w 3437120"/>
                <a:gd name="connsiteY2" fmla="*/ 3343699 h 3348798"/>
                <a:gd name="connsiteX3" fmla="*/ 1697571 w 3437120"/>
                <a:gd name="connsiteY3" fmla="*/ 3347845 h 3348798"/>
                <a:gd name="connsiteX4" fmla="*/ 1692666 w 3437120"/>
                <a:gd name="connsiteY4" fmla="*/ 3345598 h 3348798"/>
                <a:gd name="connsiteX5" fmla="*/ 1689852 w 3437120"/>
                <a:gd name="connsiteY5" fmla="*/ 3348798 h 3348798"/>
                <a:gd name="connsiteX6" fmla="*/ 1691743 w 3437120"/>
                <a:gd name="connsiteY6" fmla="*/ 3345175 h 3348798"/>
                <a:gd name="connsiteX7" fmla="*/ 848769 w 3437120"/>
                <a:gd name="connsiteY7" fmla="*/ 2958918 h 3348798"/>
                <a:gd name="connsiteX8" fmla="*/ 0 w 3437120"/>
                <a:gd name="connsiteY8" fmla="*/ 1172888 h 3348798"/>
                <a:gd name="connsiteX9" fmla="*/ 1693243 w 3437120"/>
                <a:gd name="connsiteY9" fmla="*/ 3342300 h 334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7120" h="3348798">
                  <a:moveTo>
                    <a:pt x="3437120" y="0"/>
                  </a:moveTo>
                  <a:lnTo>
                    <a:pt x="2553276" y="2366773"/>
                  </a:lnTo>
                  <a:lnTo>
                    <a:pt x="1694335" y="3343699"/>
                  </a:lnTo>
                  <a:lnTo>
                    <a:pt x="1697571" y="3347845"/>
                  </a:lnTo>
                  <a:lnTo>
                    <a:pt x="1692666" y="3345598"/>
                  </a:lnTo>
                  <a:lnTo>
                    <a:pt x="1689852" y="3348798"/>
                  </a:lnTo>
                  <a:lnTo>
                    <a:pt x="1691743" y="3345175"/>
                  </a:lnTo>
                  <a:lnTo>
                    <a:pt x="848769" y="2958918"/>
                  </a:lnTo>
                  <a:lnTo>
                    <a:pt x="0" y="1172888"/>
                  </a:lnTo>
                  <a:lnTo>
                    <a:pt x="1693243" y="3342300"/>
                  </a:lnTo>
                  <a:close/>
                </a:path>
              </a:pathLst>
            </a:cu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タイトル 3">
            <a:extLst>
              <a:ext uri="{FF2B5EF4-FFF2-40B4-BE49-F238E27FC236}">
                <a16:creationId xmlns:a16="http://schemas.microsoft.com/office/drawing/2014/main" id="{86142900-1647-4886-769B-3E8033D5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ある規則とは？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899529-4782-A114-9CE3-BEA3833F034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5A685516-E32E-7827-62FE-D4830FFE8F34}"/>
              </a:ext>
            </a:extLst>
          </p:cNvPr>
          <p:cNvGrpSpPr/>
          <p:nvPr/>
        </p:nvGrpSpPr>
        <p:grpSpPr>
          <a:xfrm>
            <a:off x="259199" y="4200197"/>
            <a:ext cx="4502942" cy="1891364"/>
            <a:chOff x="259199" y="4200197"/>
            <a:chExt cx="4502942" cy="1891364"/>
          </a:xfrm>
        </p:grpSpPr>
        <p:sp>
          <p:nvSpPr>
            <p:cNvPr id="28" name="二等辺三角形 18">
              <a:extLst>
                <a:ext uri="{FF2B5EF4-FFF2-40B4-BE49-F238E27FC236}">
                  <a16:creationId xmlns:a16="http://schemas.microsoft.com/office/drawing/2014/main" id="{1EC7C72B-A8C9-F01A-B02D-9A349725ADC1}"/>
                </a:ext>
              </a:extLst>
            </p:cNvPr>
            <p:cNvSpPr/>
            <p:nvPr/>
          </p:nvSpPr>
          <p:spPr>
            <a:xfrm>
              <a:off x="259199" y="4200197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42872E7D-2A53-03D9-DE56-F5D8E4C2175C}"/>
                </a:ext>
              </a:extLst>
            </p:cNvPr>
            <p:cNvSpPr txBox="1"/>
            <p:nvPr/>
          </p:nvSpPr>
          <p:spPr>
            <a:xfrm>
              <a:off x="1904113" y="4684121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31" name="二等辺三角形 18">
              <a:extLst>
                <a:ext uri="{FF2B5EF4-FFF2-40B4-BE49-F238E27FC236}">
                  <a16:creationId xmlns:a16="http://schemas.microsoft.com/office/drawing/2014/main" id="{8164B01C-DA36-5EE9-E2BF-53D4A26E40CC}"/>
                </a:ext>
              </a:extLst>
            </p:cNvPr>
            <p:cNvSpPr/>
            <p:nvPr/>
          </p:nvSpPr>
          <p:spPr>
            <a:xfrm>
              <a:off x="2966809" y="4347346"/>
              <a:ext cx="1795332" cy="1744215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33941">
                  <a:moveTo>
                    <a:pt x="1707129" y="3333941"/>
                  </a:moveTo>
                  <a:lnTo>
                    <a:pt x="0" y="1158935"/>
                  </a:lnTo>
                  <a:lnTo>
                    <a:pt x="3431648" y="0"/>
                  </a:lnTo>
                  <a:lnTo>
                    <a:pt x="1707129" y="3333941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3" name="左大かっこ 32">
            <a:extLst>
              <a:ext uri="{FF2B5EF4-FFF2-40B4-BE49-F238E27FC236}">
                <a16:creationId xmlns:a16="http://schemas.microsoft.com/office/drawing/2014/main" id="{6DA27AA0-EED7-F162-28F1-627E841F997B}"/>
              </a:ext>
            </a:extLst>
          </p:cNvPr>
          <p:cNvSpPr/>
          <p:nvPr/>
        </p:nvSpPr>
        <p:spPr>
          <a:xfrm>
            <a:off x="6200220" y="4103718"/>
            <a:ext cx="370957" cy="2057619"/>
          </a:xfrm>
          <a:prstGeom prst="leftBracket">
            <a:avLst>
              <a:gd name="adj" fmla="val 327687"/>
            </a:avLst>
          </a:prstGeom>
          <a:ln w="57150"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二等辺三角形 18">
            <a:extLst>
              <a:ext uri="{FF2B5EF4-FFF2-40B4-BE49-F238E27FC236}">
                <a16:creationId xmlns:a16="http://schemas.microsoft.com/office/drawing/2014/main" id="{008D1E73-6DBC-C3EB-9FC9-0662BCE3D56B}"/>
              </a:ext>
            </a:extLst>
          </p:cNvPr>
          <p:cNvSpPr/>
          <p:nvPr/>
        </p:nvSpPr>
        <p:spPr>
          <a:xfrm>
            <a:off x="6526352" y="4347346"/>
            <a:ext cx="1795332" cy="1744215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33941">
                <a:moveTo>
                  <a:pt x="1707129" y="3333941"/>
                </a:moveTo>
                <a:lnTo>
                  <a:pt x="0" y="1158935"/>
                </a:lnTo>
                <a:lnTo>
                  <a:pt x="3431648" y="0"/>
                </a:lnTo>
                <a:lnTo>
                  <a:pt x="1707129" y="3333941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C8FA91F-31EA-F824-7A8C-47662BABD1B7}"/>
              </a:ext>
            </a:extLst>
          </p:cNvPr>
          <p:cNvSpPr txBox="1"/>
          <p:nvPr/>
        </p:nvSpPr>
        <p:spPr>
          <a:xfrm>
            <a:off x="7971295" y="4876494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+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21D0B586-8FF2-209A-2C56-81BCFE9B3F59}"/>
              </a:ext>
            </a:extLst>
          </p:cNvPr>
          <p:cNvSpPr/>
          <p:nvPr/>
        </p:nvSpPr>
        <p:spPr>
          <a:xfrm>
            <a:off x="9015436" y="4342362"/>
            <a:ext cx="1795332" cy="1749199"/>
          </a:xfrm>
          <a:custGeom>
            <a:avLst/>
            <a:gdLst>
              <a:gd name="connsiteX0" fmla="*/ 3437120 w 3437120"/>
              <a:gd name="connsiteY0" fmla="*/ 0 h 3348798"/>
              <a:gd name="connsiteX1" fmla="*/ 2553276 w 3437120"/>
              <a:gd name="connsiteY1" fmla="*/ 2366773 h 3348798"/>
              <a:gd name="connsiteX2" fmla="*/ 1694335 w 3437120"/>
              <a:gd name="connsiteY2" fmla="*/ 3343699 h 3348798"/>
              <a:gd name="connsiteX3" fmla="*/ 1697571 w 3437120"/>
              <a:gd name="connsiteY3" fmla="*/ 3347845 h 3348798"/>
              <a:gd name="connsiteX4" fmla="*/ 1692666 w 3437120"/>
              <a:gd name="connsiteY4" fmla="*/ 3345598 h 3348798"/>
              <a:gd name="connsiteX5" fmla="*/ 1689852 w 3437120"/>
              <a:gd name="connsiteY5" fmla="*/ 3348798 h 3348798"/>
              <a:gd name="connsiteX6" fmla="*/ 1691743 w 3437120"/>
              <a:gd name="connsiteY6" fmla="*/ 3345175 h 3348798"/>
              <a:gd name="connsiteX7" fmla="*/ 848769 w 3437120"/>
              <a:gd name="connsiteY7" fmla="*/ 2958918 h 3348798"/>
              <a:gd name="connsiteX8" fmla="*/ 0 w 3437120"/>
              <a:gd name="connsiteY8" fmla="*/ 1172888 h 3348798"/>
              <a:gd name="connsiteX9" fmla="*/ 1693243 w 3437120"/>
              <a:gd name="connsiteY9" fmla="*/ 3342300 h 334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7120" h="3348798">
                <a:moveTo>
                  <a:pt x="3437120" y="0"/>
                </a:moveTo>
                <a:lnTo>
                  <a:pt x="2553276" y="2366773"/>
                </a:lnTo>
                <a:lnTo>
                  <a:pt x="1694335" y="3343699"/>
                </a:lnTo>
                <a:lnTo>
                  <a:pt x="1697571" y="3347845"/>
                </a:lnTo>
                <a:lnTo>
                  <a:pt x="1692666" y="3345598"/>
                </a:lnTo>
                <a:lnTo>
                  <a:pt x="1689852" y="3348798"/>
                </a:lnTo>
                <a:lnTo>
                  <a:pt x="1691743" y="3345175"/>
                </a:lnTo>
                <a:lnTo>
                  <a:pt x="848769" y="2958918"/>
                </a:lnTo>
                <a:lnTo>
                  <a:pt x="0" y="1172888"/>
                </a:lnTo>
                <a:lnTo>
                  <a:pt x="1693243" y="3342300"/>
                </a:ln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A08C48D-AB52-20AF-45A4-9B694AC9998B}"/>
              </a:ext>
            </a:extLst>
          </p:cNvPr>
          <p:cNvSpPr txBox="1"/>
          <p:nvPr/>
        </p:nvSpPr>
        <p:spPr>
          <a:xfrm>
            <a:off x="10478934" y="4949018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+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4F613D7-63A4-0D74-2EB1-03EB3279D7EF}"/>
              </a:ext>
            </a:extLst>
          </p:cNvPr>
          <p:cNvSpPr txBox="1"/>
          <p:nvPr/>
        </p:nvSpPr>
        <p:spPr>
          <a:xfrm>
            <a:off x="11193015" y="4949017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…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61FAA9-172C-9E47-52CB-2753EF2835C7}"/>
              </a:ext>
            </a:extLst>
          </p:cNvPr>
          <p:cNvSpPr txBox="1"/>
          <p:nvPr/>
        </p:nvSpPr>
        <p:spPr>
          <a:xfrm>
            <a:off x="4550006" y="2422190"/>
            <a:ext cx="3091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400">
                <a:solidFill>
                  <a:schemeClr val="accent6"/>
                </a:solidFill>
                <a:latin typeface="+mn-ea"/>
              </a:rPr>
              <a:t>×</a:t>
            </a:r>
            <a:r>
              <a:rPr kumimoji="1" lang="ja-JP" altLang="en-US" sz="5400">
                <a:solidFill>
                  <a:schemeClr val="accent6"/>
                </a:solidFill>
                <a:latin typeface="+mn-ea"/>
              </a:rPr>
              <a:t> </a:t>
            </a:r>
            <a:r>
              <a:rPr kumimoji="1" lang="en-US" altLang="ja-JP" sz="5400">
                <a:solidFill>
                  <a:schemeClr val="accent6"/>
                </a:solidFill>
                <a:latin typeface="+mn-ea"/>
              </a:rPr>
              <a:t>4</a:t>
            </a:r>
            <a:endParaRPr kumimoji="1" lang="ja-JP" altLang="en-US" sz="540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097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6" grpId="0"/>
      <p:bldP spid="37" grpId="0" animBg="1"/>
      <p:bldP spid="38" grpId="0"/>
      <p:bldP spid="41" grpId="0" uiExpand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2547-1EFC-5E2B-5176-332DE6BE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B50DA5E5-2384-CEA3-64B3-3B49B8D9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ある規則とは？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7658CF-A005-8508-F97F-37A44AAC6D6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DE8C8DD-8DD0-AB7C-044C-3BF38AAC6F2E}"/>
              </a:ext>
            </a:extLst>
          </p:cNvPr>
          <p:cNvCxnSpPr>
            <a:cxnSpLocks/>
          </p:cNvCxnSpPr>
          <p:nvPr/>
        </p:nvCxnSpPr>
        <p:spPr>
          <a:xfrm>
            <a:off x="6670524" y="3971925"/>
            <a:ext cx="5418946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二等辺三角形 18">
            <a:extLst>
              <a:ext uri="{FF2B5EF4-FFF2-40B4-BE49-F238E27FC236}">
                <a16:creationId xmlns:a16="http://schemas.microsoft.com/office/drawing/2014/main" id="{2764C46A-C338-805D-F9FE-216DDE694A84}"/>
              </a:ext>
            </a:extLst>
          </p:cNvPr>
          <p:cNvSpPr/>
          <p:nvPr/>
        </p:nvSpPr>
        <p:spPr>
          <a:xfrm>
            <a:off x="8410245" y="4762614"/>
            <a:ext cx="1795332" cy="17582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354794-53CD-5FA7-FCAD-ED6D4E1E4E73}"/>
              </a:ext>
            </a:extLst>
          </p:cNvPr>
          <p:cNvSpPr txBox="1"/>
          <p:nvPr/>
        </p:nvSpPr>
        <p:spPr>
          <a:xfrm rot="5400000">
            <a:off x="8776563" y="4118553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=</a:t>
            </a:r>
            <a:endParaRPr kumimoji="1" lang="ja-JP" altLang="en-US" sz="4400">
              <a:latin typeface="+mn-ea"/>
            </a:endParaRP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1C429513-A173-2CC8-BC3F-66C0EDF39BC0}"/>
              </a:ext>
            </a:extLst>
          </p:cNvPr>
          <p:cNvGrpSpPr/>
          <p:nvPr/>
        </p:nvGrpSpPr>
        <p:grpSpPr>
          <a:xfrm>
            <a:off x="337808" y="4545938"/>
            <a:ext cx="4037533" cy="2070553"/>
            <a:chOff x="7503459" y="1954600"/>
            <a:chExt cx="4037533" cy="2070553"/>
          </a:xfrm>
        </p:grpSpPr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45A251E7-2CBD-FE68-EC04-5BF389EBC7F0}"/>
                </a:ext>
              </a:extLst>
            </p:cNvPr>
            <p:cNvSpPr/>
            <p:nvPr/>
          </p:nvSpPr>
          <p:spPr>
            <a:xfrm>
              <a:off x="7503459" y="1954600"/>
              <a:ext cx="3801034" cy="207055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二等辺三角形 18">
              <a:extLst>
                <a:ext uri="{FF2B5EF4-FFF2-40B4-BE49-F238E27FC236}">
                  <a16:creationId xmlns:a16="http://schemas.microsoft.com/office/drawing/2014/main" id="{24EBB69E-D31D-0E46-8CA6-1DA52703BDAC}"/>
                </a:ext>
              </a:extLst>
            </p:cNvPr>
            <p:cNvSpPr/>
            <p:nvPr/>
          </p:nvSpPr>
          <p:spPr>
            <a:xfrm>
              <a:off x="7668528" y="2108868"/>
              <a:ext cx="1795332" cy="1744215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33941">
                  <a:moveTo>
                    <a:pt x="1707129" y="3333941"/>
                  </a:moveTo>
                  <a:lnTo>
                    <a:pt x="0" y="1158935"/>
                  </a:lnTo>
                  <a:lnTo>
                    <a:pt x="3431648" y="0"/>
                  </a:lnTo>
                  <a:lnTo>
                    <a:pt x="1707129" y="3333941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18B41B88-3422-421E-E7A1-8A3CFFE30C11}"/>
                </a:ext>
              </a:extLst>
            </p:cNvPr>
            <p:cNvSpPr txBox="1"/>
            <p:nvPr/>
          </p:nvSpPr>
          <p:spPr>
            <a:xfrm>
              <a:off x="9313442" y="2599716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E46C5351-6B39-9020-E8BD-72CAE1BB0ABC}"/>
                </a:ext>
              </a:extLst>
            </p:cNvPr>
            <p:cNvSpPr txBox="1"/>
            <p:nvPr/>
          </p:nvSpPr>
          <p:spPr>
            <a:xfrm>
              <a:off x="9745660" y="2550410"/>
              <a:ext cx="179533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5400">
                  <a:latin typeface="+mn-ea"/>
                </a:rPr>
                <a:t>1</a:t>
              </a:r>
              <a:endParaRPr kumimoji="1" lang="ja-JP" altLang="en-US" sz="5400">
                <a:latin typeface="+mn-ea"/>
              </a:endParaRPr>
            </a:p>
          </p:txBody>
        </p: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5D7A16C5-42CE-9078-561B-75C61168B294}"/>
              </a:ext>
            </a:extLst>
          </p:cNvPr>
          <p:cNvGrpSpPr/>
          <p:nvPr/>
        </p:nvGrpSpPr>
        <p:grpSpPr>
          <a:xfrm>
            <a:off x="259199" y="1902917"/>
            <a:ext cx="4502942" cy="1891364"/>
            <a:chOff x="259199" y="4200197"/>
            <a:chExt cx="4502942" cy="1891364"/>
          </a:xfrm>
        </p:grpSpPr>
        <p:sp>
          <p:nvSpPr>
            <p:cNvPr id="71" name="二等辺三角形 18">
              <a:extLst>
                <a:ext uri="{FF2B5EF4-FFF2-40B4-BE49-F238E27FC236}">
                  <a16:creationId xmlns:a16="http://schemas.microsoft.com/office/drawing/2014/main" id="{1C77C3A8-8265-CFA0-8683-9F3FAA51A880}"/>
                </a:ext>
              </a:extLst>
            </p:cNvPr>
            <p:cNvSpPr/>
            <p:nvPr/>
          </p:nvSpPr>
          <p:spPr>
            <a:xfrm>
              <a:off x="259199" y="4200197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FAF3FDEE-2DFF-950A-28BA-C82552CD23E0}"/>
                </a:ext>
              </a:extLst>
            </p:cNvPr>
            <p:cNvSpPr txBox="1"/>
            <p:nvPr/>
          </p:nvSpPr>
          <p:spPr>
            <a:xfrm>
              <a:off x="1904113" y="4684121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73" name="二等辺三角形 18">
              <a:extLst>
                <a:ext uri="{FF2B5EF4-FFF2-40B4-BE49-F238E27FC236}">
                  <a16:creationId xmlns:a16="http://schemas.microsoft.com/office/drawing/2014/main" id="{581E8F14-DDCE-0343-F2C5-027CD6F518A6}"/>
                </a:ext>
              </a:extLst>
            </p:cNvPr>
            <p:cNvSpPr/>
            <p:nvPr/>
          </p:nvSpPr>
          <p:spPr>
            <a:xfrm>
              <a:off x="2966809" y="4347346"/>
              <a:ext cx="1795332" cy="1744215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33941">
                  <a:moveTo>
                    <a:pt x="1707129" y="3333941"/>
                  </a:moveTo>
                  <a:lnTo>
                    <a:pt x="0" y="1158935"/>
                  </a:lnTo>
                  <a:lnTo>
                    <a:pt x="3431648" y="0"/>
                  </a:lnTo>
                  <a:lnTo>
                    <a:pt x="1707129" y="3333941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33C878E-0826-7DD6-EA98-0356D5816C38}"/>
              </a:ext>
            </a:extLst>
          </p:cNvPr>
          <p:cNvGrpSpPr/>
          <p:nvPr/>
        </p:nvGrpSpPr>
        <p:grpSpPr>
          <a:xfrm>
            <a:off x="4501434" y="1946632"/>
            <a:ext cx="1965523" cy="1670778"/>
            <a:chOff x="4501434" y="1946632"/>
            <a:chExt cx="1965523" cy="1670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0E51CD62-A456-179D-E269-83345862A89A}"/>
                    </a:ext>
                  </a:extLst>
                </p:cNvPr>
                <p:cNvSpPr txBox="1"/>
                <p:nvPr/>
              </p:nvSpPr>
              <p:spPr>
                <a:xfrm>
                  <a:off x="5032782" y="1946632"/>
                  <a:ext cx="1434175" cy="1670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ja-JP" sz="5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4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540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0E51CD62-A456-179D-E269-83345862A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2782" y="1946632"/>
                  <a:ext cx="1434175" cy="16707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112E2EB6-F227-4CD7-0D7B-4FB55E75DB37}"/>
                </a:ext>
              </a:extLst>
            </p:cNvPr>
            <p:cNvSpPr txBox="1"/>
            <p:nvPr/>
          </p:nvSpPr>
          <p:spPr>
            <a:xfrm>
              <a:off x="4501434" y="2534959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+</a:t>
              </a:r>
              <a:endParaRPr kumimoji="1" lang="ja-JP" altLang="en-US" sz="4400">
                <a:latin typeface="+mn-ea"/>
              </a:endParaRPr>
            </a:p>
          </p:txBody>
        </p:sp>
      </p:grpSp>
      <p:sp>
        <p:nvSpPr>
          <p:cNvPr id="77" name="左大かっこ 76">
            <a:extLst>
              <a:ext uri="{FF2B5EF4-FFF2-40B4-BE49-F238E27FC236}">
                <a16:creationId xmlns:a16="http://schemas.microsoft.com/office/drawing/2014/main" id="{E18EFBF9-B562-3661-0749-9CCCEB3EEA8F}"/>
              </a:ext>
            </a:extLst>
          </p:cNvPr>
          <p:cNvSpPr/>
          <p:nvPr/>
        </p:nvSpPr>
        <p:spPr>
          <a:xfrm>
            <a:off x="6155395" y="1890871"/>
            <a:ext cx="370957" cy="2057619"/>
          </a:xfrm>
          <a:prstGeom prst="leftBracket">
            <a:avLst>
              <a:gd name="adj" fmla="val 327687"/>
            </a:avLst>
          </a:prstGeom>
          <a:ln w="57150"/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二等辺三角形 18">
            <a:extLst>
              <a:ext uri="{FF2B5EF4-FFF2-40B4-BE49-F238E27FC236}">
                <a16:creationId xmlns:a16="http://schemas.microsoft.com/office/drawing/2014/main" id="{2E49B76E-F728-5529-570A-490EA8A1C45A}"/>
              </a:ext>
            </a:extLst>
          </p:cNvPr>
          <p:cNvSpPr/>
          <p:nvPr/>
        </p:nvSpPr>
        <p:spPr>
          <a:xfrm>
            <a:off x="6526352" y="2050066"/>
            <a:ext cx="1795332" cy="1744215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33941">
                <a:moveTo>
                  <a:pt x="1707129" y="3333941"/>
                </a:moveTo>
                <a:lnTo>
                  <a:pt x="0" y="1158935"/>
                </a:lnTo>
                <a:lnTo>
                  <a:pt x="3431648" y="0"/>
                </a:lnTo>
                <a:lnTo>
                  <a:pt x="1707129" y="3333941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1AEB79E4-B61F-996E-C894-10478384CAFF}"/>
              </a:ext>
            </a:extLst>
          </p:cNvPr>
          <p:cNvSpPr txBox="1"/>
          <p:nvPr/>
        </p:nvSpPr>
        <p:spPr>
          <a:xfrm>
            <a:off x="7971295" y="2579214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+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80" name="フリーフォーム: 図形 79">
            <a:extLst>
              <a:ext uri="{FF2B5EF4-FFF2-40B4-BE49-F238E27FC236}">
                <a16:creationId xmlns:a16="http://schemas.microsoft.com/office/drawing/2014/main" id="{CADA98F4-F403-B1B6-9388-A1C9B7F3EE73}"/>
              </a:ext>
            </a:extLst>
          </p:cNvPr>
          <p:cNvSpPr/>
          <p:nvPr/>
        </p:nvSpPr>
        <p:spPr>
          <a:xfrm>
            <a:off x="9015436" y="2045082"/>
            <a:ext cx="1795332" cy="1749199"/>
          </a:xfrm>
          <a:custGeom>
            <a:avLst/>
            <a:gdLst>
              <a:gd name="connsiteX0" fmla="*/ 3437120 w 3437120"/>
              <a:gd name="connsiteY0" fmla="*/ 0 h 3348798"/>
              <a:gd name="connsiteX1" fmla="*/ 2553276 w 3437120"/>
              <a:gd name="connsiteY1" fmla="*/ 2366773 h 3348798"/>
              <a:gd name="connsiteX2" fmla="*/ 1694335 w 3437120"/>
              <a:gd name="connsiteY2" fmla="*/ 3343699 h 3348798"/>
              <a:gd name="connsiteX3" fmla="*/ 1697571 w 3437120"/>
              <a:gd name="connsiteY3" fmla="*/ 3347845 h 3348798"/>
              <a:gd name="connsiteX4" fmla="*/ 1692666 w 3437120"/>
              <a:gd name="connsiteY4" fmla="*/ 3345598 h 3348798"/>
              <a:gd name="connsiteX5" fmla="*/ 1689852 w 3437120"/>
              <a:gd name="connsiteY5" fmla="*/ 3348798 h 3348798"/>
              <a:gd name="connsiteX6" fmla="*/ 1691743 w 3437120"/>
              <a:gd name="connsiteY6" fmla="*/ 3345175 h 3348798"/>
              <a:gd name="connsiteX7" fmla="*/ 848769 w 3437120"/>
              <a:gd name="connsiteY7" fmla="*/ 2958918 h 3348798"/>
              <a:gd name="connsiteX8" fmla="*/ 0 w 3437120"/>
              <a:gd name="connsiteY8" fmla="*/ 1172888 h 3348798"/>
              <a:gd name="connsiteX9" fmla="*/ 1693243 w 3437120"/>
              <a:gd name="connsiteY9" fmla="*/ 3342300 h 334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7120" h="3348798">
                <a:moveTo>
                  <a:pt x="3437120" y="0"/>
                </a:moveTo>
                <a:lnTo>
                  <a:pt x="2553276" y="2366773"/>
                </a:lnTo>
                <a:lnTo>
                  <a:pt x="1694335" y="3343699"/>
                </a:lnTo>
                <a:lnTo>
                  <a:pt x="1697571" y="3347845"/>
                </a:lnTo>
                <a:lnTo>
                  <a:pt x="1692666" y="3345598"/>
                </a:lnTo>
                <a:lnTo>
                  <a:pt x="1689852" y="3348798"/>
                </a:lnTo>
                <a:lnTo>
                  <a:pt x="1691743" y="3345175"/>
                </a:lnTo>
                <a:lnTo>
                  <a:pt x="848769" y="2958918"/>
                </a:lnTo>
                <a:lnTo>
                  <a:pt x="0" y="1172888"/>
                </a:lnTo>
                <a:lnTo>
                  <a:pt x="1693243" y="3342300"/>
                </a:lnTo>
                <a:close/>
              </a:path>
            </a:pathLst>
          </a:cu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3988634-7CB6-9EA6-86D8-4D2CBB687268}"/>
              </a:ext>
            </a:extLst>
          </p:cNvPr>
          <p:cNvSpPr txBox="1"/>
          <p:nvPr/>
        </p:nvSpPr>
        <p:spPr>
          <a:xfrm>
            <a:off x="10478934" y="2651738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+</a:t>
            </a:r>
            <a:endParaRPr kumimoji="1" lang="ja-JP" altLang="en-US" sz="4400">
              <a:latin typeface="+mn-ea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DBA4D4C9-0424-058E-835C-9A19377DEB42}"/>
              </a:ext>
            </a:extLst>
          </p:cNvPr>
          <p:cNvSpPr txBox="1"/>
          <p:nvPr/>
        </p:nvSpPr>
        <p:spPr>
          <a:xfrm>
            <a:off x="11193015" y="2651737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>
                <a:latin typeface="+mn-ea"/>
              </a:rPr>
              <a:t>…</a:t>
            </a:r>
            <a:endParaRPr kumimoji="1" lang="ja-JP" altLang="en-US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7580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3062-6CDC-86BE-5E6C-45A23EE6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628E75EE-3EA0-5BD9-3CBA-A9737417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ある規則とは？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15424E-5DF9-1A49-3FA0-FC2E9CAE8B7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4B6D0B21-0E0B-1EEB-7F39-29CC5500DB08}"/>
              </a:ext>
            </a:extLst>
          </p:cNvPr>
          <p:cNvGrpSpPr/>
          <p:nvPr/>
        </p:nvGrpSpPr>
        <p:grpSpPr>
          <a:xfrm>
            <a:off x="754499" y="1895887"/>
            <a:ext cx="4502942" cy="1891364"/>
            <a:chOff x="754499" y="1895887"/>
            <a:chExt cx="4502942" cy="1891364"/>
          </a:xfrm>
        </p:grpSpPr>
        <p:sp>
          <p:nvSpPr>
            <p:cNvPr id="44" name="二等辺三角形 18">
              <a:extLst>
                <a:ext uri="{FF2B5EF4-FFF2-40B4-BE49-F238E27FC236}">
                  <a16:creationId xmlns:a16="http://schemas.microsoft.com/office/drawing/2014/main" id="{F078544E-F37A-EF5F-9558-E4C6EA5A5329}"/>
                </a:ext>
              </a:extLst>
            </p:cNvPr>
            <p:cNvSpPr/>
            <p:nvPr/>
          </p:nvSpPr>
          <p:spPr>
            <a:xfrm>
              <a:off x="754499" y="1895887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901ECE5F-6B5C-A5C7-13F0-1940B562B256}"/>
                </a:ext>
              </a:extLst>
            </p:cNvPr>
            <p:cNvSpPr txBox="1"/>
            <p:nvPr/>
          </p:nvSpPr>
          <p:spPr>
            <a:xfrm>
              <a:off x="2399413" y="2379811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46" name="二等辺三角形 18">
              <a:extLst>
                <a:ext uri="{FF2B5EF4-FFF2-40B4-BE49-F238E27FC236}">
                  <a16:creationId xmlns:a16="http://schemas.microsoft.com/office/drawing/2014/main" id="{CC539F62-EB4C-BCC2-F5B9-31B4710992C2}"/>
                </a:ext>
              </a:extLst>
            </p:cNvPr>
            <p:cNvSpPr/>
            <p:nvPr/>
          </p:nvSpPr>
          <p:spPr>
            <a:xfrm>
              <a:off x="3462109" y="2043036"/>
              <a:ext cx="1795332" cy="1744215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33941">
                  <a:moveTo>
                    <a:pt x="1707129" y="3333941"/>
                  </a:moveTo>
                  <a:lnTo>
                    <a:pt x="0" y="1158935"/>
                  </a:lnTo>
                  <a:lnTo>
                    <a:pt x="3431648" y="0"/>
                  </a:lnTo>
                  <a:lnTo>
                    <a:pt x="1707129" y="3333941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763257EE-0129-E302-AE08-77AC19E974AC}"/>
              </a:ext>
            </a:extLst>
          </p:cNvPr>
          <p:cNvGrpSpPr/>
          <p:nvPr/>
        </p:nvGrpSpPr>
        <p:grpSpPr>
          <a:xfrm>
            <a:off x="4978085" y="1939602"/>
            <a:ext cx="1984172" cy="1670778"/>
            <a:chOff x="4978085" y="1939602"/>
            <a:chExt cx="1984172" cy="1670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1793593A-65E6-B132-6F09-DFC2C5ADEF16}"/>
                    </a:ext>
                  </a:extLst>
                </p:cNvPr>
                <p:cNvSpPr txBox="1"/>
                <p:nvPr/>
              </p:nvSpPr>
              <p:spPr>
                <a:xfrm>
                  <a:off x="5528082" y="1939602"/>
                  <a:ext cx="1434175" cy="1670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ja-JP" sz="5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4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540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1793593A-65E6-B132-6F09-DFC2C5ADEF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8082" y="1939602"/>
                  <a:ext cx="1434175" cy="16707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51B7E70B-15E1-FF98-4D50-9384742ECA9A}"/>
                </a:ext>
              </a:extLst>
            </p:cNvPr>
            <p:cNvSpPr txBox="1"/>
            <p:nvPr/>
          </p:nvSpPr>
          <p:spPr>
            <a:xfrm>
              <a:off x="4978085" y="2524072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+</a:t>
              </a:r>
              <a:endParaRPr kumimoji="1" lang="ja-JP" altLang="en-US" sz="4400">
                <a:latin typeface="+mn-ea"/>
              </a:endParaRPr>
            </a:p>
          </p:txBody>
        </p:sp>
      </p:grpSp>
      <p:sp>
        <p:nvSpPr>
          <p:cNvPr id="48" name="二等辺三角形 18">
            <a:extLst>
              <a:ext uri="{FF2B5EF4-FFF2-40B4-BE49-F238E27FC236}">
                <a16:creationId xmlns:a16="http://schemas.microsoft.com/office/drawing/2014/main" id="{4DE1D9C5-9A33-359C-F572-34A510645C4C}"/>
              </a:ext>
            </a:extLst>
          </p:cNvPr>
          <p:cNvSpPr/>
          <p:nvPr/>
        </p:nvSpPr>
        <p:spPr>
          <a:xfrm>
            <a:off x="6733605" y="2043036"/>
            <a:ext cx="1795332" cy="17582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05429D5-654C-223C-1533-C934EAD54B15}"/>
              </a:ext>
            </a:extLst>
          </p:cNvPr>
          <p:cNvGrpSpPr/>
          <p:nvPr/>
        </p:nvGrpSpPr>
        <p:grpSpPr>
          <a:xfrm>
            <a:off x="607626" y="4188151"/>
            <a:ext cx="2707610" cy="1758210"/>
            <a:chOff x="607626" y="4188151"/>
            <a:chExt cx="2707610" cy="1758210"/>
          </a:xfrm>
        </p:grpSpPr>
        <p:sp>
          <p:nvSpPr>
            <p:cNvPr id="63" name="二等辺三角形 18">
              <a:extLst>
                <a:ext uri="{FF2B5EF4-FFF2-40B4-BE49-F238E27FC236}">
                  <a16:creationId xmlns:a16="http://schemas.microsoft.com/office/drawing/2014/main" id="{20F3F3A4-A851-E449-076D-A99649EBB494}"/>
                </a:ext>
              </a:extLst>
            </p:cNvPr>
            <p:cNvSpPr/>
            <p:nvPr/>
          </p:nvSpPr>
          <p:spPr>
            <a:xfrm>
              <a:off x="607626" y="4188151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A1F2D127-8C47-6CCE-0849-09F622E41E07}"/>
                </a:ext>
              </a:extLst>
            </p:cNvPr>
            <p:cNvSpPr txBox="1"/>
            <p:nvPr/>
          </p:nvSpPr>
          <p:spPr>
            <a:xfrm>
              <a:off x="2252540" y="4672075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223AA91-78F5-1179-482F-4E7A5D9AAFF3}"/>
              </a:ext>
            </a:extLst>
          </p:cNvPr>
          <p:cNvGrpSpPr/>
          <p:nvPr/>
        </p:nvGrpSpPr>
        <p:grpSpPr>
          <a:xfrm>
            <a:off x="4849861" y="4231866"/>
            <a:ext cx="3532203" cy="1861644"/>
            <a:chOff x="4849861" y="4231866"/>
            <a:chExt cx="3532203" cy="1861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EE7469FB-CD29-8413-E9FF-FAB229D9322D}"/>
                    </a:ext>
                  </a:extLst>
                </p:cNvPr>
                <p:cNvSpPr txBox="1"/>
                <p:nvPr/>
              </p:nvSpPr>
              <p:spPr>
                <a:xfrm>
                  <a:off x="5381209" y="4231866"/>
                  <a:ext cx="1434175" cy="1670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ja-JP" sz="5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4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540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EE7469FB-CD29-8413-E9FF-FAB229D93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1209" y="4231866"/>
                  <a:ext cx="1434175" cy="16707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10ADC508-1E3A-EAAF-2EB6-B46321EF7347}"/>
                </a:ext>
              </a:extLst>
            </p:cNvPr>
            <p:cNvSpPr txBox="1"/>
            <p:nvPr/>
          </p:nvSpPr>
          <p:spPr>
            <a:xfrm>
              <a:off x="4849861" y="4825921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+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67" name="二等辺三角形 18">
              <a:extLst>
                <a:ext uri="{FF2B5EF4-FFF2-40B4-BE49-F238E27FC236}">
                  <a16:creationId xmlns:a16="http://schemas.microsoft.com/office/drawing/2014/main" id="{F8685BC3-6B88-D0C2-C39B-B6626BD978B5}"/>
                </a:ext>
              </a:extLst>
            </p:cNvPr>
            <p:cNvSpPr/>
            <p:nvPr/>
          </p:nvSpPr>
          <p:spPr>
            <a:xfrm>
              <a:off x="6586732" y="4335300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5" name="二等辺三角形 18">
            <a:extLst>
              <a:ext uri="{FF2B5EF4-FFF2-40B4-BE49-F238E27FC236}">
                <a16:creationId xmlns:a16="http://schemas.microsoft.com/office/drawing/2014/main" id="{7D03265C-88A6-54E9-5A4D-A8CA543BF807}"/>
              </a:ext>
            </a:extLst>
          </p:cNvPr>
          <p:cNvSpPr/>
          <p:nvPr/>
        </p:nvSpPr>
        <p:spPr>
          <a:xfrm>
            <a:off x="3315236" y="4335300"/>
            <a:ext cx="1795332" cy="1744215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33941">
                <a:moveTo>
                  <a:pt x="1707129" y="3333941"/>
                </a:moveTo>
                <a:lnTo>
                  <a:pt x="0" y="1158935"/>
                </a:lnTo>
                <a:lnTo>
                  <a:pt x="3431648" y="0"/>
                </a:lnTo>
                <a:lnTo>
                  <a:pt x="1707129" y="3333941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5A3FE1B-52DB-38D3-E09A-B65DEADFAC66}"/>
              </a:ext>
            </a:extLst>
          </p:cNvPr>
          <p:cNvSpPr txBox="1"/>
          <p:nvPr/>
        </p:nvSpPr>
        <p:spPr>
          <a:xfrm>
            <a:off x="3510426" y="4682534"/>
            <a:ext cx="1434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400">
                <a:latin typeface="+mn-ea"/>
              </a:rPr>
              <a:t>1</a:t>
            </a:r>
            <a:endParaRPr kumimoji="1" lang="ja-JP" altLang="en-US" sz="5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4706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">
        <p159:morph option="byObject"/>
      </p:transition>
    </mc:Choice>
    <mc:Fallback xmlns="">
      <p:transition spd="slow" advTm="4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4EFE-21B4-3FD3-EDF2-9ABAB202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E7CFBC3-03AF-1551-1155-7DA92F15E615}"/>
              </a:ext>
            </a:extLst>
          </p:cNvPr>
          <p:cNvGrpSpPr/>
          <p:nvPr/>
        </p:nvGrpSpPr>
        <p:grpSpPr>
          <a:xfrm>
            <a:off x="4112026" y="1900676"/>
            <a:ext cx="3532203" cy="1861644"/>
            <a:chOff x="4849861" y="4231866"/>
            <a:chExt cx="3532203" cy="1861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9885FAA8-5797-D2A3-E0EA-B43F3A85231E}"/>
                    </a:ext>
                  </a:extLst>
                </p:cNvPr>
                <p:cNvSpPr txBox="1"/>
                <p:nvPr/>
              </p:nvSpPr>
              <p:spPr>
                <a:xfrm>
                  <a:off x="5381209" y="4231866"/>
                  <a:ext cx="1434175" cy="1670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ja-JP" sz="5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4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540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9885FAA8-5797-D2A3-E0EA-B43F3A852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1209" y="4231866"/>
                  <a:ext cx="1434175" cy="16707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E29E78A2-87C8-DDA7-703F-DA808AC84705}"/>
                </a:ext>
              </a:extLst>
            </p:cNvPr>
            <p:cNvSpPr txBox="1"/>
            <p:nvPr/>
          </p:nvSpPr>
          <p:spPr>
            <a:xfrm>
              <a:off x="4849861" y="4815884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+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14" name="二等辺三角形 18">
              <a:extLst>
                <a:ext uri="{FF2B5EF4-FFF2-40B4-BE49-F238E27FC236}">
                  <a16:creationId xmlns:a16="http://schemas.microsoft.com/office/drawing/2014/main" id="{DCDA67AD-F7A3-78A7-A03E-94721C62879F}"/>
                </a:ext>
              </a:extLst>
            </p:cNvPr>
            <p:cNvSpPr/>
            <p:nvPr/>
          </p:nvSpPr>
          <p:spPr>
            <a:xfrm>
              <a:off x="6586732" y="4335300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タイトル 3">
            <a:extLst>
              <a:ext uri="{FF2B5EF4-FFF2-40B4-BE49-F238E27FC236}">
                <a16:creationId xmlns:a16="http://schemas.microsoft.com/office/drawing/2014/main" id="{C93697FC-CEB3-F313-5DAD-8A6C4349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ある規則とは？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42B927-19A6-387C-B596-B60232E284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8378249-00C1-F185-E371-3E4BBD87D7C3}"/>
              </a:ext>
            </a:extLst>
          </p:cNvPr>
          <p:cNvGrpSpPr/>
          <p:nvPr/>
        </p:nvGrpSpPr>
        <p:grpSpPr>
          <a:xfrm>
            <a:off x="754499" y="1900676"/>
            <a:ext cx="2707610" cy="1758210"/>
            <a:chOff x="754499" y="1900676"/>
            <a:chExt cx="2707610" cy="1758210"/>
          </a:xfrm>
        </p:grpSpPr>
        <p:sp>
          <p:nvSpPr>
            <p:cNvPr id="29" name="二等辺三角形 18">
              <a:extLst>
                <a:ext uri="{FF2B5EF4-FFF2-40B4-BE49-F238E27FC236}">
                  <a16:creationId xmlns:a16="http://schemas.microsoft.com/office/drawing/2014/main" id="{393DB7B7-BE00-7B7B-76AB-E7730866A56D}"/>
                </a:ext>
              </a:extLst>
            </p:cNvPr>
            <p:cNvSpPr/>
            <p:nvPr/>
          </p:nvSpPr>
          <p:spPr>
            <a:xfrm>
              <a:off x="754499" y="1900676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AB50817-8008-1B84-9891-25B45C135009}"/>
                </a:ext>
              </a:extLst>
            </p:cNvPr>
            <p:cNvSpPr txBox="1"/>
            <p:nvPr/>
          </p:nvSpPr>
          <p:spPr>
            <a:xfrm>
              <a:off x="2399413" y="2384600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</p:grp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304537F-5687-9E61-1DCB-9D26776DC249}"/>
              </a:ext>
            </a:extLst>
          </p:cNvPr>
          <p:cNvSpPr txBox="1"/>
          <p:nvPr/>
        </p:nvSpPr>
        <p:spPr>
          <a:xfrm>
            <a:off x="3209199" y="2318114"/>
            <a:ext cx="1434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400">
                <a:latin typeface="+mn-ea"/>
              </a:rPr>
              <a:t>1</a:t>
            </a:r>
            <a:endParaRPr kumimoji="1" lang="ja-JP" altLang="en-US" sz="5400">
              <a:latin typeface="+mn-ea"/>
            </a:endParaRPr>
          </a:p>
        </p:txBody>
      </p:sp>
      <p:sp>
        <p:nvSpPr>
          <p:cNvPr id="2" name="二等辺三角形 18">
            <a:extLst>
              <a:ext uri="{FF2B5EF4-FFF2-40B4-BE49-F238E27FC236}">
                <a16:creationId xmlns:a16="http://schemas.microsoft.com/office/drawing/2014/main" id="{837F4BC5-E9E1-F9FF-D4D9-210A4843B2CC}"/>
              </a:ext>
            </a:extLst>
          </p:cNvPr>
          <p:cNvSpPr/>
          <p:nvPr/>
        </p:nvSpPr>
        <p:spPr>
          <a:xfrm>
            <a:off x="607626" y="4188151"/>
            <a:ext cx="1795332" cy="17582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249277-A1BE-A00C-9BA4-C5506CD71CB4}"/>
              </a:ext>
            </a:extLst>
          </p:cNvPr>
          <p:cNvSpPr txBox="1"/>
          <p:nvPr/>
        </p:nvSpPr>
        <p:spPr>
          <a:xfrm>
            <a:off x="2146503" y="4758911"/>
            <a:ext cx="1062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>
                <a:latin typeface="+mn-ea"/>
              </a:rPr>
              <a:t>−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D19F1912-BFFC-C403-2929-8043F7B7DC56}"/>
              </a:ext>
            </a:extLst>
          </p:cNvPr>
          <p:cNvGrpSpPr/>
          <p:nvPr/>
        </p:nvGrpSpPr>
        <p:grpSpPr>
          <a:xfrm>
            <a:off x="5715171" y="4742709"/>
            <a:ext cx="2243961" cy="923330"/>
            <a:chOff x="5715171" y="4742709"/>
            <a:chExt cx="2243961" cy="923330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A8490246-7FD2-D63E-1CBE-E80975B71024}"/>
                </a:ext>
              </a:extLst>
            </p:cNvPr>
            <p:cNvSpPr txBox="1"/>
            <p:nvPr/>
          </p:nvSpPr>
          <p:spPr>
            <a:xfrm>
              <a:off x="5715171" y="4809195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1878A4A-D355-CB2F-235B-73CB4CC39501}"/>
                </a:ext>
              </a:extLst>
            </p:cNvPr>
            <p:cNvSpPr txBox="1"/>
            <p:nvPr/>
          </p:nvSpPr>
          <p:spPr>
            <a:xfrm>
              <a:off x="6524957" y="4742709"/>
              <a:ext cx="14341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5400">
                  <a:latin typeface="+mn-ea"/>
                </a:rPr>
                <a:t>1</a:t>
              </a:r>
              <a:endParaRPr kumimoji="1" lang="ja-JP" altLang="en-US" sz="540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D90DD4A-623B-11F4-21D5-51E8C0F183C7}"/>
                  </a:ext>
                </a:extLst>
              </p:cNvPr>
              <p:cNvSpPr txBox="1"/>
              <p:nvPr/>
            </p:nvSpPr>
            <p:spPr>
              <a:xfrm>
                <a:off x="2798695" y="4188151"/>
                <a:ext cx="1434175" cy="1670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5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ja-JP" sz="5400" b="0" i="0" smtClean="0"/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ja-JP" sz="5400" b="0" i="0" smtClean="0"/>
                            <m:t>4</m:t>
                          </m:r>
                        </m:den>
                      </m:f>
                    </m:oMath>
                  </m:oMathPara>
                </a14:m>
                <a:endParaRPr kumimoji="1" lang="ja-JP" altLang="en-US" sz="5400">
                  <a:latin typeface="+mn-ea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D90DD4A-623B-11F4-21D5-51E8C0F18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695" y="4188151"/>
                <a:ext cx="1434175" cy="16707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二等辺三角形 18">
            <a:extLst>
              <a:ext uri="{FF2B5EF4-FFF2-40B4-BE49-F238E27FC236}">
                <a16:creationId xmlns:a16="http://schemas.microsoft.com/office/drawing/2014/main" id="{6E475547-50C4-DEFD-6D98-1E3FE4D2CEE1}"/>
              </a:ext>
            </a:extLst>
          </p:cNvPr>
          <p:cNvSpPr/>
          <p:nvPr/>
        </p:nvSpPr>
        <p:spPr>
          <a:xfrm>
            <a:off x="3925837" y="4296995"/>
            <a:ext cx="1795332" cy="17582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979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">
        <p159:morph option="byObject"/>
      </p:transition>
    </mc:Choice>
    <mc:Fallback xmlns="">
      <p:transition spd="slow" advTm="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8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33C4-2C9B-EB6D-9552-B6F57282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9273735D-4768-1972-50C1-4FF63200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ある規則とは？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0B3BDD-AE6A-7A3A-E59F-E69C74E1BFF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39A76BB-691D-63DB-CAA7-B7E81459F2DD}"/>
              </a:ext>
            </a:extLst>
          </p:cNvPr>
          <p:cNvGrpSpPr/>
          <p:nvPr/>
        </p:nvGrpSpPr>
        <p:grpSpPr>
          <a:xfrm>
            <a:off x="3650906" y="2359306"/>
            <a:ext cx="2243961" cy="923330"/>
            <a:chOff x="3650906" y="2359306"/>
            <a:chExt cx="2243961" cy="923330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BBCEE194-CD60-4EA5-F8B5-6553BB34013F}"/>
                </a:ext>
              </a:extLst>
            </p:cNvPr>
            <p:cNvSpPr txBox="1"/>
            <p:nvPr/>
          </p:nvSpPr>
          <p:spPr>
            <a:xfrm>
              <a:off x="3650906" y="2425792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25B0555-C612-E0E5-6389-FDCB26FE0DC1}"/>
                </a:ext>
              </a:extLst>
            </p:cNvPr>
            <p:cNvSpPr txBox="1"/>
            <p:nvPr/>
          </p:nvSpPr>
          <p:spPr>
            <a:xfrm>
              <a:off x="4460692" y="2359306"/>
              <a:ext cx="14341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5400">
                  <a:latin typeface="+mn-ea"/>
                </a:rPr>
                <a:t>1</a:t>
              </a:r>
              <a:endParaRPr kumimoji="1" lang="ja-JP" altLang="en-US" sz="540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E8F64C8-4FB3-000E-BEB9-A0B413DCD7EF}"/>
                  </a:ext>
                </a:extLst>
              </p:cNvPr>
              <p:cNvSpPr txBox="1"/>
              <p:nvPr/>
            </p:nvSpPr>
            <p:spPr>
              <a:xfrm>
                <a:off x="734430" y="1804748"/>
                <a:ext cx="1434175" cy="1707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5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ja-JP" sz="5400" b="0" i="0" smtClean="0"/>
                            <m:t>3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ja-JP" sz="5400" b="0" i="0" smtClean="0"/>
                            <m:t>4</m:t>
                          </m:r>
                        </m:den>
                      </m:f>
                    </m:oMath>
                  </m:oMathPara>
                </a14:m>
                <a:endParaRPr kumimoji="1" lang="ja-JP" altLang="en-US" sz="540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E8F64C8-4FB3-000E-BEB9-A0B413DCD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" y="1804748"/>
                <a:ext cx="1434175" cy="17074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二等辺三角形 18">
            <a:extLst>
              <a:ext uri="{FF2B5EF4-FFF2-40B4-BE49-F238E27FC236}">
                <a16:creationId xmlns:a16="http://schemas.microsoft.com/office/drawing/2014/main" id="{D44BAAB4-01A9-3D2A-E517-B70AB3E7C9CC}"/>
              </a:ext>
            </a:extLst>
          </p:cNvPr>
          <p:cNvSpPr/>
          <p:nvPr/>
        </p:nvSpPr>
        <p:spPr>
          <a:xfrm>
            <a:off x="1861572" y="1913592"/>
            <a:ext cx="1795332" cy="17582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D3D0CF6-7348-A70E-8FFC-A058F6382F04}"/>
              </a:ext>
            </a:extLst>
          </p:cNvPr>
          <p:cNvGrpSpPr/>
          <p:nvPr/>
        </p:nvGrpSpPr>
        <p:grpSpPr>
          <a:xfrm>
            <a:off x="1104752" y="4184002"/>
            <a:ext cx="3980329" cy="1809984"/>
            <a:chOff x="1104752" y="4184002"/>
            <a:chExt cx="3980329" cy="1809984"/>
          </a:xfrm>
        </p:grpSpPr>
        <p:sp>
          <p:nvSpPr>
            <p:cNvPr id="14" name="二等辺三角形 18">
              <a:extLst>
                <a:ext uri="{FF2B5EF4-FFF2-40B4-BE49-F238E27FC236}">
                  <a16:creationId xmlns:a16="http://schemas.microsoft.com/office/drawing/2014/main" id="{2151C82F-DE05-CE6A-1B92-4AA42B879AE7}"/>
                </a:ext>
              </a:extLst>
            </p:cNvPr>
            <p:cNvSpPr/>
            <p:nvPr/>
          </p:nvSpPr>
          <p:spPr>
            <a:xfrm>
              <a:off x="1104752" y="4235776"/>
              <a:ext cx="1795332" cy="1758210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A8E51DD8-A87E-5A09-6034-BF83ED1BFBB1}"/>
                </a:ext>
              </a:extLst>
            </p:cNvPr>
            <p:cNvSpPr txBox="1"/>
            <p:nvPr/>
          </p:nvSpPr>
          <p:spPr>
            <a:xfrm>
              <a:off x="2896539" y="4730160"/>
              <a:ext cx="106269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>
                  <a:latin typeface="+mn-ea"/>
                </a:rPr>
                <a:t>=</a:t>
              </a:r>
              <a:endParaRPr kumimoji="1" lang="ja-JP" altLang="en-US" sz="440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BBE27F1D-3CCF-F49F-234E-6C4DC75FEE06}"/>
                    </a:ext>
                  </a:extLst>
                </p:cNvPr>
                <p:cNvSpPr txBox="1"/>
                <p:nvPr/>
              </p:nvSpPr>
              <p:spPr>
                <a:xfrm>
                  <a:off x="3650906" y="4184002"/>
                  <a:ext cx="1434175" cy="1707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ja-JP" sz="5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4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1" lang="en-US" altLang="ja-JP" sz="5400" b="0" i="0" smtClean="0"/>
                              <m:t>3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5400"/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BBE27F1D-3CCF-F49F-234E-6C4DC75FE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0906" y="4184002"/>
                  <a:ext cx="1434175" cy="17074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828EB58-7670-2403-CA73-639279F1BCE0}"/>
              </a:ext>
            </a:extLst>
          </p:cNvPr>
          <p:cNvGrpSpPr/>
          <p:nvPr/>
        </p:nvGrpSpPr>
        <p:grpSpPr>
          <a:xfrm>
            <a:off x="6096000" y="5114880"/>
            <a:ext cx="6055069" cy="1266629"/>
            <a:chOff x="6096000" y="5114880"/>
            <a:chExt cx="6055069" cy="1266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7B7CBFF7-DAAC-E8FA-B8E3-FD152ED59E0C}"/>
                    </a:ext>
                  </a:extLst>
                </p:cNvPr>
                <p:cNvSpPr txBox="1"/>
                <p:nvPr/>
              </p:nvSpPr>
              <p:spPr>
                <a:xfrm>
                  <a:off x="6096000" y="5114880"/>
                  <a:ext cx="6055069" cy="12666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ja-JP" altLang="en-US" sz="4000" i="1">
                            <a:latin typeface="Cambria Math" panose="02040503050406030204" pitchFamily="18" charset="0"/>
                          </a:rPr>
                          <m:t>よって</m:t>
                        </m:r>
                        <m:r>
                          <a:rPr kumimoji="1" lang="ja-JP" altLang="en-US" sz="4000" i="1" smtClean="0">
                            <a:latin typeface="Cambria Math" panose="02040503050406030204" pitchFamily="18" charset="0"/>
                          </a:rPr>
                          <m:t>　</m:t>
                        </m:r>
                        <m:r>
                          <a:rPr kumimoji="1" lang="ja-JP" altLang="en-US" sz="4000" i="1">
                            <a:latin typeface="Cambria Math" panose="02040503050406030204" pitchFamily="18" charset="0"/>
                          </a:rPr>
                          <m:t>　</m:t>
                        </m:r>
                        <m:r>
                          <a:rPr kumimoji="1" lang="ja-JP" altLang="en-US" sz="4000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kumimoji="1" lang="ja-JP" altLang="en-US" sz="4000" i="1">
                            <a:latin typeface="Cambria Math" panose="02040503050406030204" pitchFamily="18" charset="0"/>
                          </a:rPr>
                          <m:t>面積は</m:t>
                        </m:r>
                        <m:f>
                          <m:fPr>
                            <m:ctrlPr>
                              <a:rPr kumimoji="1" lang="en-US" altLang="ja-JP" sz="4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ja-JP" sz="4000" b="0" i="0" smtClean="0"/>
                              <m:t>4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1" lang="en-US" altLang="ja-JP" sz="4000" b="0" i="0" smtClean="0"/>
                              <m:t>3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4000"/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7B7CBFF7-DAAC-E8FA-B8E3-FD152ED59E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114880"/>
                  <a:ext cx="6055069" cy="126662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二等辺三角形 18">
              <a:extLst>
                <a:ext uri="{FF2B5EF4-FFF2-40B4-BE49-F238E27FC236}">
                  <a16:creationId xmlns:a16="http://schemas.microsoft.com/office/drawing/2014/main" id="{7EE64843-AECC-C691-604A-0ACF123B2A32}"/>
                </a:ext>
              </a:extLst>
            </p:cNvPr>
            <p:cNvSpPr/>
            <p:nvPr/>
          </p:nvSpPr>
          <p:spPr>
            <a:xfrm>
              <a:off x="8127959" y="5275282"/>
              <a:ext cx="1024150" cy="1002974"/>
            </a:xfrm>
            <a:custGeom>
              <a:avLst/>
              <a:gdLst>
                <a:gd name="connsiteX0" fmla="*/ 0 w 349624"/>
                <a:gd name="connsiteY0" fmla="*/ 318887 h 318887"/>
                <a:gd name="connsiteX1" fmla="*/ 174812 w 349624"/>
                <a:gd name="connsiteY1" fmla="*/ 0 h 318887"/>
                <a:gd name="connsiteX2" fmla="*/ 349624 w 349624"/>
                <a:gd name="connsiteY2" fmla="*/ 318887 h 318887"/>
                <a:gd name="connsiteX3" fmla="*/ 0 w 349624"/>
                <a:gd name="connsiteY3" fmla="*/ 318887 h 318887"/>
                <a:gd name="connsiteX0" fmla="*/ 0 w 3031351"/>
                <a:gd name="connsiteY0" fmla="*/ 522514 h 522514"/>
                <a:gd name="connsiteX1" fmla="*/ 174812 w 3031351"/>
                <a:gd name="connsiteY1" fmla="*/ 203627 h 522514"/>
                <a:gd name="connsiteX2" fmla="*/ 3031351 w 3031351"/>
                <a:gd name="connsiteY2" fmla="*/ 0 h 522514"/>
                <a:gd name="connsiteX3" fmla="*/ 0 w 3031351"/>
                <a:gd name="connsiteY3" fmla="*/ 522514 h 522514"/>
                <a:gd name="connsiteX0" fmla="*/ 1100738 w 2856539"/>
                <a:gd name="connsiteY0" fmla="*/ 3319503 h 3319503"/>
                <a:gd name="connsiteX1" fmla="*/ 0 w 2856539"/>
                <a:gd name="connsiteY1" fmla="*/ 203627 h 3319503"/>
                <a:gd name="connsiteX2" fmla="*/ 2856539 w 2856539"/>
                <a:gd name="connsiteY2" fmla="*/ 0 h 3319503"/>
                <a:gd name="connsiteX3" fmla="*/ 1100738 w 2856539"/>
                <a:gd name="connsiteY3" fmla="*/ 3319503 h 3319503"/>
                <a:gd name="connsiteX0" fmla="*/ 1707129 w 3462930"/>
                <a:gd name="connsiteY0" fmla="*/ 3319503 h 3319503"/>
                <a:gd name="connsiteX1" fmla="*/ 0 w 3462930"/>
                <a:gd name="connsiteY1" fmla="*/ 1144497 h 3319503"/>
                <a:gd name="connsiteX2" fmla="*/ 3462930 w 3462930"/>
                <a:gd name="connsiteY2" fmla="*/ 0 h 3319503"/>
                <a:gd name="connsiteX3" fmla="*/ 1707129 w 3462930"/>
                <a:gd name="connsiteY3" fmla="*/ 3319503 h 3319503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33941"/>
                <a:gd name="connsiteX1" fmla="*/ 0 w 3431648"/>
                <a:gd name="connsiteY1" fmla="*/ 1158935 h 3333941"/>
                <a:gd name="connsiteX2" fmla="*/ 3431648 w 3431648"/>
                <a:gd name="connsiteY2" fmla="*/ 0 h 3333941"/>
                <a:gd name="connsiteX3" fmla="*/ 1707129 w 3431648"/>
                <a:gd name="connsiteY3" fmla="*/ 3333941 h 333394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  <a:gd name="connsiteX0" fmla="*/ 1707129 w 3431648"/>
                <a:gd name="connsiteY0" fmla="*/ 3333941 h 3360691"/>
                <a:gd name="connsiteX1" fmla="*/ 0 w 3431648"/>
                <a:gd name="connsiteY1" fmla="*/ 1158935 h 3360691"/>
                <a:gd name="connsiteX2" fmla="*/ 3431648 w 3431648"/>
                <a:gd name="connsiteY2" fmla="*/ 0 h 3360691"/>
                <a:gd name="connsiteX3" fmla="*/ 1707129 w 3431648"/>
                <a:gd name="connsiteY3" fmla="*/ 3333941 h 3360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648" h="3360691">
                  <a:moveTo>
                    <a:pt x="1707129" y="3333941"/>
                  </a:moveTo>
                  <a:cubicBezTo>
                    <a:pt x="1196254" y="3502398"/>
                    <a:pt x="513201" y="2886753"/>
                    <a:pt x="0" y="1158935"/>
                  </a:cubicBezTo>
                  <a:lnTo>
                    <a:pt x="3431648" y="0"/>
                  </a:lnTo>
                  <a:cubicBezTo>
                    <a:pt x="2994085" y="1348639"/>
                    <a:pt x="2577463" y="2881088"/>
                    <a:pt x="1707129" y="3333941"/>
                  </a:cubicBez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二等辺三角形 18">
            <a:extLst>
              <a:ext uri="{FF2B5EF4-FFF2-40B4-BE49-F238E27FC236}">
                <a16:creationId xmlns:a16="http://schemas.microsoft.com/office/drawing/2014/main" id="{7A7D8245-5F97-EE6C-1093-9CF5E77FBA96}"/>
              </a:ext>
            </a:extLst>
          </p:cNvPr>
          <p:cNvSpPr/>
          <p:nvPr/>
        </p:nvSpPr>
        <p:spPr>
          <a:xfrm>
            <a:off x="1855574" y="1913592"/>
            <a:ext cx="1795332" cy="17582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975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9F332518-6D89-1E6A-ABCF-570EDFF3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二次曲線函数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3884B8F-E287-1CB1-FCA3-6E6EA4781E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>
                <a:hlinkClick r:id="rId2"/>
              </a:rPr>
              <a:t>https://www.nli-research.co.jp/report/detail/id=76426</a:t>
            </a:r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FAF9AA-20A0-4B77-3AF0-3C5441724BA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E693C3A-4A85-7DA1-A1A1-A7B624BEE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879" y="1922421"/>
            <a:ext cx="3598910" cy="4275721"/>
          </a:xfrm>
          <a:prstGeom prst="rect">
            <a:avLst/>
          </a:prstGeom>
        </p:spPr>
      </p:pic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685714CB-B421-01EA-45AF-5EC28B77C688}"/>
              </a:ext>
            </a:extLst>
          </p:cNvPr>
          <p:cNvSpPr txBox="1">
            <a:spLocks/>
          </p:cNvSpPr>
          <p:nvPr/>
        </p:nvSpPr>
        <p:spPr>
          <a:xfrm>
            <a:off x="6180667" y="1262563"/>
            <a:ext cx="5981829" cy="5595437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古代ギリシャ人は，円，楕円，放物線は円錐の　断面であった．</a:t>
            </a:r>
            <a:endParaRPr lang="en-US" altLang="ja-JP" dirty="0"/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この面積を求めることに精を出していた．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8298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ADFC7DB0-0CD7-CD31-F5B4-AF1804F2FD7E}"/>
              </a:ext>
            </a:extLst>
          </p:cNvPr>
          <p:cNvSpPr/>
          <p:nvPr/>
        </p:nvSpPr>
        <p:spPr>
          <a:xfrm>
            <a:off x="6282062" y="3317801"/>
            <a:ext cx="5079545" cy="2598906"/>
          </a:xfrm>
          <a:prstGeom prst="wedgeRoundRectCallout">
            <a:avLst>
              <a:gd name="adj1" fmla="val -110005"/>
              <a:gd name="adj2" fmla="val -3685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この王冠，</a:t>
            </a:r>
            <a:r>
              <a:rPr kumimoji="1" lang="ja-JP" altLang="en-US" sz="3200" dirty="0">
                <a:solidFill>
                  <a:schemeClr val="accent6"/>
                </a:solidFill>
              </a:rPr>
              <a:t>本当に純金</a:t>
            </a:r>
            <a:r>
              <a:rPr kumimoji="1" lang="ja-JP" altLang="en-US" sz="3200" dirty="0">
                <a:solidFill>
                  <a:schemeClr val="tx1"/>
                </a:solidFill>
              </a:rPr>
              <a:t>？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accent6"/>
                </a:solidFill>
              </a:rPr>
              <a:t>調べて</a:t>
            </a:r>
            <a:r>
              <a:rPr kumimoji="1" lang="ja-JP" altLang="en-US" sz="3200" dirty="0">
                <a:solidFill>
                  <a:schemeClr val="tx1"/>
                </a:solidFill>
              </a:rPr>
              <a:t>！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（</a:t>
            </a:r>
            <a:r>
              <a:rPr kumimoji="1" lang="en-US" altLang="ja-JP" sz="3200" dirty="0">
                <a:solidFill>
                  <a:schemeClr val="tx1"/>
                </a:solidFill>
              </a:rPr>
              <a:t>To </a:t>
            </a:r>
            <a:r>
              <a:rPr kumimoji="1" lang="ja-JP" altLang="en-US" sz="3200" dirty="0">
                <a:solidFill>
                  <a:schemeClr val="tx1"/>
                </a:solidFill>
              </a:rPr>
              <a:t>アルキメデス）</a:t>
            </a:r>
            <a:endParaRPr kumimoji="1"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7C9EB62-531B-FE70-B784-509D7049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王様の命令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107C38-BEC3-6F96-41F5-7EED2837A80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https://www.irasutoya.com/2013/02/blog-post_698.html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FFB33F-BEEC-8718-4E67-2F4DF6C2D6D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pic>
        <p:nvPicPr>
          <p:cNvPr id="8" name="Picture 2" descr="かわいい王様のイラスト">
            <a:extLst>
              <a:ext uri="{FF2B5EF4-FFF2-40B4-BE49-F238E27FC236}">
                <a16:creationId xmlns:a16="http://schemas.microsoft.com/office/drawing/2014/main" id="{18A9E30F-BE13-A242-F6CD-34C26231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10" y="1669658"/>
            <a:ext cx="3652155" cy="441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56C30687-02FD-A501-5747-1FED85085BAA}"/>
              </a:ext>
            </a:extLst>
          </p:cNvPr>
          <p:cNvSpPr/>
          <p:nvPr/>
        </p:nvSpPr>
        <p:spPr>
          <a:xfrm>
            <a:off x="6282063" y="3317801"/>
            <a:ext cx="5079545" cy="2598906"/>
          </a:xfrm>
          <a:prstGeom prst="wedgeRoundRectCallout">
            <a:avLst>
              <a:gd name="adj1" fmla="val -110005"/>
              <a:gd name="adj2" fmla="val -3685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accent6"/>
                </a:solidFill>
              </a:rPr>
              <a:t>純金</a:t>
            </a:r>
            <a:r>
              <a:rPr kumimoji="1" lang="ja-JP" altLang="en-US" sz="3200" dirty="0">
                <a:solidFill>
                  <a:schemeClr val="tx1"/>
                </a:solidFill>
              </a:rPr>
              <a:t>の王冠を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作ってくれ！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（</a:t>
            </a:r>
            <a:r>
              <a:rPr kumimoji="1" lang="en-US" altLang="ja-JP" sz="3200" dirty="0">
                <a:solidFill>
                  <a:schemeClr val="tx1"/>
                </a:solidFill>
              </a:rPr>
              <a:t>To </a:t>
            </a:r>
            <a:r>
              <a:rPr kumimoji="1" lang="ja-JP" altLang="en-US" sz="3200" dirty="0">
                <a:solidFill>
                  <a:schemeClr val="tx1"/>
                </a:solidFill>
              </a:rPr>
              <a:t>職人）</a:t>
            </a:r>
          </a:p>
        </p:txBody>
      </p:sp>
      <p:pic>
        <p:nvPicPr>
          <p:cNvPr id="2050" name="Picture 2" descr="王冠のイラスト（金）">
            <a:extLst>
              <a:ext uri="{FF2B5EF4-FFF2-40B4-BE49-F238E27FC236}">
                <a16:creationId xmlns:a16="http://schemas.microsoft.com/office/drawing/2014/main" id="{81D2D1D1-7BB6-BECF-F0AD-590F74B31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811" y="2163620"/>
            <a:ext cx="1717535" cy="12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45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6FA88-EC9D-B2F6-EB81-2615F94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591A1C4-61D4-18BE-B6B1-63F41EF49379}"/>
              </a:ext>
            </a:extLst>
          </p:cNvPr>
          <p:cNvSpPr/>
          <p:nvPr/>
        </p:nvSpPr>
        <p:spPr>
          <a:xfrm>
            <a:off x="2552723" y="3296885"/>
            <a:ext cx="1511872" cy="11574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 descr="王冠のイラスト（金）">
            <a:extLst>
              <a:ext uri="{FF2B5EF4-FFF2-40B4-BE49-F238E27FC236}">
                <a16:creationId xmlns:a16="http://schemas.microsoft.com/office/drawing/2014/main" id="{EBD8D659-0FB9-6238-2D57-D28680090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772" y="3946902"/>
            <a:ext cx="1109902" cy="79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王冠のイラスト（オレンジ）">
            <a:extLst>
              <a:ext uri="{FF2B5EF4-FFF2-40B4-BE49-F238E27FC236}">
                <a16:creationId xmlns:a16="http://schemas.microsoft.com/office/drawing/2014/main" id="{747595EC-A7BE-EDCD-C706-F3CDE414C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300" y="3946902"/>
            <a:ext cx="1136590" cy="81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1AA3C2A-6DE9-C172-F55C-3A087991D1F8}"/>
              </a:ext>
            </a:extLst>
          </p:cNvPr>
          <p:cNvCxnSpPr>
            <a:cxnSpLocks/>
            <a:stCxn id="2" idx="1"/>
            <a:endCxn id="3" idx="0"/>
          </p:cNvCxnSpPr>
          <p:nvPr/>
        </p:nvCxnSpPr>
        <p:spPr>
          <a:xfrm>
            <a:off x="2552723" y="3354759"/>
            <a:ext cx="0" cy="5921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6FD2F18-CD65-EB91-2917-7447A0AD1733}"/>
              </a:ext>
            </a:extLst>
          </p:cNvPr>
          <p:cNvCxnSpPr>
            <a:cxnSpLocks/>
            <a:stCxn id="2" idx="3"/>
            <a:endCxn id="8" idx="0"/>
          </p:cNvCxnSpPr>
          <p:nvPr/>
        </p:nvCxnSpPr>
        <p:spPr>
          <a:xfrm>
            <a:off x="4064595" y="3354759"/>
            <a:ext cx="0" cy="5921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フリーフォーム: 図形 47">
            <a:extLst>
              <a:ext uri="{FF2B5EF4-FFF2-40B4-BE49-F238E27FC236}">
                <a16:creationId xmlns:a16="http://schemas.microsoft.com/office/drawing/2014/main" id="{62D81932-117B-EFC3-60A6-C896680A4CB2}"/>
              </a:ext>
            </a:extLst>
          </p:cNvPr>
          <p:cNvSpPr/>
          <p:nvPr/>
        </p:nvSpPr>
        <p:spPr>
          <a:xfrm>
            <a:off x="1535088" y="3933987"/>
            <a:ext cx="3427074" cy="1355535"/>
          </a:xfrm>
          <a:custGeom>
            <a:avLst/>
            <a:gdLst>
              <a:gd name="connsiteX0" fmla="*/ 0 w 3427074"/>
              <a:gd name="connsiteY0" fmla="*/ 0 h 2159321"/>
              <a:gd name="connsiteX1" fmla="*/ 3427074 w 3427074"/>
              <a:gd name="connsiteY1" fmla="*/ 0 h 2159321"/>
              <a:gd name="connsiteX2" fmla="*/ 3427074 w 3427074"/>
              <a:gd name="connsiteY2" fmla="*/ 2159321 h 2159321"/>
              <a:gd name="connsiteX3" fmla="*/ 0 w 3427074"/>
              <a:gd name="connsiteY3" fmla="*/ 2159321 h 2159321"/>
              <a:gd name="connsiteX4" fmla="*/ 0 w 3427074"/>
              <a:gd name="connsiteY4" fmla="*/ 0 h 215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7074" h="2159321">
                <a:moveTo>
                  <a:pt x="0" y="0"/>
                </a:moveTo>
                <a:lnTo>
                  <a:pt x="3427074" y="0"/>
                </a:lnTo>
                <a:lnTo>
                  <a:pt x="3427074" y="2159321"/>
                </a:lnTo>
                <a:lnTo>
                  <a:pt x="0" y="215932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tint val="50000"/>
                  <a:satMod val="300000"/>
                  <a:alpha val="70000"/>
                </a:schemeClr>
              </a:gs>
              <a:gs pos="35000">
                <a:schemeClr val="accent2">
                  <a:tint val="37000"/>
                  <a:satMod val="300000"/>
                  <a:alpha val="70000"/>
                </a:schemeClr>
              </a:gs>
              <a:gs pos="100000">
                <a:schemeClr val="accent2">
                  <a:tint val="15000"/>
                  <a:satMod val="350000"/>
                  <a:lumMod val="100000"/>
                  <a:alpha val="70000"/>
                </a:schemeClr>
              </a:gs>
            </a:gsLst>
          </a:gradFill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フリーフォーム: 図形 48">
            <a:extLst>
              <a:ext uri="{FF2B5EF4-FFF2-40B4-BE49-F238E27FC236}">
                <a16:creationId xmlns:a16="http://schemas.microsoft.com/office/drawing/2014/main" id="{348AB370-A1BE-0B03-2BB6-AC3828474AB8}"/>
              </a:ext>
            </a:extLst>
          </p:cNvPr>
          <p:cNvSpPr/>
          <p:nvPr/>
        </p:nvSpPr>
        <p:spPr>
          <a:xfrm>
            <a:off x="1250366" y="3130200"/>
            <a:ext cx="3993864" cy="2454132"/>
          </a:xfrm>
          <a:custGeom>
            <a:avLst/>
            <a:gdLst>
              <a:gd name="connsiteX0" fmla="*/ 0 w 3993864"/>
              <a:gd name="connsiteY0" fmla="*/ 0 h 2454132"/>
              <a:gd name="connsiteX1" fmla="*/ 284722 w 3993864"/>
              <a:gd name="connsiteY1" fmla="*/ 0 h 2454132"/>
              <a:gd name="connsiteX2" fmla="*/ 284722 w 3993864"/>
              <a:gd name="connsiteY2" fmla="*/ 2159321 h 2454132"/>
              <a:gd name="connsiteX3" fmla="*/ 3711796 w 3993864"/>
              <a:gd name="connsiteY3" fmla="*/ 2159321 h 2454132"/>
              <a:gd name="connsiteX4" fmla="*/ 3711796 w 3993864"/>
              <a:gd name="connsiteY4" fmla="*/ 0 h 2454132"/>
              <a:gd name="connsiteX5" fmla="*/ 3993864 w 3993864"/>
              <a:gd name="connsiteY5" fmla="*/ 0 h 2454132"/>
              <a:gd name="connsiteX6" fmla="*/ 3993864 w 3993864"/>
              <a:gd name="connsiteY6" fmla="*/ 2454132 h 2454132"/>
              <a:gd name="connsiteX7" fmla="*/ 0 w 3993864"/>
              <a:gd name="connsiteY7" fmla="*/ 2454132 h 2454132"/>
              <a:gd name="connsiteX8" fmla="*/ 0 w 3993864"/>
              <a:gd name="connsiteY8" fmla="*/ 0 h 245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3864" h="2454132">
                <a:moveTo>
                  <a:pt x="0" y="0"/>
                </a:moveTo>
                <a:lnTo>
                  <a:pt x="284722" y="0"/>
                </a:lnTo>
                <a:lnTo>
                  <a:pt x="284722" y="2159321"/>
                </a:lnTo>
                <a:lnTo>
                  <a:pt x="3711796" y="2159321"/>
                </a:lnTo>
                <a:lnTo>
                  <a:pt x="3711796" y="0"/>
                </a:lnTo>
                <a:lnTo>
                  <a:pt x="3993864" y="0"/>
                </a:lnTo>
                <a:lnTo>
                  <a:pt x="3993864" y="2454132"/>
                </a:lnTo>
                <a:lnTo>
                  <a:pt x="0" y="2454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CC468826-89A4-205D-0579-EBF44F75F93E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3308659" y="2805550"/>
            <a:ext cx="0" cy="491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タイトル 3">
            <a:extLst>
              <a:ext uri="{FF2B5EF4-FFF2-40B4-BE49-F238E27FC236}">
                <a16:creationId xmlns:a16="http://schemas.microsoft.com/office/drawing/2014/main" id="{A5EF98C7-9A03-D51A-FED3-929FEE65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26" y="453035"/>
            <a:ext cx="11584371" cy="809528"/>
          </a:xfrm>
        </p:spPr>
        <p:txBody>
          <a:bodyPr/>
          <a:lstStyle/>
          <a:p>
            <a:r>
              <a:rPr kumimoji="1" lang="ja-JP" altLang="en-US" dirty="0"/>
              <a:t>アルキメデスの原理</a:t>
            </a:r>
          </a:p>
        </p:txBody>
      </p:sp>
      <p:sp>
        <p:nvSpPr>
          <p:cNvPr id="58" name="テキスト プレースホルダー 1">
            <a:extLst>
              <a:ext uri="{FF2B5EF4-FFF2-40B4-BE49-F238E27FC236}">
                <a16:creationId xmlns:a16="http://schemas.microsoft.com/office/drawing/2014/main" id="{0E8F7DAB-EF6E-E737-04AC-DFB69AAFA562}"/>
              </a:ext>
            </a:extLst>
          </p:cNvPr>
          <p:cNvSpPr txBox="1">
            <a:spLocks/>
          </p:cNvSpPr>
          <p:nvPr/>
        </p:nvSpPr>
        <p:spPr>
          <a:xfrm>
            <a:off x="6399811" y="1698105"/>
            <a:ext cx="5761696" cy="2864189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浮力に関する原理</a:t>
            </a:r>
            <a:endParaRPr lang="en-US" altLang="ja-JP" dirty="0"/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>
                <a:solidFill>
                  <a:schemeClr val="accent6"/>
                </a:solidFill>
              </a:rPr>
              <a:t>同じ浮力</a:t>
            </a:r>
            <a:r>
              <a:rPr lang="ja-JP" altLang="en-US" dirty="0"/>
              <a:t>（水圧差）であれば同じ</a:t>
            </a:r>
            <a:r>
              <a:rPr lang="ja-JP" altLang="en-US" dirty="0">
                <a:solidFill>
                  <a:schemeClr val="accent6"/>
                </a:solidFill>
              </a:rPr>
              <a:t>純金</a:t>
            </a:r>
            <a:r>
              <a:rPr lang="ja-JP" altLang="en-US" dirty="0"/>
              <a:t>．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3934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8" grpId="0" animBg="1"/>
      <p:bldP spid="49" grpId="0" animBg="1"/>
      <p:bldP spid="5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41A7D-F91F-52F6-645D-4EFC970B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王冠のイラスト（金）">
            <a:extLst>
              <a:ext uri="{FF2B5EF4-FFF2-40B4-BE49-F238E27FC236}">
                <a16:creationId xmlns:a16="http://schemas.microsoft.com/office/drawing/2014/main" id="{EB2C96F9-D681-4672-215C-880DADA32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809" y="4130572"/>
            <a:ext cx="1109902" cy="79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王冠のイラスト（オレンジ）">
            <a:extLst>
              <a:ext uri="{FF2B5EF4-FFF2-40B4-BE49-F238E27FC236}">
                <a16:creationId xmlns:a16="http://schemas.microsoft.com/office/drawing/2014/main" id="{4CDAAFFB-783F-916A-87EB-B4FD255F7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531" y="3513829"/>
            <a:ext cx="1136590" cy="81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35A1C0CD-6807-8D1E-00E7-C93C01FF087B}"/>
              </a:ext>
            </a:extLst>
          </p:cNvPr>
          <p:cNvSpPr/>
          <p:nvPr/>
        </p:nvSpPr>
        <p:spPr>
          <a:xfrm>
            <a:off x="1535088" y="3933987"/>
            <a:ext cx="3427074" cy="1355535"/>
          </a:xfrm>
          <a:custGeom>
            <a:avLst/>
            <a:gdLst>
              <a:gd name="connsiteX0" fmla="*/ 0 w 3427074"/>
              <a:gd name="connsiteY0" fmla="*/ 0 h 2159321"/>
              <a:gd name="connsiteX1" fmla="*/ 3427074 w 3427074"/>
              <a:gd name="connsiteY1" fmla="*/ 0 h 2159321"/>
              <a:gd name="connsiteX2" fmla="*/ 3427074 w 3427074"/>
              <a:gd name="connsiteY2" fmla="*/ 2159321 h 2159321"/>
              <a:gd name="connsiteX3" fmla="*/ 0 w 3427074"/>
              <a:gd name="connsiteY3" fmla="*/ 2159321 h 2159321"/>
              <a:gd name="connsiteX4" fmla="*/ 0 w 3427074"/>
              <a:gd name="connsiteY4" fmla="*/ 0 h 215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7074" h="2159321">
                <a:moveTo>
                  <a:pt x="0" y="0"/>
                </a:moveTo>
                <a:lnTo>
                  <a:pt x="3427074" y="0"/>
                </a:lnTo>
                <a:lnTo>
                  <a:pt x="3427074" y="2159321"/>
                </a:lnTo>
                <a:lnTo>
                  <a:pt x="0" y="215932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tint val="50000"/>
                  <a:satMod val="300000"/>
                  <a:alpha val="70000"/>
                </a:schemeClr>
              </a:gs>
              <a:gs pos="35000">
                <a:schemeClr val="accent2">
                  <a:tint val="37000"/>
                  <a:satMod val="300000"/>
                  <a:alpha val="70000"/>
                </a:schemeClr>
              </a:gs>
              <a:gs pos="100000">
                <a:schemeClr val="accent2">
                  <a:tint val="15000"/>
                  <a:satMod val="350000"/>
                  <a:lumMod val="100000"/>
                  <a:alpha val="70000"/>
                </a:schemeClr>
              </a:gs>
            </a:gsLst>
          </a:gradFill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2BE1FE8-C856-9DA8-D2D5-72A57C15E60A}"/>
              </a:ext>
            </a:extLst>
          </p:cNvPr>
          <p:cNvSpPr/>
          <p:nvPr/>
        </p:nvSpPr>
        <p:spPr>
          <a:xfrm rot="19887161">
            <a:off x="2552723" y="2970296"/>
            <a:ext cx="1511872" cy="11574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38A50C8-863A-52EF-37A3-7ED88774CFA3}"/>
              </a:ext>
            </a:extLst>
          </p:cNvPr>
          <p:cNvCxnSpPr>
            <a:cxnSpLocks/>
            <a:stCxn id="2" idx="1"/>
            <a:endCxn id="3" idx="0"/>
          </p:cNvCxnSpPr>
          <p:nvPr/>
        </p:nvCxnSpPr>
        <p:spPr>
          <a:xfrm>
            <a:off x="2644628" y="3389420"/>
            <a:ext cx="7132" cy="7411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EFFE055-3E13-4B80-6AB0-0F6C52865A3C}"/>
              </a:ext>
            </a:extLst>
          </p:cNvPr>
          <p:cNvCxnSpPr>
            <a:cxnSpLocks/>
            <a:stCxn id="2" idx="3"/>
            <a:endCxn id="8" idx="0"/>
          </p:cNvCxnSpPr>
          <p:nvPr/>
        </p:nvCxnSpPr>
        <p:spPr>
          <a:xfrm>
            <a:off x="3972691" y="2666920"/>
            <a:ext cx="2135" cy="8469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フリーフォーム: 図形 25">
            <a:extLst>
              <a:ext uri="{FF2B5EF4-FFF2-40B4-BE49-F238E27FC236}">
                <a16:creationId xmlns:a16="http://schemas.microsoft.com/office/drawing/2014/main" id="{AB04C89E-4966-065B-2106-D58D873B39A9}"/>
              </a:ext>
            </a:extLst>
          </p:cNvPr>
          <p:cNvSpPr/>
          <p:nvPr/>
        </p:nvSpPr>
        <p:spPr>
          <a:xfrm>
            <a:off x="1250366" y="3130200"/>
            <a:ext cx="3993864" cy="2454132"/>
          </a:xfrm>
          <a:custGeom>
            <a:avLst/>
            <a:gdLst>
              <a:gd name="connsiteX0" fmla="*/ 0 w 3993864"/>
              <a:gd name="connsiteY0" fmla="*/ 0 h 2454132"/>
              <a:gd name="connsiteX1" fmla="*/ 284722 w 3993864"/>
              <a:gd name="connsiteY1" fmla="*/ 0 h 2454132"/>
              <a:gd name="connsiteX2" fmla="*/ 284722 w 3993864"/>
              <a:gd name="connsiteY2" fmla="*/ 2159321 h 2454132"/>
              <a:gd name="connsiteX3" fmla="*/ 3711796 w 3993864"/>
              <a:gd name="connsiteY3" fmla="*/ 2159321 h 2454132"/>
              <a:gd name="connsiteX4" fmla="*/ 3711796 w 3993864"/>
              <a:gd name="connsiteY4" fmla="*/ 0 h 2454132"/>
              <a:gd name="connsiteX5" fmla="*/ 3993864 w 3993864"/>
              <a:gd name="connsiteY5" fmla="*/ 0 h 2454132"/>
              <a:gd name="connsiteX6" fmla="*/ 3993864 w 3993864"/>
              <a:gd name="connsiteY6" fmla="*/ 2454132 h 2454132"/>
              <a:gd name="connsiteX7" fmla="*/ 0 w 3993864"/>
              <a:gd name="connsiteY7" fmla="*/ 2454132 h 2454132"/>
              <a:gd name="connsiteX8" fmla="*/ 0 w 3993864"/>
              <a:gd name="connsiteY8" fmla="*/ 0 h 245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3864" h="2454132">
                <a:moveTo>
                  <a:pt x="0" y="0"/>
                </a:moveTo>
                <a:lnTo>
                  <a:pt x="284722" y="0"/>
                </a:lnTo>
                <a:lnTo>
                  <a:pt x="284722" y="2159321"/>
                </a:lnTo>
                <a:lnTo>
                  <a:pt x="3711796" y="2159321"/>
                </a:lnTo>
                <a:lnTo>
                  <a:pt x="3711796" y="0"/>
                </a:lnTo>
                <a:lnTo>
                  <a:pt x="3993864" y="0"/>
                </a:lnTo>
                <a:lnTo>
                  <a:pt x="3993864" y="2454132"/>
                </a:lnTo>
                <a:lnTo>
                  <a:pt x="0" y="2454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EA446A2-417C-C4FF-B658-E0F88B5EE7BE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3281002" y="2501255"/>
            <a:ext cx="0" cy="476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タイトル 3">
            <a:extLst>
              <a:ext uri="{FF2B5EF4-FFF2-40B4-BE49-F238E27FC236}">
                <a16:creationId xmlns:a16="http://schemas.microsoft.com/office/drawing/2014/main" id="{D9087BB4-43CC-FCCA-D342-6E198CF2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26" y="453035"/>
            <a:ext cx="11584371" cy="809528"/>
          </a:xfrm>
        </p:spPr>
        <p:txBody>
          <a:bodyPr/>
          <a:lstStyle/>
          <a:p>
            <a:r>
              <a:rPr kumimoji="1" lang="ja-JP" altLang="en-US" dirty="0"/>
              <a:t>アルキメデスの原理</a:t>
            </a:r>
          </a:p>
        </p:txBody>
      </p:sp>
      <p:sp>
        <p:nvSpPr>
          <p:cNvPr id="39" name="テキスト プレースホルダー 1">
            <a:extLst>
              <a:ext uri="{FF2B5EF4-FFF2-40B4-BE49-F238E27FC236}">
                <a16:creationId xmlns:a16="http://schemas.microsoft.com/office/drawing/2014/main" id="{3FD42308-8E90-C13E-9305-632BFE79ED8E}"/>
              </a:ext>
            </a:extLst>
          </p:cNvPr>
          <p:cNvSpPr txBox="1">
            <a:spLocks/>
          </p:cNvSpPr>
          <p:nvPr/>
        </p:nvSpPr>
        <p:spPr>
          <a:xfrm>
            <a:off x="6399811" y="1698105"/>
            <a:ext cx="5761696" cy="2864189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浮力に関する原理</a:t>
            </a:r>
            <a:endParaRPr lang="en-US" altLang="ja-JP" dirty="0"/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>
                <a:solidFill>
                  <a:schemeClr val="accent6"/>
                </a:solidFill>
              </a:rPr>
              <a:t>同じ浮力</a:t>
            </a:r>
            <a:r>
              <a:rPr lang="ja-JP" altLang="en-US" dirty="0"/>
              <a:t>（水圧差）であれば同じ</a:t>
            </a:r>
            <a:r>
              <a:rPr lang="ja-JP" altLang="en-US" dirty="0">
                <a:solidFill>
                  <a:schemeClr val="accent6"/>
                </a:solidFill>
              </a:rPr>
              <a:t>純金</a:t>
            </a:r>
            <a:r>
              <a:rPr lang="ja-JP" altLang="en-US" dirty="0"/>
              <a:t>．</a:t>
            </a:r>
            <a:endParaRPr lang="en-US" altLang="ja-JP" dirty="0"/>
          </a:p>
        </p:txBody>
      </p:sp>
      <p:sp>
        <p:nvSpPr>
          <p:cNvPr id="40" name="テキスト プレースホルダー 1">
            <a:extLst>
              <a:ext uri="{FF2B5EF4-FFF2-40B4-BE49-F238E27FC236}">
                <a16:creationId xmlns:a16="http://schemas.microsoft.com/office/drawing/2014/main" id="{C464D81F-1A5D-9C2B-51A9-1C2F9CA6563C}"/>
              </a:ext>
            </a:extLst>
          </p:cNvPr>
          <p:cNvSpPr txBox="1">
            <a:spLocks/>
          </p:cNvSpPr>
          <p:nvPr/>
        </p:nvSpPr>
        <p:spPr>
          <a:xfrm>
            <a:off x="6399811" y="4357266"/>
            <a:ext cx="5761696" cy="2080699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傾けば</a:t>
            </a:r>
            <a:r>
              <a:rPr lang="ja-JP" altLang="en-US" dirty="0">
                <a:solidFill>
                  <a:schemeClr val="accent6"/>
                </a:solidFill>
              </a:rPr>
              <a:t>異物を含む</a:t>
            </a:r>
            <a:r>
              <a:rPr lang="ja-JP" altLang="en-US" dirty="0"/>
              <a:t>．</a:t>
            </a:r>
            <a:endParaRPr lang="en-US" altLang="ja-JP" dirty="0"/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en-US" altLang="ja-JP" i="1" dirty="0">
                <a:latin typeface="+mj-lt"/>
              </a:rPr>
              <a:t>p = </a:t>
            </a:r>
            <a:r>
              <a:rPr lang="en-US" altLang="ja-JP" dirty="0" err="1">
                <a:latin typeface="+mj-lt"/>
              </a:rPr>
              <a:t>ρ</a:t>
            </a:r>
            <a:r>
              <a:rPr lang="en-US" altLang="ja-JP" i="1" dirty="0" err="1">
                <a:latin typeface="+mj-lt"/>
              </a:rPr>
              <a:t>Vg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66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87743F-7CCB-417F-110E-C0966078F2C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https://mathsuke.jp/zeno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E23751-DF79-B3E8-F083-E52FE40D14C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  <p:pic>
        <p:nvPicPr>
          <p:cNvPr id="8" name="Picture 2" descr="ゼノン">
            <a:extLst>
              <a:ext uri="{FF2B5EF4-FFF2-40B4-BE49-F238E27FC236}">
                <a16:creationId xmlns:a16="http://schemas.microsoft.com/office/drawing/2014/main" id="{E09680E0-3708-96B3-DBC1-CD0AEE666F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4" t="4575" r="1895" b="11014"/>
          <a:stretch/>
        </p:blipFill>
        <p:spPr bwMode="auto">
          <a:xfrm>
            <a:off x="830387" y="442582"/>
            <a:ext cx="4367966" cy="585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タイトル 2">
            <a:extLst>
              <a:ext uri="{FF2B5EF4-FFF2-40B4-BE49-F238E27FC236}">
                <a16:creationId xmlns:a16="http://schemas.microsoft.com/office/drawing/2014/main" id="{1A924AE9-CF85-F9D6-9466-20BEEF37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61" y="799141"/>
            <a:ext cx="6964139" cy="1510401"/>
          </a:xfrm>
        </p:spPr>
        <p:txBody>
          <a:bodyPr anchor="ctr"/>
          <a:lstStyle/>
          <a:p>
            <a:pPr algn="ctr"/>
            <a:r>
              <a:rPr lang="ja-JP" altLang="en-US" dirty="0"/>
              <a:t>ツェノン</a:t>
            </a:r>
            <a:br>
              <a:rPr lang="en-US" altLang="ja-JP" dirty="0"/>
            </a:br>
            <a:r>
              <a:rPr kumimoji="1" lang="ja-JP" altLang="en-US" sz="3600" dirty="0"/>
              <a:t>（</a:t>
            </a:r>
            <a:r>
              <a:rPr lang="en-US" altLang="ja-JP" sz="3600" dirty="0"/>
              <a:t>B</a:t>
            </a:r>
            <a:r>
              <a:rPr kumimoji="1" lang="en-US" altLang="ja-JP" sz="3600" dirty="0"/>
              <a:t>.C. 49</a:t>
            </a:r>
            <a:r>
              <a:rPr lang="en-US" altLang="ja-JP" sz="3600" dirty="0"/>
              <a:t>0</a:t>
            </a:r>
            <a:r>
              <a:rPr kumimoji="1" lang="en-US" altLang="ja-JP" sz="3600" dirty="0"/>
              <a:t>-430</a:t>
            </a:r>
            <a:r>
              <a:rPr kumimoji="1" lang="ja-JP" altLang="en-US" sz="3600" dirty="0"/>
              <a:t>年）</a:t>
            </a:r>
            <a:endParaRPr kumimoji="1" lang="ja-JP" altLang="en-US" dirty="0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4E954383-A3DB-F02E-505A-518EF2B5D8D5}"/>
              </a:ext>
            </a:extLst>
          </p:cNvPr>
          <p:cNvSpPr/>
          <p:nvPr/>
        </p:nvSpPr>
        <p:spPr>
          <a:xfrm>
            <a:off x="6282063" y="3317801"/>
            <a:ext cx="5079545" cy="2598906"/>
          </a:xfrm>
          <a:prstGeom prst="wedgeRoundRectCallout">
            <a:avLst>
              <a:gd name="adj1" fmla="val -109121"/>
              <a:gd name="adj2" fmla="val -543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飛んでいる矢は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>
                <a:solidFill>
                  <a:schemeClr val="accent6"/>
                </a:solidFill>
              </a:rPr>
              <a:t>止まっている</a:t>
            </a:r>
            <a:r>
              <a:rPr kumimoji="1" lang="ja-JP" altLang="en-US" sz="3200" dirty="0">
                <a:solidFill>
                  <a:schemeClr val="tx1"/>
                </a:solidFill>
              </a:rPr>
              <a:t>！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（パラドクス）</a:t>
            </a:r>
          </a:p>
        </p:txBody>
      </p:sp>
    </p:spTree>
    <p:extLst>
      <p:ext uri="{BB962C8B-B14F-4D97-AF65-F5344CB8AC3E}">
        <p14:creationId xmlns:p14="http://schemas.microsoft.com/office/powerpoint/2010/main" val="327074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9DFA44-5CA4-9A61-100E-1AF618FADD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MyYuGothicM"/>
              </a:rPr>
              <a:t>正当な考え方で推論を深めていくと，一般的な結論と逆の答えが導かれ，モノの道理があわなくなること．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C0F316C-DCD8-594E-0B99-3B967CAC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パラドクス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613C71D-5B49-7D36-6DD4-1153B27CBB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https://news.mynavi.jp/article/20200825-1236792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59953A-9CA4-9552-C730-E415FF8582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1FA5C07-A388-F3F3-9A99-2E510F3358E0}"/>
              </a:ext>
            </a:extLst>
          </p:cNvPr>
          <p:cNvSpPr/>
          <p:nvPr/>
        </p:nvSpPr>
        <p:spPr>
          <a:xfrm>
            <a:off x="1595718" y="1954306"/>
            <a:ext cx="1120588" cy="4016188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嘘つきである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3F43BDC-BD24-1267-4D45-D5D6D073F9AF}"/>
              </a:ext>
            </a:extLst>
          </p:cNvPr>
          <p:cNvSpPr/>
          <p:nvPr/>
        </p:nvSpPr>
        <p:spPr>
          <a:xfrm>
            <a:off x="5535706" y="1954306"/>
            <a:ext cx="1120588" cy="401618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「私は嘘付きだ」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0B58F6-1BA6-3D15-CAFF-52D7FEFAB278}"/>
              </a:ext>
            </a:extLst>
          </p:cNvPr>
          <p:cNvSpPr/>
          <p:nvPr/>
        </p:nvSpPr>
        <p:spPr>
          <a:xfrm>
            <a:off x="9475694" y="1954306"/>
            <a:ext cx="1120588" cy="4016188"/>
          </a:xfrm>
          <a:prstGeom prst="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嘘つきでない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A833CC6-9528-6CB4-F3F2-518B4B738D71}"/>
              </a:ext>
            </a:extLst>
          </p:cNvPr>
          <p:cNvGrpSpPr/>
          <p:nvPr/>
        </p:nvGrpSpPr>
        <p:grpSpPr>
          <a:xfrm>
            <a:off x="3106687" y="2967335"/>
            <a:ext cx="2038638" cy="1299037"/>
            <a:chOff x="3106687" y="2967335"/>
            <a:chExt cx="2038638" cy="1299037"/>
          </a:xfrm>
        </p:grpSpPr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9803E637-1087-4203-284F-1F389294EE30}"/>
                </a:ext>
              </a:extLst>
            </p:cNvPr>
            <p:cNvSpPr/>
            <p:nvPr/>
          </p:nvSpPr>
          <p:spPr>
            <a:xfrm rot="16200000">
              <a:off x="3822034" y="3681021"/>
              <a:ext cx="607942" cy="562759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C4F73C9C-726E-D0C4-9777-8B0049AF2802}"/>
                </a:ext>
              </a:extLst>
            </p:cNvPr>
            <p:cNvSpPr txBox="1"/>
            <p:nvPr/>
          </p:nvSpPr>
          <p:spPr>
            <a:xfrm>
              <a:off x="3106687" y="2967335"/>
              <a:ext cx="20386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/>
                <a:t>実は</a:t>
              </a:r>
              <a:r>
                <a:rPr kumimoji="1" lang="ja-JP" altLang="en-US" sz="2400" dirty="0">
                  <a:solidFill>
                    <a:schemeClr val="accent6"/>
                  </a:solidFill>
                </a:rPr>
                <a:t>正直者</a:t>
              </a:r>
              <a:endParaRPr kumimoji="1" lang="ja-JP" altLang="en-US" sz="2400" dirty="0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B0684A16-6612-81FC-61A0-E570F3DB9640}"/>
              </a:ext>
            </a:extLst>
          </p:cNvPr>
          <p:cNvGrpSpPr/>
          <p:nvPr/>
        </p:nvGrpSpPr>
        <p:grpSpPr>
          <a:xfrm>
            <a:off x="7046675" y="2967334"/>
            <a:ext cx="2038638" cy="1272143"/>
            <a:chOff x="7046675" y="2967334"/>
            <a:chExt cx="2038638" cy="1272143"/>
          </a:xfrm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ACF48F93-4C75-4379-8BD7-F83AD40B3FF1}"/>
                </a:ext>
              </a:extLst>
            </p:cNvPr>
            <p:cNvSpPr/>
            <p:nvPr/>
          </p:nvSpPr>
          <p:spPr>
            <a:xfrm rot="5400000">
              <a:off x="7762023" y="3654126"/>
              <a:ext cx="607942" cy="562759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E4DF061-AD16-F6CB-379D-218DCFDE7181}"/>
                </a:ext>
              </a:extLst>
            </p:cNvPr>
            <p:cNvSpPr txBox="1"/>
            <p:nvPr/>
          </p:nvSpPr>
          <p:spPr>
            <a:xfrm>
              <a:off x="7046675" y="2967334"/>
              <a:ext cx="20386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/>
                <a:t>本当に</a:t>
              </a:r>
              <a:r>
                <a:rPr kumimoji="1" lang="ja-JP" altLang="en-US" sz="2400" dirty="0">
                  <a:solidFill>
                    <a:schemeClr val="accent6"/>
                  </a:solidFill>
                </a:rPr>
                <a:t>嘘つき</a:t>
              </a:r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437C7E-0577-AD8A-B339-56D4ED2ACE61}"/>
              </a:ext>
            </a:extLst>
          </p:cNvPr>
          <p:cNvSpPr txBox="1"/>
          <p:nvPr/>
        </p:nvSpPr>
        <p:spPr>
          <a:xfrm>
            <a:off x="7046675" y="4495801"/>
            <a:ext cx="203863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偽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F5EE90-C876-4ACF-F7AD-29F101A28436}"/>
              </a:ext>
            </a:extLst>
          </p:cNvPr>
          <p:cNvSpPr txBox="1"/>
          <p:nvPr/>
        </p:nvSpPr>
        <p:spPr>
          <a:xfrm>
            <a:off x="3106687" y="4495801"/>
            <a:ext cx="203863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真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8AB6EF5-AC92-D569-3767-3511122EB852}"/>
              </a:ext>
            </a:extLst>
          </p:cNvPr>
          <p:cNvSpPr/>
          <p:nvPr/>
        </p:nvSpPr>
        <p:spPr>
          <a:xfrm>
            <a:off x="1287498" y="2912775"/>
            <a:ext cx="10224623" cy="209924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/>
              <a:t>1</a:t>
            </a:r>
            <a:r>
              <a:rPr kumimoji="1" lang="ja-JP" altLang="en-US" sz="3200" dirty="0"/>
              <a:t>つの主張から，</a:t>
            </a:r>
            <a:r>
              <a:rPr kumimoji="1" lang="ja-JP" altLang="en-US" sz="3200" dirty="0">
                <a:solidFill>
                  <a:schemeClr val="accent6"/>
                </a:solidFill>
              </a:rPr>
              <a:t>逆の意味</a:t>
            </a:r>
            <a:r>
              <a:rPr kumimoji="1" lang="ja-JP" altLang="en-US" sz="3200" dirty="0"/>
              <a:t>がとれる．</a:t>
            </a:r>
            <a:endParaRPr kumimoji="1" lang="en-US" altLang="ja-JP" sz="3200" dirty="0"/>
          </a:p>
          <a:p>
            <a:pPr algn="ctr"/>
            <a:r>
              <a:rPr kumimoji="1" lang="ja-JP" altLang="en-US" sz="3200" dirty="0"/>
              <a:t>→「</a:t>
            </a:r>
            <a:r>
              <a:rPr kumimoji="1" lang="ja-JP" altLang="en-US" sz="3200" dirty="0">
                <a:solidFill>
                  <a:schemeClr val="accent6"/>
                </a:solidFill>
              </a:rPr>
              <a:t>論理的な矛盾</a:t>
            </a:r>
            <a:r>
              <a:rPr kumimoji="1" lang="ja-JP" altLang="en-US" sz="3200" dirty="0"/>
              <a:t>」が生じている．</a:t>
            </a:r>
          </a:p>
        </p:txBody>
      </p:sp>
    </p:spTree>
    <p:extLst>
      <p:ext uri="{BB962C8B-B14F-4D97-AF65-F5344CB8AC3E}">
        <p14:creationId xmlns:p14="http://schemas.microsoft.com/office/powerpoint/2010/main" val="353158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8" grpId="0" animBg="1"/>
      <p:bldP spid="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BE939B8-CF98-8431-23AB-9905AA0D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古代ギリシャ人の考え方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A4C0E6-DC83-080D-4465-E6E3F4ED9FD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  <p:sp>
        <p:nvSpPr>
          <p:cNvPr id="8" name="テキスト プレースホルダー 3">
            <a:extLst>
              <a:ext uri="{FF2B5EF4-FFF2-40B4-BE49-F238E27FC236}">
                <a16:creationId xmlns:a16="http://schemas.microsoft.com/office/drawing/2014/main" id="{6D16EB6A-BAA5-A4E6-BFE8-2A1DE63E3AE0}"/>
              </a:ext>
            </a:extLst>
          </p:cNvPr>
          <p:cNvSpPr txBox="1">
            <a:spLocks/>
          </p:cNvSpPr>
          <p:nvPr/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>
                <a:hlinkClick r:id="rId2"/>
              </a:rPr>
              <a:t>https://www.kaijo.ed.jp/wp-content/uploads/2016/02/2010summer_2Ozawa.pdf</a:t>
            </a:r>
            <a:endParaRPr lang="ja-JP" altLang="en-US" dirty="0"/>
          </a:p>
        </p:txBody>
      </p:sp>
      <p:sp>
        <p:nvSpPr>
          <p:cNvPr id="9" name="テキスト プレースホルダー 1">
            <a:extLst>
              <a:ext uri="{FF2B5EF4-FFF2-40B4-BE49-F238E27FC236}">
                <a16:creationId xmlns:a16="http://schemas.microsoft.com/office/drawing/2014/main" id="{DFB097AC-5B5B-F11A-7617-075A4586F0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7626" y="1514369"/>
            <a:ext cx="11584374" cy="4724057"/>
          </a:xfrm>
        </p:spPr>
        <p:txBody>
          <a:bodyPr anchor="ctr"/>
          <a:lstStyle/>
          <a:p>
            <a:pPr marL="723900" indent="-72390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kumimoji="1" lang="ja-JP" altLang="en-US" dirty="0"/>
              <a:t>定義を明確にして，論理的に理解する．</a:t>
            </a:r>
            <a:endParaRPr kumimoji="1" lang="en-US" altLang="ja-JP" dirty="0"/>
          </a:p>
          <a:p>
            <a:pPr marL="723900" indent="-72390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ja-JP" altLang="en-US" dirty="0"/>
              <a:t>パラドクスを生み出す可能性のあるものを避ける．</a:t>
            </a:r>
            <a:endParaRPr lang="en-US" altLang="ja-JP" dirty="0"/>
          </a:p>
          <a:p>
            <a:pPr marL="1165225" indent="-90488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ja-JP" dirty="0"/>
              <a:t>	</a:t>
            </a:r>
            <a:r>
              <a:rPr lang="ja-JP" altLang="en-US" dirty="0"/>
              <a:t>無限・動的・変化するもの：</a:t>
            </a:r>
            <a:r>
              <a:rPr lang="ja-JP" altLang="en-US" dirty="0">
                <a:solidFill>
                  <a:schemeClr val="accent6"/>
                </a:solidFill>
              </a:rPr>
              <a:t>避ける</a:t>
            </a:r>
            <a:endParaRPr lang="en-US" altLang="ja-JP" dirty="0">
              <a:solidFill>
                <a:schemeClr val="accent6"/>
              </a:solidFill>
            </a:endParaRPr>
          </a:p>
          <a:p>
            <a:pPr marL="1797050" indent="-722313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ja-JP" altLang="en-US" dirty="0"/>
              <a:t>有限・静的・不変なもの：</a:t>
            </a:r>
            <a:r>
              <a:rPr lang="ja-JP" altLang="en-US" dirty="0">
                <a:solidFill>
                  <a:schemeClr val="accent6"/>
                </a:solidFill>
              </a:rPr>
              <a:t>議論の対象</a:t>
            </a:r>
            <a:endParaRPr kumimoji="1" lang="en-US" altLang="ja-JP" dirty="0">
              <a:solidFill>
                <a:schemeClr val="accent6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99C485-C7EC-B8C0-CA55-73BE7647F5F4}"/>
              </a:ext>
            </a:extLst>
          </p:cNvPr>
          <p:cNvSpPr/>
          <p:nvPr/>
        </p:nvSpPr>
        <p:spPr>
          <a:xfrm>
            <a:off x="983688" y="3140533"/>
            <a:ext cx="10224623" cy="14717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/>
              <a:t>無限を避けて，</a:t>
            </a:r>
            <a:r>
              <a:rPr kumimoji="1" lang="ja-JP" altLang="en-US" sz="3600" dirty="0">
                <a:solidFill>
                  <a:schemeClr val="accent6"/>
                </a:solidFill>
              </a:rPr>
              <a:t>背理法で証明</a:t>
            </a:r>
            <a:r>
              <a:rPr kumimoji="1" lang="ja-JP" altLang="en-US" sz="3600" dirty="0"/>
              <a:t>する！</a:t>
            </a:r>
          </a:p>
        </p:txBody>
      </p:sp>
    </p:spTree>
    <p:extLst>
      <p:ext uri="{BB962C8B-B14F-4D97-AF65-F5344CB8AC3E}">
        <p14:creationId xmlns:p14="http://schemas.microsoft.com/office/powerpoint/2010/main" val="127029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345282-FDAE-E34D-D116-11963F71406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6E6191-B22E-6058-38A0-BDC89318DF78}"/>
              </a:ext>
            </a:extLst>
          </p:cNvPr>
          <p:cNvSpPr/>
          <p:nvPr/>
        </p:nvSpPr>
        <p:spPr>
          <a:xfrm>
            <a:off x="983688" y="4872741"/>
            <a:ext cx="10224623" cy="14717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/>
              <a:t>その後，中世ヨーロッパでは</a:t>
            </a:r>
            <a:endParaRPr lang="en-US" altLang="ja-JP" sz="3600" dirty="0"/>
          </a:p>
          <a:p>
            <a:pPr algn="ctr"/>
            <a:r>
              <a:rPr lang="ja-JP" altLang="en-US" sz="3600" dirty="0"/>
              <a:t>数学的発展はなかった</a:t>
            </a:r>
            <a:r>
              <a:rPr lang="en-US" altLang="ja-JP" sz="3600" dirty="0"/>
              <a:t>…</a:t>
            </a:r>
            <a:r>
              <a:rPr lang="ja-JP" altLang="en-US" sz="3600" dirty="0"/>
              <a:t> 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8456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3">
            <a:extLst>
              <a:ext uri="{FF2B5EF4-FFF2-40B4-BE49-F238E27FC236}">
                <a16:creationId xmlns:a16="http://schemas.microsoft.com/office/drawing/2014/main" id="{97D14D85-6CC0-26D7-7E38-FFAAB2827447}"/>
              </a:ext>
            </a:extLst>
          </p:cNvPr>
          <p:cNvSpPr txBox="1">
            <a:spLocks/>
          </p:cNvSpPr>
          <p:nvPr/>
        </p:nvSpPr>
        <p:spPr>
          <a:xfrm>
            <a:off x="0" y="6492014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hlinkClick r:id="rId2"/>
              </a:rPr>
              <a:t>https://www.kansai-u.ac.jp/dai-ichi/high/discovery_reports/asset/report4.pdf</a:t>
            </a:r>
            <a:endParaRPr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B2A4B5-C74A-D78E-A9F6-2A7585692C6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9B4680F-15F5-3CF1-6FBE-40538AA1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39" r="4384"/>
          <a:stretch/>
        </p:blipFill>
        <p:spPr>
          <a:xfrm>
            <a:off x="837735" y="442580"/>
            <a:ext cx="4360624" cy="5853075"/>
          </a:xfrm>
          <a:prstGeom prst="rect">
            <a:avLst/>
          </a:prstGeom>
        </p:spPr>
      </p:pic>
      <p:sp>
        <p:nvSpPr>
          <p:cNvPr id="14" name="タイトル 2">
            <a:extLst>
              <a:ext uri="{FF2B5EF4-FFF2-40B4-BE49-F238E27FC236}">
                <a16:creationId xmlns:a16="http://schemas.microsoft.com/office/drawing/2014/main" id="{7DD9B43A-10FD-8565-F296-C5A608AE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61" y="799141"/>
            <a:ext cx="6964139" cy="1510401"/>
          </a:xfrm>
        </p:spPr>
        <p:txBody>
          <a:bodyPr anchor="ctr"/>
          <a:lstStyle/>
          <a:p>
            <a:pPr algn="ctr"/>
            <a:r>
              <a:rPr lang="ja-JP" altLang="en-US" dirty="0"/>
              <a:t>ルネ・デカルト</a:t>
            </a:r>
            <a:br>
              <a:rPr kumimoji="1" lang="en-US" altLang="ja-JP" dirty="0"/>
            </a:br>
            <a:r>
              <a:rPr kumimoji="1" lang="ja-JP" altLang="en-US" sz="3600" dirty="0"/>
              <a:t>（</a:t>
            </a:r>
            <a:r>
              <a:rPr kumimoji="1" lang="en-US" altLang="ja-JP" sz="3600" dirty="0"/>
              <a:t>A.</a:t>
            </a:r>
            <a:r>
              <a:rPr lang="ja-JP" altLang="en-US" sz="3600" dirty="0"/>
              <a:t>Ｄ</a:t>
            </a:r>
            <a:r>
              <a:rPr kumimoji="1" lang="en-US" altLang="ja-JP" sz="3600" dirty="0"/>
              <a:t>. 1596-1650</a:t>
            </a:r>
            <a:r>
              <a:rPr kumimoji="1" lang="ja-JP" altLang="en-US" sz="3600" dirty="0"/>
              <a:t>年）</a:t>
            </a:r>
            <a:endParaRPr kumimoji="1" lang="ja-JP" altLang="en-US" dirty="0"/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BE42B1FA-01B5-9203-9855-FF1BE59F8FEB}"/>
              </a:ext>
            </a:extLst>
          </p:cNvPr>
          <p:cNvSpPr/>
          <p:nvPr/>
        </p:nvSpPr>
        <p:spPr>
          <a:xfrm>
            <a:off x="6282063" y="3317801"/>
            <a:ext cx="5079545" cy="2598906"/>
          </a:xfrm>
          <a:prstGeom prst="wedgeRoundRectCallout">
            <a:avLst>
              <a:gd name="adj1" fmla="val -101768"/>
              <a:gd name="adj2" fmla="val -7490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ハエの位置をどのように表せるだろうか？</a:t>
            </a:r>
            <a:endParaRPr kumimoji="1" lang="en-US" altLang="ja-JP" sz="3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（直交座標系）</a:t>
            </a:r>
          </a:p>
        </p:txBody>
      </p:sp>
    </p:spTree>
    <p:extLst>
      <p:ext uri="{BB962C8B-B14F-4D97-AF65-F5344CB8AC3E}">
        <p14:creationId xmlns:p14="http://schemas.microsoft.com/office/powerpoint/2010/main" val="136790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B02D33-8EF6-33D5-C91D-266FEB8CDDA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577B926-43A7-C067-F58F-F923DFEF4CB8}"/>
              </a:ext>
            </a:extLst>
          </p:cNvPr>
          <p:cNvCxnSpPr>
            <a:cxnSpLocks/>
          </p:cNvCxnSpPr>
          <p:nvPr/>
        </p:nvCxnSpPr>
        <p:spPr>
          <a:xfrm>
            <a:off x="0" y="1247468"/>
            <a:ext cx="12192000" cy="0"/>
          </a:xfrm>
          <a:prstGeom prst="line">
            <a:avLst/>
          </a:prstGeom>
          <a:ln w="76200"/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5C048D9C-4847-B812-A316-2281A3497AB8}"/>
              </a:ext>
            </a:extLst>
          </p:cNvPr>
          <p:cNvCxnSpPr>
            <a:cxnSpLocks/>
          </p:cNvCxnSpPr>
          <p:nvPr/>
        </p:nvCxnSpPr>
        <p:spPr>
          <a:xfrm>
            <a:off x="5767" y="2688163"/>
            <a:ext cx="12192000" cy="0"/>
          </a:xfrm>
          <a:prstGeom prst="line">
            <a:avLst/>
          </a:prstGeom>
          <a:ln w="76200"/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20D5075A-69F3-FD4E-F691-448E34EC1570}"/>
              </a:ext>
            </a:extLst>
          </p:cNvPr>
          <p:cNvCxnSpPr>
            <a:cxnSpLocks/>
          </p:cNvCxnSpPr>
          <p:nvPr/>
        </p:nvCxnSpPr>
        <p:spPr>
          <a:xfrm>
            <a:off x="0" y="4133524"/>
            <a:ext cx="12192000" cy="0"/>
          </a:xfrm>
          <a:prstGeom prst="line">
            <a:avLst/>
          </a:prstGeom>
          <a:ln w="76200"/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EC5AAF9-4AA2-DFF0-0641-A781C7B1E898}"/>
              </a:ext>
            </a:extLst>
          </p:cNvPr>
          <p:cNvCxnSpPr>
            <a:cxnSpLocks/>
          </p:cNvCxnSpPr>
          <p:nvPr/>
        </p:nvCxnSpPr>
        <p:spPr>
          <a:xfrm>
            <a:off x="5767" y="5574219"/>
            <a:ext cx="12192000" cy="0"/>
          </a:xfrm>
          <a:prstGeom prst="line">
            <a:avLst/>
          </a:prstGeom>
          <a:ln w="76200"/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FB0B1573-8168-ED14-8C00-8B3D29B3334F}"/>
              </a:ext>
            </a:extLst>
          </p:cNvPr>
          <p:cNvCxnSpPr>
            <a:cxnSpLocks/>
          </p:cNvCxnSpPr>
          <p:nvPr/>
        </p:nvCxnSpPr>
        <p:spPr>
          <a:xfrm>
            <a:off x="1797609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909226CD-FE70-4FFC-7D90-3D15FFBAAFEA}"/>
              </a:ext>
            </a:extLst>
          </p:cNvPr>
          <p:cNvCxnSpPr>
            <a:cxnSpLocks/>
          </p:cNvCxnSpPr>
          <p:nvPr/>
        </p:nvCxnSpPr>
        <p:spPr>
          <a:xfrm>
            <a:off x="3267531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2E03482F-C0CF-0318-B8EB-BE8E57416D4B}"/>
              </a:ext>
            </a:extLst>
          </p:cNvPr>
          <p:cNvCxnSpPr>
            <a:cxnSpLocks/>
          </p:cNvCxnSpPr>
          <p:nvPr/>
        </p:nvCxnSpPr>
        <p:spPr>
          <a:xfrm>
            <a:off x="4707382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1BBE32EF-A7DC-DC58-52F0-05188902F71D}"/>
              </a:ext>
            </a:extLst>
          </p:cNvPr>
          <p:cNvCxnSpPr>
            <a:cxnSpLocks/>
          </p:cNvCxnSpPr>
          <p:nvPr/>
        </p:nvCxnSpPr>
        <p:spPr>
          <a:xfrm>
            <a:off x="6148542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FE05D969-F45D-872B-91EE-F278A43C24D0}"/>
              </a:ext>
            </a:extLst>
          </p:cNvPr>
          <p:cNvCxnSpPr>
            <a:cxnSpLocks/>
          </p:cNvCxnSpPr>
          <p:nvPr/>
        </p:nvCxnSpPr>
        <p:spPr>
          <a:xfrm>
            <a:off x="7601878" y="-1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DEF40E3B-7D4D-A5F6-D95A-F34CD175F0D6}"/>
              </a:ext>
            </a:extLst>
          </p:cNvPr>
          <p:cNvCxnSpPr>
            <a:cxnSpLocks/>
          </p:cNvCxnSpPr>
          <p:nvPr/>
        </p:nvCxnSpPr>
        <p:spPr>
          <a:xfrm>
            <a:off x="9065361" y="-1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064E0B3D-50B7-6971-2DC1-4927752FC757}"/>
              </a:ext>
            </a:extLst>
          </p:cNvPr>
          <p:cNvCxnSpPr>
            <a:cxnSpLocks/>
          </p:cNvCxnSpPr>
          <p:nvPr/>
        </p:nvCxnSpPr>
        <p:spPr>
          <a:xfrm>
            <a:off x="10511651" y="-1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A6B15CFC-6CEC-3148-F6D2-5A08EE784577}"/>
              </a:ext>
            </a:extLst>
          </p:cNvPr>
          <p:cNvSpPr txBox="1"/>
          <p:nvPr/>
        </p:nvSpPr>
        <p:spPr>
          <a:xfrm>
            <a:off x="391955" y="527659"/>
            <a:ext cx="3407314" cy="11079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6600"/>
              <a:t>天井</a:t>
            </a:r>
          </a:p>
        </p:txBody>
      </p:sp>
      <p:sp>
        <p:nvSpPr>
          <p:cNvPr id="78" name="テキスト プレースホルダー 77">
            <a:extLst>
              <a:ext uri="{FF2B5EF4-FFF2-40B4-BE49-F238E27FC236}">
                <a16:creationId xmlns:a16="http://schemas.microsoft.com/office/drawing/2014/main" id="{194C8A16-0530-C68C-8578-E4BFE656C4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0" y="6494712"/>
            <a:ext cx="4237148" cy="365986"/>
          </a:xfr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en-US" altLang="ja-JP" dirty="0">
                <a:hlinkClick r:id="rId2"/>
              </a:rPr>
              <a:t>https://harigamiya.jp/item/illust-fly.html</a:t>
            </a:r>
            <a:endParaRPr lang="ja-JP" altLang="en-US" dirty="0"/>
          </a:p>
        </p:txBody>
      </p:sp>
      <p:pic>
        <p:nvPicPr>
          <p:cNvPr id="3" name="図 2" descr="アイコン&#10;&#10;自動的に生成された説明">
            <a:extLst>
              <a:ext uri="{FF2B5EF4-FFF2-40B4-BE49-F238E27FC236}">
                <a16:creationId xmlns:a16="http://schemas.microsoft.com/office/drawing/2014/main" id="{F7402635-44B1-8741-F7BA-867024A7B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752">
            <a:off x="8339573" y="1661334"/>
            <a:ext cx="1451576" cy="205365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B68128-7925-BB2D-F678-3C8BC225B0A1}"/>
              </a:ext>
            </a:extLst>
          </p:cNvPr>
          <p:cNvSpPr/>
          <p:nvPr/>
        </p:nvSpPr>
        <p:spPr>
          <a:xfrm>
            <a:off x="306312" y="4711840"/>
            <a:ext cx="5469571" cy="149220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>
                <a:solidFill>
                  <a:schemeClr val="accent6"/>
                </a:solidFill>
              </a:rPr>
              <a:t>図形の世界</a:t>
            </a:r>
            <a:r>
              <a:rPr kumimoji="1" lang="ja-JP" altLang="en-US" sz="2800"/>
              <a:t>と</a:t>
            </a:r>
            <a:r>
              <a:rPr kumimoji="1" lang="ja-JP" altLang="en-US" sz="2800">
                <a:solidFill>
                  <a:schemeClr val="accent6"/>
                </a:solidFill>
              </a:rPr>
              <a:t>数式の世界</a:t>
            </a:r>
            <a:r>
              <a:rPr kumimoji="1" lang="ja-JP" altLang="en-US" sz="2800"/>
              <a:t>が</a:t>
            </a:r>
            <a:endParaRPr kumimoji="1" lang="en-US" altLang="ja-JP" sz="2800"/>
          </a:p>
          <a:p>
            <a:pPr algn="ctr"/>
            <a:r>
              <a:rPr kumimoji="1" lang="ja-JP" altLang="en-US" sz="2800"/>
              <a:t>結びついた！</a:t>
            </a:r>
          </a:p>
        </p:txBody>
      </p:sp>
    </p:spTree>
    <p:extLst>
      <p:ext uri="{BB962C8B-B14F-4D97-AF65-F5344CB8AC3E}">
        <p14:creationId xmlns:p14="http://schemas.microsoft.com/office/powerpoint/2010/main" val="126878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4727 0.53472 C -0.70482 0.62986 -0.64284 0.67963 -0.60729 0.65393 C -0.57474 0.63055 -0.56862 0.53449 -0.5918 0.42778 C -0.61641 0.32315 -0.66185 0.25116 -0.69427 0.27616 C -0.72878 0.30231 -0.71797 0.4 -0.66979 0.48912 C -0.61797 0.57153 -0.5599 0.58079 -0.5237 0.59329 C -0.48685 0.5919 -0.46211 0.56805 -0.44076 0.53495 C -0.41432 0.45486 -0.39596 0.40833 -0.41953 0.30301 C -0.44336 0.1993 -0.49167 0.13079 -0.52682 0.15625 C -0.55651 0.17731 -0.54479 0.27616 -0.50039 0.36458 C -0.45208 0.45092 -0.38711 0.50972 -0.35391 0.48657 C -0.3155 0.46204 -0.29883 0.45208 -0.26992 0.41157 C -0.24987 0.3493 -0.23021 0.28912 -0.25352 0.18171 C -0.27773 0.07616 -0.32461 0.00764 -0.3569 0.03055 C -0.38997 0.05416 -0.37708 0.15301 -0.33125 0.2419 C -0.28203 0.32616 -0.21602 0.34815 -0.18789 0.35231 C -0.14883 0.32847 -0.13919 0.3287 -0.11328 0.29051 C -0.09258 0.24467 -0.07161 0.12176 -0.08398 0.05856 C -0.09609 -0.00417 -0.15339 -0.11227 -0.18685 -0.0882 C -0.2207 -0.06736 -0.20781 0.0294 -0.16068 0.11782 C -0.11276 0.20231 -0.05 0.25532 -0.01706 0.22916 C 0.01458 0.20486 0.01953 0.10671 -0.00091 -0.00046 " pathEditMode="relative" rAng="14880000" ptsTypes="AAAAAAAAAAAAAAAAAAAAAA">
                                      <p:cBhvr>
                                        <p:cTn id="4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422" y="-2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F7F22E0-59C3-BE33-F6BF-161B447F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デカルトが発見した法則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7A6B1B-813D-97DE-41B4-EE683E649B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https://rekisiru.com/1339/2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761E8A-4164-1254-7C3D-B294A588F34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61853A8-4932-A9D6-E940-E18A4B0473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336" y="1490691"/>
            <a:ext cx="10579328" cy="4771413"/>
          </a:xfrm>
        </p:spPr>
        <p:txBody>
          <a:bodyPr/>
          <a:lstStyle/>
          <a:p>
            <a:pPr marL="1076325" indent="-1076325">
              <a:buClr>
                <a:schemeClr val="tx1"/>
              </a:buClr>
              <a:buFont typeface="+mj-lt"/>
              <a:buAutoNum type="arabicPeriod"/>
            </a:pPr>
            <a:r>
              <a:rPr kumimoji="1" lang="ja-JP" altLang="en-US" sz="4800" dirty="0">
                <a:latin typeface="+mn-lt"/>
              </a:rPr>
              <a:t>慣性の法則</a:t>
            </a:r>
            <a:endParaRPr kumimoji="1" lang="en-US" altLang="ja-JP" sz="4800" dirty="0">
              <a:latin typeface="+mn-lt"/>
            </a:endParaRPr>
          </a:p>
          <a:p>
            <a:pPr>
              <a:buClr>
                <a:schemeClr val="tx1"/>
              </a:buClr>
            </a:pPr>
            <a:r>
              <a:rPr lang="en-US" altLang="ja-JP" sz="2400" dirty="0"/>
              <a:t>			</a:t>
            </a:r>
            <a:r>
              <a:rPr lang="ja-JP" altLang="en-US" sz="2400" dirty="0"/>
              <a:t>→ 力が加わらない限り，</a:t>
            </a:r>
            <a:r>
              <a:rPr lang="ja-JP" altLang="en-US" sz="2400" dirty="0">
                <a:solidFill>
                  <a:schemeClr val="accent6"/>
                </a:solidFill>
              </a:rPr>
              <a:t>止まっている物体は動かない</a:t>
            </a:r>
            <a:r>
              <a:rPr lang="ja-JP" altLang="en-US" sz="2400" dirty="0"/>
              <a:t>．</a:t>
            </a:r>
            <a:endParaRPr lang="en-US" altLang="ja-JP" sz="2400" dirty="0"/>
          </a:p>
          <a:p>
            <a:pPr>
              <a:buClr>
                <a:schemeClr val="tx1"/>
              </a:buClr>
            </a:pPr>
            <a:r>
              <a:rPr lang="en-US" altLang="ja-JP" sz="2400" dirty="0"/>
              <a:t>			</a:t>
            </a:r>
            <a:r>
              <a:rPr lang="ja-JP" altLang="en-US" sz="2400" dirty="0"/>
              <a:t>　 そして，動いている物体は</a:t>
            </a:r>
            <a:r>
              <a:rPr lang="ja-JP" altLang="en-US" sz="2400" dirty="0">
                <a:solidFill>
                  <a:schemeClr val="accent6"/>
                </a:solidFill>
              </a:rPr>
              <a:t>一定の速度で動き続ける</a:t>
            </a:r>
            <a:r>
              <a:rPr lang="ja-JP" altLang="en-US" sz="2400" dirty="0"/>
              <a:t>．</a:t>
            </a:r>
            <a:endParaRPr lang="en-US" altLang="ja-JP" sz="2400" dirty="0"/>
          </a:p>
          <a:p>
            <a:pPr>
              <a:buClr>
                <a:schemeClr val="tx1"/>
              </a:buClr>
            </a:pPr>
            <a:endParaRPr kumimoji="1" lang="en-US" altLang="ja-JP" sz="1000" dirty="0">
              <a:latin typeface="+mn-lt"/>
            </a:endParaRPr>
          </a:p>
          <a:p>
            <a:pPr marL="1076325" indent="-1076325">
              <a:buClr>
                <a:schemeClr val="tx1"/>
              </a:buClr>
              <a:buFont typeface="+mj-lt"/>
              <a:buAutoNum type="arabicPeriod" startAt="2"/>
            </a:pPr>
            <a:r>
              <a:rPr lang="ja-JP" altLang="en-US" sz="4800" dirty="0"/>
              <a:t>運動量保存の法則</a:t>
            </a:r>
            <a:endParaRPr lang="en-US" altLang="ja-JP" sz="4800" dirty="0"/>
          </a:p>
          <a:p>
            <a:pPr>
              <a:buClr>
                <a:schemeClr val="tx1"/>
              </a:buClr>
            </a:pPr>
            <a:r>
              <a:rPr kumimoji="1" lang="en-US" altLang="ja-JP" sz="2400" dirty="0">
                <a:latin typeface="+mn-lt"/>
              </a:rPr>
              <a:t>			</a:t>
            </a:r>
            <a:r>
              <a:rPr kumimoji="1" lang="ja-JP" altLang="en-US" sz="2400" dirty="0">
                <a:latin typeface="+mn-lt"/>
              </a:rPr>
              <a:t>→ 外部から力が加わらない限り</a:t>
            </a:r>
            <a:r>
              <a:rPr lang="ja-JP" altLang="en-US" sz="2400" dirty="0"/>
              <a:t>，</a:t>
            </a:r>
            <a:r>
              <a:rPr kumimoji="1" lang="ja-JP" altLang="en-US" sz="2400" dirty="0">
                <a:solidFill>
                  <a:schemeClr val="accent6"/>
                </a:solidFill>
                <a:latin typeface="+mn-lt"/>
              </a:rPr>
              <a:t>運動量の総和は変わらない</a:t>
            </a:r>
            <a:r>
              <a:rPr kumimoji="1" lang="ja-JP" altLang="en-US" sz="2400" dirty="0">
                <a:latin typeface="+mn-lt"/>
              </a:rPr>
              <a:t>．</a:t>
            </a:r>
            <a:endParaRPr kumimoji="1" lang="en-US" altLang="ja-JP" sz="2400" dirty="0">
              <a:latin typeface="+mn-lt"/>
            </a:endParaRPr>
          </a:p>
          <a:p>
            <a:pPr>
              <a:buClr>
                <a:schemeClr val="tx1"/>
              </a:buClr>
            </a:pPr>
            <a:endParaRPr kumimoji="1" lang="en-US" altLang="ja-JP" sz="1000" dirty="0">
              <a:latin typeface="+mn-lt"/>
            </a:endParaRPr>
          </a:p>
          <a:p>
            <a:pPr marL="1076325" indent="-1076325">
              <a:buClr>
                <a:schemeClr val="tx1"/>
              </a:buClr>
              <a:buFont typeface="+mj-lt"/>
              <a:buAutoNum type="arabicPeriod" startAt="3"/>
            </a:pPr>
            <a:r>
              <a:rPr kumimoji="1" lang="ja-JP" altLang="en-US" sz="4800" dirty="0">
                <a:latin typeface="+mn-lt"/>
              </a:rPr>
              <a:t>虹の原理</a:t>
            </a:r>
          </a:p>
          <a:p>
            <a:pPr>
              <a:buClr>
                <a:schemeClr val="tx1"/>
              </a:buClr>
            </a:pPr>
            <a:r>
              <a:rPr lang="en-US" altLang="ja-JP" sz="2400" dirty="0"/>
              <a:t>			</a:t>
            </a:r>
            <a:r>
              <a:rPr lang="ja-JP" altLang="en-US" sz="2400" dirty="0"/>
              <a:t>→ 幾何光学的分散．</a:t>
            </a:r>
            <a:endParaRPr kumimoji="1" lang="ja-JP" alt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41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514EDA-063A-80C2-226E-ED3F7E0D5C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>
                <a:hlinkClick r:id="rId2"/>
              </a:rPr>
              <a:t>https://x.com/kek_jp/status/1875117045018427481</a:t>
            </a:r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A0C8C6-CDCF-A7D6-84BB-0D7A7125C72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4B088ED-C7C4-EECA-3056-42424C4B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61" y="799141"/>
            <a:ext cx="6964139" cy="1510401"/>
          </a:xfrm>
        </p:spPr>
        <p:txBody>
          <a:bodyPr anchor="ctr"/>
          <a:lstStyle/>
          <a:p>
            <a:pPr algn="ctr"/>
            <a:r>
              <a:rPr lang="ja-JP" altLang="en-US"/>
              <a:t>アイザック・ニュートン</a:t>
            </a:r>
            <a:br>
              <a:rPr kumimoji="1" lang="en-US" altLang="ja-JP"/>
            </a:br>
            <a:r>
              <a:rPr kumimoji="1" lang="ja-JP" altLang="en-US" sz="3600"/>
              <a:t>（</a:t>
            </a:r>
            <a:r>
              <a:rPr kumimoji="1" lang="en-US" altLang="ja-JP" sz="3600"/>
              <a:t>A.</a:t>
            </a:r>
            <a:r>
              <a:rPr lang="ja-JP" altLang="en-US" sz="3600"/>
              <a:t>Ｄ</a:t>
            </a:r>
            <a:r>
              <a:rPr kumimoji="1" lang="en-US" altLang="ja-JP" sz="3600"/>
              <a:t>. 1642-1727</a:t>
            </a:r>
            <a:r>
              <a:rPr kumimoji="1" lang="ja-JP" altLang="en-US" sz="3600"/>
              <a:t>年）</a:t>
            </a:r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8EB7F94-9E4C-B9FF-8A6E-5B33C4382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8"/>
          <a:stretch/>
        </p:blipFill>
        <p:spPr>
          <a:xfrm>
            <a:off x="830392" y="442580"/>
            <a:ext cx="4360624" cy="5853075"/>
          </a:xfrm>
          <a:prstGeom prst="rect">
            <a:avLst/>
          </a:prstGeom>
        </p:spPr>
      </p:pic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E44770B9-0D10-3773-5A5C-831262AE184F}"/>
              </a:ext>
            </a:extLst>
          </p:cNvPr>
          <p:cNvSpPr/>
          <p:nvPr/>
        </p:nvSpPr>
        <p:spPr>
          <a:xfrm>
            <a:off x="6282063" y="3317801"/>
            <a:ext cx="5079545" cy="2598906"/>
          </a:xfrm>
          <a:prstGeom prst="wedgeRoundRectCallout">
            <a:avLst>
              <a:gd name="adj1" fmla="val -96392"/>
              <a:gd name="adj2" fmla="val -6527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地球がリンゴを</a:t>
            </a:r>
            <a:endParaRPr kumimoji="1" lang="en-US" altLang="ja-JP" sz="32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>
                <a:solidFill>
                  <a:schemeClr val="accent6"/>
                </a:solidFill>
              </a:rPr>
              <a:t>引っ張っている</a:t>
            </a:r>
            <a:r>
              <a:rPr kumimoji="1" lang="ja-JP" altLang="en-US" sz="3200">
                <a:solidFill>
                  <a:schemeClr val="tx1"/>
                </a:solidFill>
              </a:rPr>
              <a:t>！</a:t>
            </a:r>
            <a:endParaRPr kumimoji="1" lang="en-US" altLang="ja-JP" sz="32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（万有引力の法則）</a:t>
            </a:r>
          </a:p>
        </p:txBody>
      </p:sp>
    </p:spTree>
    <p:extLst>
      <p:ext uri="{BB962C8B-B14F-4D97-AF65-F5344CB8AC3E}">
        <p14:creationId xmlns:p14="http://schemas.microsoft.com/office/powerpoint/2010/main" val="258971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思考の吹き出し: 雲形 12">
            <a:extLst>
              <a:ext uri="{FF2B5EF4-FFF2-40B4-BE49-F238E27FC236}">
                <a16:creationId xmlns:a16="http://schemas.microsoft.com/office/drawing/2014/main" id="{3A9599B2-3084-1745-47A4-807416F184A0}"/>
              </a:ext>
            </a:extLst>
          </p:cNvPr>
          <p:cNvSpPr/>
          <p:nvPr/>
        </p:nvSpPr>
        <p:spPr>
          <a:xfrm>
            <a:off x="6884952" y="1715598"/>
            <a:ext cx="4962259" cy="3596898"/>
          </a:xfrm>
          <a:prstGeom prst="cloudCallout">
            <a:avLst>
              <a:gd name="adj1" fmla="val -67267"/>
              <a:gd name="adj2" fmla="val 2624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68D224B-EE67-D410-D704-D98CD537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リンゴが木から落ちる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F69078-DCDE-60CC-E83B-213945EC9A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https://www.irasutoya.com/2015/10/blog-post_105.html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1A64D8-F9C9-2487-CD2F-556DB89B190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  <p:pic>
        <p:nvPicPr>
          <p:cNvPr id="1030" name="Picture 6" descr="地球のイラスト（惑星）">
            <a:extLst>
              <a:ext uri="{FF2B5EF4-FFF2-40B4-BE49-F238E27FC236}">
                <a16:creationId xmlns:a16="http://schemas.microsoft.com/office/drawing/2014/main" id="{74627BCD-5559-152B-677B-98A14D47E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003" y="3748829"/>
            <a:ext cx="1340752" cy="131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重力を発見したニュートンのイラスト">
            <a:extLst>
              <a:ext uri="{FF2B5EF4-FFF2-40B4-BE49-F238E27FC236}">
                <a16:creationId xmlns:a16="http://schemas.microsoft.com/office/drawing/2014/main" id="{E9B7A024-C78B-E1D1-2E38-4DA259A2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492" y="4261898"/>
            <a:ext cx="1917508" cy="204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いろいろな木のイラスト「木の実」">
            <a:extLst>
              <a:ext uri="{FF2B5EF4-FFF2-40B4-BE49-F238E27FC236}">
                <a16:creationId xmlns:a16="http://schemas.microsoft.com/office/drawing/2014/main" id="{9A471782-EF14-F8EA-3FAF-85D8F8CFD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90" y="1657905"/>
            <a:ext cx="4077675" cy="501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りんごのイラスト（フルーツ）">
            <a:extLst>
              <a:ext uri="{FF2B5EF4-FFF2-40B4-BE49-F238E27FC236}">
                <a16:creationId xmlns:a16="http://schemas.microsoft.com/office/drawing/2014/main" id="{3EE11AB9-B0B7-9D87-0F19-BA407BC7A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066" y="3345745"/>
            <a:ext cx="545610" cy="56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83B0BD2-C33A-8C59-CBA8-015F634204E6}"/>
              </a:ext>
            </a:extLst>
          </p:cNvPr>
          <p:cNvCxnSpPr>
            <a:cxnSpLocks/>
          </p:cNvCxnSpPr>
          <p:nvPr/>
        </p:nvCxnSpPr>
        <p:spPr>
          <a:xfrm flipH="1">
            <a:off x="9483962" y="2673750"/>
            <a:ext cx="7417" cy="110248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8298244-0A27-6719-EFD8-88A3832A21DB}"/>
              </a:ext>
            </a:extLst>
          </p:cNvPr>
          <p:cNvGrpSpPr/>
          <p:nvPr/>
        </p:nvGrpSpPr>
        <p:grpSpPr>
          <a:xfrm>
            <a:off x="5371703" y="3187674"/>
            <a:ext cx="850531" cy="1299100"/>
            <a:chOff x="5021061" y="2315584"/>
            <a:chExt cx="850531" cy="129910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ECAC32B4-3F8F-FBD5-9BA7-4FC5BBD85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506211">
              <a:off x="5334385" y="2437184"/>
              <a:ext cx="537207" cy="11775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49C57881-9281-D9FA-EA45-379B44047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43" r="73822" b="-9835"/>
            <a:stretch/>
          </p:blipFill>
          <p:spPr>
            <a:xfrm rot="1506211">
              <a:off x="5021061" y="2315584"/>
              <a:ext cx="537207" cy="1177500"/>
            </a:xfrm>
            <a:prstGeom prst="rect">
              <a:avLst/>
            </a:prstGeom>
          </p:spPr>
        </p:pic>
      </p:grpSp>
      <p:pic>
        <p:nvPicPr>
          <p:cNvPr id="9" name="Picture 4" descr="りんごのイラスト（フルーツ）">
            <a:extLst>
              <a:ext uri="{FF2B5EF4-FFF2-40B4-BE49-F238E27FC236}">
                <a16:creationId xmlns:a16="http://schemas.microsoft.com/office/drawing/2014/main" id="{DC77B04D-66F8-39C5-FB21-243EBFA89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822" y="2152567"/>
            <a:ext cx="478279" cy="49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F16C89B-B46E-4B81-3C1F-82A462815A2F}"/>
              </a:ext>
            </a:extLst>
          </p:cNvPr>
          <p:cNvSpPr txBox="1"/>
          <p:nvPr/>
        </p:nvSpPr>
        <p:spPr>
          <a:xfrm>
            <a:off x="7113485" y="5765531"/>
            <a:ext cx="4505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地球がリンゴを引っ張っている．</a:t>
            </a:r>
          </a:p>
        </p:txBody>
      </p:sp>
    </p:spTree>
    <p:extLst>
      <p:ext uri="{BB962C8B-B14F-4D97-AF65-F5344CB8AC3E}">
        <p14:creationId xmlns:p14="http://schemas.microsoft.com/office/powerpoint/2010/main" val="179822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85185E-6 L -4.375E-6 0.30278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4.58333E-6 0.1713 " pathEditMode="relative" rAng="0" ptsTypes="AA">
                                      <p:cBhvr>
                                        <p:cTn id="40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56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2610-52DA-5E2B-5F56-9BC506A6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530A60-DD3B-6166-438E-FA1F8F52C5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7626" y="1514369"/>
            <a:ext cx="11157066" cy="4724057"/>
          </a:xfrm>
        </p:spPr>
        <p:txBody>
          <a:bodyPr anchor="ctr"/>
          <a:lstStyle/>
          <a:p>
            <a:pPr marL="723900" indent="-723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dirty="0"/>
              <a:t>なぜ，</a:t>
            </a:r>
            <a:r>
              <a:rPr kumimoji="1" lang="ja-JP" altLang="en-US" dirty="0"/>
              <a:t>鳥が取り残されないのか？</a:t>
            </a:r>
            <a:endParaRPr kumimoji="1" lang="en-US" altLang="ja-JP" sz="1000" dirty="0"/>
          </a:p>
          <a:p>
            <a:pPr marL="723900" indent="-723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dirty="0"/>
              <a:t>なぜ，地球は止まらないで動き続けているのか？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		</a:t>
            </a:r>
            <a:r>
              <a:rPr lang="ja-JP" altLang="en-US" dirty="0"/>
              <a:t>→ </a:t>
            </a:r>
            <a:r>
              <a:rPr lang="ja-JP" altLang="en-US" dirty="0">
                <a:solidFill>
                  <a:schemeClr val="accent6"/>
                </a:solidFill>
              </a:rPr>
              <a:t>慣性の法則</a:t>
            </a:r>
            <a:r>
              <a:rPr lang="ja-JP" altLang="en-US" dirty="0"/>
              <a:t>（デカルト）</a:t>
            </a:r>
            <a:endParaRPr lang="en-US" altLang="ja-JP" sz="1000" dirty="0"/>
          </a:p>
          <a:p>
            <a:pPr marL="723900" indent="-723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ja-JP" altLang="en-US" dirty="0"/>
              <a:t>なぜ，物体が下に落ちるのか</a:t>
            </a:r>
            <a:r>
              <a:rPr kumimoji="1" lang="ja-JP" altLang="en-US" dirty="0"/>
              <a:t>？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		</a:t>
            </a:r>
            <a:r>
              <a:rPr lang="ja-JP" altLang="en-US" dirty="0"/>
              <a:t>→ </a:t>
            </a:r>
            <a:r>
              <a:rPr lang="ja-JP" altLang="en-US" dirty="0">
                <a:solidFill>
                  <a:schemeClr val="accent6"/>
                </a:solidFill>
              </a:rPr>
              <a:t>万有引力の法則</a:t>
            </a:r>
            <a:r>
              <a:rPr lang="ja-JP" altLang="en-US" dirty="0"/>
              <a:t>（ニュートン）</a:t>
            </a:r>
            <a:endParaRPr kumimoji="1"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AF440DF-D2B0-516E-1AA1-1CC90C4D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まだ分からないこと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E378A2-9E88-7248-5E9F-4BFE45DAC6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https://www2.yukawa.kyoto-u.ac.jp/~takehiro.azuma/kagakugijutsu_azuma_slide.pdf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EC5E5C-CDC1-2E33-D928-F8AFAAC912D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61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C302-3407-8067-DA23-47253181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二等辺三角形 18">
            <a:extLst>
              <a:ext uri="{FF2B5EF4-FFF2-40B4-BE49-F238E27FC236}">
                <a16:creationId xmlns:a16="http://schemas.microsoft.com/office/drawing/2014/main" id="{646C1864-E741-C117-9868-5C971676283B}"/>
              </a:ext>
            </a:extLst>
          </p:cNvPr>
          <p:cNvSpPr/>
          <p:nvPr/>
        </p:nvSpPr>
        <p:spPr>
          <a:xfrm>
            <a:off x="1452714" y="2739327"/>
            <a:ext cx="3434321" cy="3363310"/>
          </a:xfrm>
          <a:custGeom>
            <a:avLst/>
            <a:gdLst>
              <a:gd name="connsiteX0" fmla="*/ 0 w 349624"/>
              <a:gd name="connsiteY0" fmla="*/ 318887 h 318887"/>
              <a:gd name="connsiteX1" fmla="*/ 174812 w 349624"/>
              <a:gd name="connsiteY1" fmla="*/ 0 h 318887"/>
              <a:gd name="connsiteX2" fmla="*/ 349624 w 349624"/>
              <a:gd name="connsiteY2" fmla="*/ 318887 h 318887"/>
              <a:gd name="connsiteX3" fmla="*/ 0 w 349624"/>
              <a:gd name="connsiteY3" fmla="*/ 318887 h 318887"/>
              <a:gd name="connsiteX0" fmla="*/ 0 w 3031351"/>
              <a:gd name="connsiteY0" fmla="*/ 522514 h 522514"/>
              <a:gd name="connsiteX1" fmla="*/ 174812 w 3031351"/>
              <a:gd name="connsiteY1" fmla="*/ 203627 h 522514"/>
              <a:gd name="connsiteX2" fmla="*/ 3031351 w 3031351"/>
              <a:gd name="connsiteY2" fmla="*/ 0 h 522514"/>
              <a:gd name="connsiteX3" fmla="*/ 0 w 3031351"/>
              <a:gd name="connsiteY3" fmla="*/ 522514 h 522514"/>
              <a:gd name="connsiteX0" fmla="*/ 1100738 w 2856539"/>
              <a:gd name="connsiteY0" fmla="*/ 3319503 h 3319503"/>
              <a:gd name="connsiteX1" fmla="*/ 0 w 2856539"/>
              <a:gd name="connsiteY1" fmla="*/ 203627 h 3319503"/>
              <a:gd name="connsiteX2" fmla="*/ 2856539 w 2856539"/>
              <a:gd name="connsiteY2" fmla="*/ 0 h 3319503"/>
              <a:gd name="connsiteX3" fmla="*/ 1100738 w 2856539"/>
              <a:gd name="connsiteY3" fmla="*/ 3319503 h 3319503"/>
              <a:gd name="connsiteX0" fmla="*/ 1707129 w 3462930"/>
              <a:gd name="connsiteY0" fmla="*/ 3319503 h 3319503"/>
              <a:gd name="connsiteX1" fmla="*/ 0 w 3462930"/>
              <a:gd name="connsiteY1" fmla="*/ 1144497 h 3319503"/>
              <a:gd name="connsiteX2" fmla="*/ 3462930 w 3462930"/>
              <a:gd name="connsiteY2" fmla="*/ 0 h 3319503"/>
              <a:gd name="connsiteX3" fmla="*/ 1707129 w 3462930"/>
              <a:gd name="connsiteY3" fmla="*/ 3319503 h 3319503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33941"/>
              <a:gd name="connsiteX1" fmla="*/ 0 w 3431648"/>
              <a:gd name="connsiteY1" fmla="*/ 1158935 h 3333941"/>
              <a:gd name="connsiteX2" fmla="*/ 3431648 w 3431648"/>
              <a:gd name="connsiteY2" fmla="*/ 0 h 3333941"/>
              <a:gd name="connsiteX3" fmla="*/ 1707129 w 3431648"/>
              <a:gd name="connsiteY3" fmla="*/ 3333941 h 333394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  <a:gd name="connsiteX0" fmla="*/ 1707129 w 3431648"/>
              <a:gd name="connsiteY0" fmla="*/ 3333941 h 3360691"/>
              <a:gd name="connsiteX1" fmla="*/ 0 w 3431648"/>
              <a:gd name="connsiteY1" fmla="*/ 1158935 h 3360691"/>
              <a:gd name="connsiteX2" fmla="*/ 3431648 w 3431648"/>
              <a:gd name="connsiteY2" fmla="*/ 0 h 3360691"/>
              <a:gd name="connsiteX3" fmla="*/ 1707129 w 3431648"/>
              <a:gd name="connsiteY3" fmla="*/ 3333941 h 336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1648" h="3360691">
                <a:moveTo>
                  <a:pt x="1707129" y="3333941"/>
                </a:moveTo>
                <a:cubicBezTo>
                  <a:pt x="1196254" y="3502398"/>
                  <a:pt x="513201" y="2886753"/>
                  <a:pt x="0" y="1158935"/>
                </a:cubicBezTo>
                <a:lnTo>
                  <a:pt x="3431648" y="0"/>
                </a:lnTo>
                <a:cubicBezTo>
                  <a:pt x="2994085" y="1348639"/>
                  <a:pt x="2577463" y="2881088"/>
                  <a:pt x="1707129" y="3333941"/>
                </a:cubicBezTo>
                <a:close/>
              </a:path>
            </a:pathLst>
          </a:cu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21" name="グループ化 220">
            <a:extLst>
              <a:ext uri="{FF2B5EF4-FFF2-40B4-BE49-F238E27FC236}">
                <a16:creationId xmlns:a16="http://schemas.microsoft.com/office/drawing/2014/main" id="{E28FE717-F6B9-9689-1C80-4E99967156AF}"/>
              </a:ext>
            </a:extLst>
          </p:cNvPr>
          <p:cNvGrpSpPr/>
          <p:nvPr/>
        </p:nvGrpSpPr>
        <p:grpSpPr>
          <a:xfrm>
            <a:off x="1407009" y="2726838"/>
            <a:ext cx="3458764" cy="3385831"/>
            <a:chOff x="1407009" y="2726838"/>
            <a:chExt cx="3458764" cy="3385831"/>
          </a:xfrm>
        </p:grpSpPr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B4FDD906-716C-E915-D07E-B1C842539D25}"/>
                </a:ext>
              </a:extLst>
            </p:cNvPr>
            <p:cNvSpPr/>
            <p:nvPr/>
          </p:nvSpPr>
          <p:spPr>
            <a:xfrm>
              <a:off x="4820054" y="2726838"/>
              <a:ext cx="45719" cy="19884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1B33AA25-B711-986E-849A-F2FC4140012F}"/>
                </a:ext>
              </a:extLst>
            </p:cNvPr>
            <p:cNvSpPr/>
            <p:nvPr/>
          </p:nvSpPr>
          <p:spPr>
            <a:xfrm>
              <a:off x="4774154" y="2745888"/>
              <a:ext cx="48655" cy="31939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3DE88771-2BC9-97BE-8783-6377D86D3251}"/>
                </a:ext>
              </a:extLst>
            </p:cNvPr>
            <p:cNvSpPr/>
            <p:nvPr/>
          </p:nvSpPr>
          <p:spPr>
            <a:xfrm>
              <a:off x="4728254" y="2761365"/>
              <a:ext cx="48655" cy="46791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A381C447-6C6A-5573-8F22-5CC1FDF22757}"/>
                </a:ext>
              </a:extLst>
            </p:cNvPr>
            <p:cNvSpPr/>
            <p:nvPr/>
          </p:nvSpPr>
          <p:spPr>
            <a:xfrm>
              <a:off x="4682354" y="2780416"/>
              <a:ext cx="51591" cy="59413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34B55C6A-0D91-BEF7-75E0-CE48EDDA138D}"/>
                </a:ext>
              </a:extLst>
            </p:cNvPr>
            <p:cNvSpPr/>
            <p:nvPr/>
          </p:nvSpPr>
          <p:spPr>
            <a:xfrm>
              <a:off x="4642326" y="2794703"/>
              <a:ext cx="45719" cy="72096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18B82CA2-0528-F866-2A5A-87DBBFDDC5DC}"/>
                </a:ext>
              </a:extLst>
            </p:cNvPr>
            <p:cNvSpPr/>
            <p:nvPr/>
          </p:nvSpPr>
          <p:spPr>
            <a:xfrm>
              <a:off x="4593490" y="2807800"/>
              <a:ext cx="51591" cy="82990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453391A6-92B2-B8D3-9335-A2D70E9F1B4E}"/>
                </a:ext>
              </a:extLst>
            </p:cNvPr>
            <p:cNvSpPr/>
            <p:nvPr/>
          </p:nvSpPr>
          <p:spPr>
            <a:xfrm>
              <a:off x="4553462" y="2824469"/>
              <a:ext cx="45719" cy="96321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4F4AE1B2-D2F5-DF37-6151-528578599BDC}"/>
                </a:ext>
              </a:extLst>
            </p:cNvPr>
            <p:cNvSpPr/>
            <p:nvPr/>
          </p:nvSpPr>
          <p:spPr>
            <a:xfrm>
              <a:off x="4510498" y="2838756"/>
              <a:ext cx="45719" cy="105366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897C7B2B-A6F5-6AB4-CF11-66DF58EAAD99}"/>
                </a:ext>
              </a:extLst>
            </p:cNvPr>
            <p:cNvSpPr/>
            <p:nvPr/>
          </p:nvSpPr>
          <p:spPr>
            <a:xfrm>
              <a:off x="4464598" y="2855425"/>
              <a:ext cx="45719" cy="116481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E18B3AB8-9D2B-5452-11AD-D5DA28FCED02}"/>
                </a:ext>
              </a:extLst>
            </p:cNvPr>
            <p:cNvSpPr/>
            <p:nvPr/>
          </p:nvSpPr>
          <p:spPr>
            <a:xfrm>
              <a:off x="4421634" y="2869100"/>
              <a:ext cx="45719" cy="126912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2" name="正方形/長方形 231">
              <a:extLst>
                <a:ext uri="{FF2B5EF4-FFF2-40B4-BE49-F238E27FC236}">
                  <a16:creationId xmlns:a16="http://schemas.microsoft.com/office/drawing/2014/main" id="{D9D62494-83F6-0354-FCA8-AC86C83581F9}"/>
                </a:ext>
              </a:extLst>
            </p:cNvPr>
            <p:cNvSpPr/>
            <p:nvPr/>
          </p:nvSpPr>
          <p:spPr>
            <a:xfrm>
              <a:off x="4375734" y="2885191"/>
              <a:ext cx="45719" cy="136414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3B8FAEF2-959E-ED77-85FD-48807950366C}"/>
                </a:ext>
              </a:extLst>
            </p:cNvPr>
            <p:cNvSpPr/>
            <p:nvPr/>
          </p:nvSpPr>
          <p:spPr>
            <a:xfrm>
              <a:off x="4332770" y="2900669"/>
              <a:ext cx="45719" cy="146001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5DBDFC70-0C1E-6AD5-B169-82C35C1603BC}"/>
                </a:ext>
              </a:extLst>
            </p:cNvPr>
            <p:cNvSpPr/>
            <p:nvPr/>
          </p:nvSpPr>
          <p:spPr>
            <a:xfrm>
              <a:off x="4286870" y="2912575"/>
              <a:ext cx="45719" cy="156448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3AD14D23-1AA3-2B70-9D5A-0100A845EB73}"/>
                </a:ext>
              </a:extLst>
            </p:cNvPr>
            <p:cNvSpPr/>
            <p:nvPr/>
          </p:nvSpPr>
          <p:spPr>
            <a:xfrm>
              <a:off x="4238034" y="2925678"/>
              <a:ext cx="51591" cy="165804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71CACBC2-3F3F-4377-D34A-B832F208CF73}"/>
                </a:ext>
              </a:extLst>
            </p:cNvPr>
            <p:cNvSpPr/>
            <p:nvPr/>
          </p:nvSpPr>
          <p:spPr>
            <a:xfrm>
              <a:off x="4198006" y="2948840"/>
              <a:ext cx="45719" cy="172647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7B100AD1-144F-266E-3F5C-E07248C5794A}"/>
                </a:ext>
              </a:extLst>
            </p:cNvPr>
            <p:cNvSpPr/>
            <p:nvPr/>
          </p:nvSpPr>
          <p:spPr>
            <a:xfrm>
              <a:off x="4155042" y="2957819"/>
              <a:ext cx="45719" cy="182810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74FF69D7-9D7D-49BB-3A0A-185269DFC7C5}"/>
                </a:ext>
              </a:extLst>
            </p:cNvPr>
            <p:cNvSpPr/>
            <p:nvPr/>
          </p:nvSpPr>
          <p:spPr>
            <a:xfrm>
              <a:off x="4109142" y="2975678"/>
              <a:ext cx="45719" cy="189623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246991DE-A24E-5203-30A3-DF19D5DE875F}"/>
                </a:ext>
              </a:extLst>
            </p:cNvPr>
            <p:cNvSpPr/>
            <p:nvPr/>
          </p:nvSpPr>
          <p:spPr>
            <a:xfrm>
              <a:off x="4066178" y="2991156"/>
              <a:ext cx="45719" cy="195946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CECB4B4D-04B0-E59F-B90A-14D302F0DF25}"/>
                </a:ext>
              </a:extLst>
            </p:cNvPr>
            <p:cNvSpPr/>
            <p:nvPr/>
          </p:nvSpPr>
          <p:spPr>
            <a:xfrm>
              <a:off x="4020278" y="3004253"/>
              <a:ext cx="45719" cy="203076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583ECD3E-9240-71C0-7A24-5BB6628FBEB3}"/>
                </a:ext>
              </a:extLst>
            </p:cNvPr>
            <p:cNvSpPr/>
            <p:nvPr/>
          </p:nvSpPr>
          <p:spPr>
            <a:xfrm>
              <a:off x="3977314" y="3018541"/>
              <a:ext cx="45719" cy="209311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07BF557A-1509-AC82-CDA8-C5312C5FDF80}"/>
                </a:ext>
              </a:extLst>
            </p:cNvPr>
            <p:cNvSpPr/>
            <p:nvPr/>
          </p:nvSpPr>
          <p:spPr>
            <a:xfrm>
              <a:off x="3931414" y="3035220"/>
              <a:ext cx="45719" cy="216243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F7E18818-F283-DFB2-0255-F2BB02988487}"/>
                </a:ext>
              </a:extLst>
            </p:cNvPr>
            <p:cNvSpPr/>
            <p:nvPr/>
          </p:nvSpPr>
          <p:spPr>
            <a:xfrm>
              <a:off x="3888450" y="3051879"/>
              <a:ext cx="45719" cy="221843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9184BCD0-6CE9-BAC8-6B0C-6E0F938E26A9}"/>
                </a:ext>
              </a:extLst>
            </p:cNvPr>
            <p:cNvSpPr/>
            <p:nvPr/>
          </p:nvSpPr>
          <p:spPr>
            <a:xfrm>
              <a:off x="3842550" y="3065283"/>
              <a:ext cx="45719" cy="230207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05DC89EC-6707-CE44-A278-73835DD84437}"/>
                </a:ext>
              </a:extLst>
            </p:cNvPr>
            <p:cNvSpPr/>
            <p:nvPr/>
          </p:nvSpPr>
          <p:spPr>
            <a:xfrm>
              <a:off x="3793714" y="3080452"/>
              <a:ext cx="51591" cy="234910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A3CFBFC4-D3C1-F608-F7D5-D1DCBA75B66C}"/>
                </a:ext>
              </a:extLst>
            </p:cNvPr>
            <p:cNvSpPr/>
            <p:nvPr/>
          </p:nvSpPr>
          <p:spPr>
            <a:xfrm>
              <a:off x="3753686" y="3099504"/>
              <a:ext cx="45719" cy="239591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881F3E5E-5AC2-43BD-9B93-767B67A6DAEB}"/>
                </a:ext>
              </a:extLst>
            </p:cNvPr>
            <p:cNvSpPr/>
            <p:nvPr/>
          </p:nvSpPr>
          <p:spPr>
            <a:xfrm>
              <a:off x="3704850" y="3111409"/>
              <a:ext cx="51591" cy="245149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CB5EAF4B-83DC-852C-8510-1C3F9640A87C}"/>
                </a:ext>
              </a:extLst>
            </p:cNvPr>
            <p:cNvSpPr/>
            <p:nvPr/>
          </p:nvSpPr>
          <p:spPr>
            <a:xfrm>
              <a:off x="3664642" y="3129269"/>
              <a:ext cx="45899" cy="248840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CC013ED6-CC48-3C17-A731-8C67FC5D422B}"/>
                </a:ext>
              </a:extLst>
            </p:cNvPr>
            <p:cNvSpPr/>
            <p:nvPr/>
          </p:nvSpPr>
          <p:spPr>
            <a:xfrm>
              <a:off x="3621858" y="3144762"/>
              <a:ext cx="45719" cy="253006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B31E39FE-CE1D-A7EE-4A26-0B4A4A533E72}"/>
                </a:ext>
              </a:extLst>
            </p:cNvPr>
            <p:cNvSpPr/>
            <p:nvPr/>
          </p:nvSpPr>
          <p:spPr>
            <a:xfrm>
              <a:off x="3573692" y="3160225"/>
              <a:ext cx="47986" cy="256447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85B0AF4F-17E6-485F-EF1A-1B7EE40B2B89}"/>
                </a:ext>
              </a:extLst>
            </p:cNvPr>
            <p:cNvSpPr/>
            <p:nvPr/>
          </p:nvSpPr>
          <p:spPr>
            <a:xfrm>
              <a:off x="3532994" y="3170942"/>
              <a:ext cx="45719" cy="260746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E57D01F7-5F51-F4DB-0F5E-4590DAA38E0E}"/>
                </a:ext>
              </a:extLst>
            </p:cNvPr>
            <p:cNvSpPr/>
            <p:nvPr/>
          </p:nvSpPr>
          <p:spPr>
            <a:xfrm>
              <a:off x="3489849" y="3186419"/>
              <a:ext cx="47986" cy="263889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23D487B1-9006-1EC5-146A-7DF8E1D4E92E}"/>
                </a:ext>
              </a:extLst>
            </p:cNvPr>
            <p:cNvSpPr/>
            <p:nvPr/>
          </p:nvSpPr>
          <p:spPr>
            <a:xfrm>
              <a:off x="3444130" y="3199533"/>
              <a:ext cx="45719" cy="266936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32A771D6-21F6-BC30-C9D1-DB6D284BAE8E}"/>
                </a:ext>
              </a:extLst>
            </p:cNvPr>
            <p:cNvSpPr/>
            <p:nvPr/>
          </p:nvSpPr>
          <p:spPr>
            <a:xfrm>
              <a:off x="3398230" y="3219756"/>
              <a:ext cx="45719" cy="268703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DDB7985C-6A40-7809-8679-F33D784AE665}"/>
                </a:ext>
              </a:extLst>
            </p:cNvPr>
            <p:cNvSpPr/>
            <p:nvPr/>
          </p:nvSpPr>
          <p:spPr>
            <a:xfrm>
              <a:off x="3355266" y="3228577"/>
              <a:ext cx="45719" cy="271891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EAE1DB2F-40F4-EF84-A779-6FFF131CDA2E}"/>
                </a:ext>
              </a:extLst>
            </p:cNvPr>
            <p:cNvSpPr/>
            <p:nvPr/>
          </p:nvSpPr>
          <p:spPr>
            <a:xfrm>
              <a:off x="3309366" y="3248311"/>
              <a:ext cx="45719" cy="274961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A78566FF-98BF-3B94-8311-E04197F32AED}"/>
                </a:ext>
              </a:extLst>
            </p:cNvPr>
            <p:cNvSpPr/>
            <p:nvPr/>
          </p:nvSpPr>
          <p:spPr>
            <a:xfrm>
              <a:off x="3266402" y="3262014"/>
              <a:ext cx="45719" cy="277099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3DD014C3-AD92-E181-127A-8A55FCD1D1F0}"/>
                </a:ext>
              </a:extLst>
            </p:cNvPr>
            <p:cNvSpPr/>
            <p:nvPr/>
          </p:nvSpPr>
          <p:spPr>
            <a:xfrm>
              <a:off x="3220502" y="3275716"/>
              <a:ext cx="45719" cy="278411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E56ADB1D-B427-8E1E-F2BB-623288272B42}"/>
                </a:ext>
              </a:extLst>
            </p:cNvPr>
            <p:cNvSpPr/>
            <p:nvPr/>
          </p:nvSpPr>
          <p:spPr>
            <a:xfrm>
              <a:off x="3177538" y="3297615"/>
              <a:ext cx="45719" cy="276221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99A3745C-6B07-EA95-8EE7-B7E2908228DD}"/>
                </a:ext>
              </a:extLst>
            </p:cNvPr>
            <p:cNvSpPr/>
            <p:nvPr/>
          </p:nvSpPr>
          <p:spPr>
            <a:xfrm>
              <a:off x="3131638" y="3309075"/>
              <a:ext cx="45719" cy="275076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A9D9E905-1E9C-E759-89DA-F4D63054F5D0}"/>
                </a:ext>
              </a:extLst>
            </p:cNvPr>
            <p:cNvSpPr/>
            <p:nvPr/>
          </p:nvSpPr>
          <p:spPr>
            <a:xfrm>
              <a:off x="3088674" y="3322150"/>
              <a:ext cx="45719" cy="274593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0FD7F356-8500-F740-5E80-810F5C1B9FDF}"/>
                </a:ext>
              </a:extLst>
            </p:cNvPr>
            <p:cNvSpPr/>
            <p:nvPr/>
          </p:nvSpPr>
          <p:spPr>
            <a:xfrm>
              <a:off x="3042774" y="3338818"/>
              <a:ext cx="45719" cy="274234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2673D682-54AB-AB63-C3D4-8C9280FECB89}"/>
                </a:ext>
              </a:extLst>
            </p:cNvPr>
            <p:cNvSpPr/>
            <p:nvPr/>
          </p:nvSpPr>
          <p:spPr>
            <a:xfrm>
              <a:off x="2993938" y="3352929"/>
              <a:ext cx="45719" cy="275974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4CE1030F-981B-2878-2DA1-DE7A75866897}"/>
                </a:ext>
              </a:extLst>
            </p:cNvPr>
            <p:cNvSpPr/>
            <p:nvPr/>
          </p:nvSpPr>
          <p:spPr>
            <a:xfrm>
              <a:off x="2948038" y="3363847"/>
              <a:ext cx="51591" cy="271817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8E09109A-829F-EF2D-1D30-0248AD0B7D9E}"/>
                </a:ext>
              </a:extLst>
            </p:cNvPr>
            <p:cNvSpPr/>
            <p:nvPr/>
          </p:nvSpPr>
          <p:spPr>
            <a:xfrm>
              <a:off x="2905074" y="3384063"/>
              <a:ext cx="51591" cy="270271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AD26BD20-F18E-C048-1711-9313C5FCC1CC}"/>
                </a:ext>
              </a:extLst>
            </p:cNvPr>
            <p:cNvSpPr/>
            <p:nvPr/>
          </p:nvSpPr>
          <p:spPr>
            <a:xfrm>
              <a:off x="2865046" y="3398350"/>
              <a:ext cx="45719" cy="268485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821FACF9-5E3D-5B7B-2DC6-B226E53A0E8E}"/>
                </a:ext>
              </a:extLst>
            </p:cNvPr>
            <p:cNvSpPr/>
            <p:nvPr/>
          </p:nvSpPr>
          <p:spPr>
            <a:xfrm>
              <a:off x="2822082" y="3418617"/>
              <a:ext cx="45719" cy="265248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8" name="正方形/長方形 267">
              <a:extLst>
                <a:ext uri="{FF2B5EF4-FFF2-40B4-BE49-F238E27FC236}">
                  <a16:creationId xmlns:a16="http://schemas.microsoft.com/office/drawing/2014/main" id="{AC64FF76-DA9D-D7A2-A603-3AC3799E67B3}"/>
                </a:ext>
              </a:extLst>
            </p:cNvPr>
            <p:cNvSpPr/>
            <p:nvPr/>
          </p:nvSpPr>
          <p:spPr>
            <a:xfrm>
              <a:off x="2776182" y="3429306"/>
              <a:ext cx="45719" cy="264179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9" name="正方形/長方形 268">
              <a:extLst>
                <a:ext uri="{FF2B5EF4-FFF2-40B4-BE49-F238E27FC236}">
                  <a16:creationId xmlns:a16="http://schemas.microsoft.com/office/drawing/2014/main" id="{B99F2CA1-B7DD-43DF-B9D0-8E9DCA027CED}"/>
                </a:ext>
              </a:extLst>
            </p:cNvPr>
            <p:cNvSpPr/>
            <p:nvPr/>
          </p:nvSpPr>
          <p:spPr>
            <a:xfrm>
              <a:off x="2733218" y="3440022"/>
              <a:ext cx="45719" cy="260835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FEB09E79-BF89-E236-834F-1C5524F20404}"/>
                </a:ext>
              </a:extLst>
            </p:cNvPr>
            <p:cNvSpPr/>
            <p:nvPr/>
          </p:nvSpPr>
          <p:spPr>
            <a:xfrm>
              <a:off x="2686958" y="3456691"/>
              <a:ext cx="46080" cy="261139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2A72A042-9504-9BA4-811D-92F714FA474E}"/>
                </a:ext>
              </a:extLst>
            </p:cNvPr>
            <p:cNvSpPr/>
            <p:nvPr/>
          </p:nvSpPr>
          <p:spPr>
            <a:xfrm>
              <a:off x="2637066" y="3473388"/>
              <a:ext cx="53007" cy="255961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DF01BEFE-6B4C-F584-E710-A99D3993BD84}"/>
                </a:ext>
              </a:extLst>
            </p:cNvPr>
            <p:cNvSpPr/>
            <p:nvPr/>
          </p:nvSpPr>
          <p:spPr>
            <a:xfrm>
              <a:off x="2595518" y="3485267"/>
              <a:ext cx="48655" cy="252858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207D96AC-A1FA-C77C-0849-5C847B3F9C45}"/>
                </a:ext>
              </a:extLst>
            </p:cNvPr>
            <p:cNvSpPr/>
            <p:nvPr/>
          </p:nvSpPr>
          <p:spPr>
            <a:xfrm>
              <a:off x="2553894" y="3498364"/>
              <a:ext cx="47316" cy="249956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7B0C9014-B5E3-3BF2-339B-8C69CBB0043E}"/>
                </a:ext>
              </a:extLst>
            </p:cNvPr>
            <p:cNvSpPr/>
            <p:nvPr/>
          </p:nvSpPr>
          <p:spPr>
            <a:xfrm>
              <a:off x="2502301" y="3515672"/>
              <a:ext cx="53009" cy="244340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B6BA1926-0D6B-C756-3DA5-A592D2D4026A}"/>
                </a:ext>
              </a:extLst>
            </p:cNvPr>
            <p:cNvSpPr/>
            <p:nvPr/>
          </p:nvSpPr>
          <p:spPr>
            <a:xfrm>
              <a:off x="2466626" y="3537496"/>
              <a:ext cx="45719" cy="238705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8B9BA8A7-7519-C15F-8492-CB92CCE93C5F}"/>
                </a:ext>
              </a:extLst>
            </p:cNvPr>
            <p:cNvSpPr/>
            <p:nvPr/>
          </p:nvSpPr>
          <p:spPr>
            <a:xfrm>
              <a:off x="2420365" y="3544737"/>
              <a:ext cx="46080" cy="234647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82F60703-5B4A-5D3E-5F96-56CA6F4A8770}"/>
                </a:ext>
              </a:extLst>
            </p:cNvPr>
            <p:cNvSpPr/>
            <p:nvPr/>
          </p:nvSpPr>
          <p:spPr>
            <a:xfrm>
              <a:off x="2377762" y="3567923"/>
              <a:ext cx="45719" cy="226908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CA2D65B4-CC69-8818-F5BF-E41A1B7D7601}"/>
                </a:ext>
              </a:extLst>
            </p:cNvPr>
            <p:cNvSpPr/>
            <p:nvPr/>
          </p:nvSpPr>
          <p:spPr>
            <a:xfrm>
              <a:off x="2331862" y="3582931"/>
              <a:ext cx="45719" cy="220594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F9954E77-E630-6F3E-E9CF-7F9B5B199831}"/>
                </a:ext>
              </a:extLst>
            </p:cNvPr>
            <p:cNvSpPr/>
            <p:nvPr/>
          </p:nvSpPr>
          <p:spPr>
            <a:xfrm>
              <a:off x="2288898" y="3595995"/>
              <a:ext cx="45719" cy="214920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006CCBB0-5A04-3F88-506E-6C091A039058}"/>
                </a:ext>
              </a:extLst>
            </p:cNvPr>
            <p:cNvSpPr/>
            <p:nvPr/>
          </p:nvSpPr>
          <p:spPr>
            <a:xfrm>
              <a:off x="2242638" y="3611472"/>
              <a:ext cx="46080" cy="209400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3EAC2BB1-8759-4D76-5BEB-2C6F0014EE8B}"/>
                </a:ext>
              </a:extLst>
            </p:cNvPr>
            <p:cNvSpPr/>
            <p:nvPr/>
          </p:nvSpPr>
          <p:spPr>
            <a:xfrm>
              <a:off x="2200034" y="3619818"/>
              <a:ext cx="45719" cy="201190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CA767C4F-F8DA-2406-882A-0F3A307D5E12}"/>
                </a:ext>
              </a:extLst>
            </p:cNvPr>
            <p:cNvSpPr/>
            <p:nvPr/>
          </p:nvSpPr>
          <p:spPr>
            <a:xfrm>
              <a:off x="2154134" y="3637700"/>
              <a:ext cx="45719" cy="192520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588EAF40-5145-A99E-1927-2B65590E6C0A}"/>
                </a:ext>
              </a:extLst>
            </p:cNvPr>
            <p:cNvSpPr/>
            <p:nvPr/>
          </p:nvSpPr>
          <p:spPr>
            <a:xfrm>
              <a:off x="2111170" y="3653144"/>
              <a:ext cx="45719" cy="186452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2BF03690-7042-32C8-59BA-B29FF8C7BD01}"/>
                </a:ext>
              </a:extLst>
            </p:cNvPr>
            <p:cNvSpPr/>
            <p:nvPr/>
          </p:nvSpPr>
          <p:spPr>
            <a:xfrm>
              <a:off x="2065270" y="3661478"/>
              <a:ext cx="45719" cy="177641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D857AA71-5323-CD3A-538E-31B85291B8C3}"/>
                </a:ext>
              </a:extLst>
            </p:cNvPr>
            <p:cNvSpPr/>
            <p:nvPr/>
          </p:nvSpPr>
          <p:spPr>
            <a:xfrm>
              <a:off x="2022306" y="3681794"/>
              <a:ext cx="45719" cy="168017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209153A3-E806-9D46-7A2F-40EBE5343B29}"/>
                </a:ext>
              </a:extLst>
            </p:cNvPr>
            <p:cNvSpPr/>
            <p:nvPr/>
          </p:nvSpPr>
          <p:spPr>
            <a:xfrm>
              <a:off x="1976406" y="3692472"/>
              <a:ext cx="45719" cy="160641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4BB563FD-7F2E-3559-5F4B-7E6D4CCFE2E0}"/>
                </a:ext>
              </a:extLst>
            </p:cNvPr>
            <p:cNvSpPr/>
            <p:nvPr/>
          </p:nvSpPr>
          <p:spPr>
            <a:xfrm>
              <a:off x="1928420" y="3718629"/>
              <a:ext cx="50741" cy="149304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A1339062-EC07-3028-5604-C0D350D4EBDE}"/>
                </a:ext>
              </a:extLst>
            </p:cNvPr>
            <p:cNvSpPr/>
            <p:nvPr/>
          </p:nvSpPr>
          <p:spPr>
            <a:xfrm>
              <a:off x="1888796" y="3728153"/>
              <a:ext cx="45719" cy="141089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6E3920FE-B8BB-472E-F738-0348AD904F97}"/>
                </a:ext>
              </a:extLst>
            </p:cNvPr>
            <p:cNvSpPr/>
            <p:nvPr/>
          </p:nvSpPr>
          <p:spPr>
            <a:xfrm>
              <a:off x="1845832" y="3738869"/>
              <a:ext cx="45719" cy="131445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3D711564-9BF4-A35C-55A5-6D14ACA2A86A}"/>
                </a:ext>
              </a:extLst>
            </p:cNvPr>
            <p:cNvSpPr/>
            <p:nvPr/>
          </p:nvSpPr>
          <p:spPr>
            <a:xfrm>
              <a:off x="1800411" y="3759110"/>
              <a:ext cx="46974" cy="118943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6FE7B2D0-E3BE-4204-A5A6-527A4C22F0DA}"/>
                </a:ext>
              </a:extLst>
            </p:cNvPr>
            <p:cNvSpPr/>
            <p:nvPr/>
          </p:nvSpPr>
          <p:spPr>
            <a:xfrm>
              <a:off x="1758521" y="3771016"/>
              <a:ext cx="45900" cy="109180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693A07BC-09BD-41BB-7185-727ED9C9BF6F}"/>
                </a:ext>
              </a:extLst>
            </p:cNvPr>
            <p:cNvSpPr/>
            <p:nvPr/>
          </p:nvSpPr>
          <p:spPr>
            <a:xfrm>
              <a:off x="1713280" y="3787684"/>
              <a:ext cx="45719" cy="98345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83C059C5-0763-0A6A-DDEA-83A47DEB959D}"/>
                </a:ext>
              </a:extLst>
            </p:cNvPr>
            <p:cNvSpPr/>
            <p:nvPr/>
          </p:nvSpPr>
          <p:spPr>
            <a:xfrm>
              <a:off x="1670316" y="3802012"/>
              <a:ext cx="45719" cy="87330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6FE55896-0A57-09B9-0FCA-A5D1D81CF4CF}"/>
                </a:ext>
              </a:extLst>
            </p:cNvPr>
            <p:cNvSpPr/>
            <p:nvPr/>
          </p:nvSpPr>
          <p:spPr>
            <a:xfrm>
              <a:off x="1626149" y="3811497"/>
              <a:ext cx="45719" cy="77222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04B4E625-3114-E2C7-B7A8-A2BF224B5310}"/>
                </a:ext>
              </a:extLst>
            </p:cNvPr>
            <p:cNvSpPr/>
            <p:nvPr/>
          </p:nvSpPr>
          <p:spPr>
            <a:xfrm>
              <a:off x="1578163" y="3829356"/>
              <a:ext cx="50741" cy="63341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527BBF34-4E5C-8D5F-00DA-B2623CD5CFBA}"/>
                </a:ext>
              </a:extLst>
            </p:cNvPr>
            <p:cNvSpPr/>
            <p:nvPr/>
          </p:nvSpPr>
          <p:spPr>
            <a:xfrm>
              <a:off x="1539018" y="3844833"/>
              <a:ext cx="45719" cy="51584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9A32C9B1-574F-177B-98FD-F4354550C58D}"/>
                </a:ext>
              </a:extLst>
            </p:cNvPr>
            <p:cNvSpPr/>
            <p:nvPr/>
          </p:nvSpPr>
          <p:spPr>
            <a:xfrm>
              <a:off x="1491032" y="3856785"/>
              <a:ext cx="50741" cy="39254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88025FF6-F2EE-EA79-A54C-F83F2DD9419D}"/>
                </a:ext>
              </a:extLst>
            </p:cNvPr>
            <p:cNvSpPr/>
            <p:nvPr/>
          </p:nvSpPr>
          <p:spPr>
            <a:xfrm>
              <a:off x="1449973" y="3874600"/>
              <a:ext cx="47633" cy="26362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9F30D310-AFBE-6FE2-362B-C8534E40FBB1}"/>
                </a:ext>
              </a:extLst>
            </p:cNvPr>
            <p:cNvSpPr/>
            <p:nvPr/>
          </p:nvSpPr>
          <p:spPr>
            <a:xfrm>
              <a:off x="1407009" y="3881744"/>
              <a:ext cx="47633" cy="12025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8" name="グループ化 177">
            <a:extLst>
              <a:ext uri="{FF2B5EF4-FFF2-40B4-BE49-F238E27FC236}">
                <a16:creationId xmlns:a16="http://schemas.microsoft.com/office/drawing/2014/main" id="{1F400553-F14D-181E-2045-14FA5A0967BB}"/>
              </a:ext>
            </a:extLst>
          </p:cNvPr>
          <p:cNvGrpSpPr/>
          <p:nvPr/>
        </p:nvGrpSpPr>
        <p:grpSpPr>
          <a:xfrm>
            <a:off x="1413315" y="2734493"/>
            <a:ext cx="3452853" cy="3364506"/>
            <a:chOff x="1413316" y="2737246"/>
            <a:chExt cx="3452853" cy="3364506"/>
          </a:xfrm>
        </p:grpSpPr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A1382452-36E8-F65E-1AB1-D0B9FD38A100}"/>
                </a:ext>
              </a:extLst>
            </p:cNvPr>
            <p:cNvSpPr/>
            <p:nvPr/>
          </p:nvSpPr>
          <p:spPr>
            <a:xfrm>
              <a:off x="4693914" y="2763441"/>
              <a:ext cx="85930" cy="53835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BD1F6E67-A202-4A90-46A0-DC76B53CB187}"/>
                </a:ext>
              </a:extLst>
            </p:cNvPr>
            <p:cNvSpPr/>
            <p:nvPr/>
          </p:nvSpPr>
          <p:spPr>
            <a:xfrm>
              <a:off x="4780239" y="2737246"/>
              <a:ext cx="85930" cy="28455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59242427-D978-69CD-D083-9E1EA708D6BF}"/>
                </a:ext>
              </a:extLst>
            </p:cNvPr>
            <p:cNvSpPr/>
            <p:nvPr/>
          </p:nvSpPr>
          <p:spPr>
            <a:xfrm>
              <a:off x="4605998" y="2792016"/>
              <a:ext cx="85930" cy="80234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E43D4DAE-6BEC-7726-27F8-6FAD37FE130B}"/>
                </a:ext>
              </a:extLst>
            </p:cNvPr>
            <p:cNvSpPr/>
            <p:nvPr/>
          </p:nvSpPr>
          <p:spPr>
            <a:xfrm>
              <a:off x="4519673" y="2822972"/>
              <a:ext cx="85930" cy="101128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89D8DF77-04B4-7245-E949-E13274F86CFD}"/>
                </a:ext>
              </a:extLst>
            </p:cNvPr>
            <p:cNvSpPr/>
            <p:nvPr/>
          </p:nvSpPr>
          <p:spPr>
            <a:xfrm>
              <a:off x="4433348" y="2852738"/>
              <a:ext cx="85930" cy="123687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283D3A6A-027B-795C-FD89-E6A052D59355}"/>
                </a:ext>
              </a:extLst>
            </p:cNvPr>
            <p:cNvSpPr/>
            <p:nvPr/>
          </p:nvSpPr>
          <p:spPr>
            <a:xfrm>
              <a:off x="4347023" y="2882504"/>
              <a:ext cx="85930" cy="139747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D669221B-A5C5-E580-52A7-F6FB1F8E163A}"/>
                </a:ext>
              </a:extLst>
            </p:cNvPr>
            <p:cNvSpPr/>
            <p:nvPr/>
          </p:nvSpPr>
          <p:spPr>
            <a:xfrm>
              <a:off x="4260777" y="2912270"/>
              <a:ext cx="85930" cy="159543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E24140F1-E3C7-446C-CA1A-9401AC7097A8}"/>
                </a:ext>
              </a:extLst>
            </p:cNvPr>
            <p:cNvSpPr/>
            <p:nvPr/>
          </p:nvSpPr>
          <p:spPr>
            <a:xfrm>
              <a:off x="4174452" y="2940844"/>
              <a:ext cx="85930" cy="179043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F44B2761-972C-17BD-133A-5F05C978E7EE}"/>
                </a:ext>
              </a:extLst>
            </p:cNvPr>
            <p:cNvSpPr/>
            <p:nvPr/>
          </p:nvSpPr>
          <p:spPr>
            <a:xfrm>
              <a:off x="4088206" y="2969419"/>
              <a:ext cx="85930" cy="193314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3B71B00B-8C5A-781B-8872-E6221F60FC12}"/>
                </a:ext>
              </a:extLst>
            </p:cNvPr>
            <p:cNvSpPr/>
            <p:nvPr/>
          </p:nvSpPr>
          <p:spPr>
            <a:xfrm>
              <a:off x="4001881" y="2999184"/>
              <a:ext cx="85930" cy="206648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D70F2FA0-5240-F786-6FBD-2CDDE4A74163}"/>
                </a:ext>
              </a:extLst>
            </p:cNvPr>
            <p:cNvSpPr/>
            <p:nvPr/>
          </p:nvSpPr>
          <p:spPr>
            <a:xfrm>
              <a:off x="3915635" y="3030141"/>
              <a:ext cx="85930" cy="222765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429A48B7-3B21-44FD-C9D2-D3E86938996A}"/>
                </a:ext>
              </a:extLst>
            </p:cNvPr>
            <p:cNvSpPr/>
            <p:nvPr/>
          </p:nvSpPr>
          <p:spPr>
            <a:xfrm>
              <a:off x="3829310" y="3055144"/>
              <a:ext cx="85930" cy="231786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6BE915B1-6D8E-BD6E-AB2F-517CB45F94C7}"/>
                </a:ext>
              </a:extLst>
            </p:cNvPr>
            <p:cNvSpPr/>
            <p:nvPr/>
          </p:nvSpPr>
          <p:spPr>
            <a:xfrm>
              <a:off x="3743064" y="3084598"/>
              <a:ext cx="85930" cy="244146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EEC5C379-712B-E385-5AF3-B2883A73B2E6}"/>
                </a:ext>
              </a:extLst>
            </p:cNvPr>
            <p:cNvSpPr/>
            <p:nvPr/>
          </p:nvSpPr>
          <p:spPr>
            <a:xfrm>
              <a:off x="3656739" y="3116118"/>
              <a:ext cx="85930" cy="251336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FD30FE97-1A4A-73A2-341C-14C224E356A3}"/>
                </a:ext>
              </a:extLst>
            </p:cNvPr>
            <p:cNvSpPr/>
            <p:nvPr/>
          </p:nvSpPr>
          <p:spPr>
            <a:xfrm>
              <a:off x="3570493" y="3144910"/>
              <a:ext cx="85930" cy="258909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2E96EBAC-228B-4E78-255D-38E31A0645A2}"/>
                </a:ext>
              </a:extLst>
            </p:cNvPr>
            <p:cNvSpPr/>
            <p:nvPr/>
          </p:nvSpPr>
          <p:spPr>
            <a:xfrm>
              <a:off x="3484168" y="3166258"/>
              <a:ext cx="85930" cy="265326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3D3AB495-4D56-C8EF-8D4A-02002AA136F7}"/>
                </a:ext>
              </a:extLst>
            </p:cNvPr>
            <p:cNvSpPr/>
            <p:nvPr/>
          </p:nvSpPr>
          <p:spPr>
            <a:xfrm>
              <a:off x="3397922" y="3202700"/>
              <a:ext cx="85930" cy="270965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0A6157AF-536F-49D8-C10C-3390C8B77820}"/>
                </a:ext>
              </a:extLst>
            </p:cNvPr>
            <p:cNvSpPr/>
            <p:nvPr/>
          </p:nvSpPr>
          <p:spPr>
            <a:xfrm>
              <a:off x="3311597" y="3227790"/>
              <a:ext cx="85930" cy="275034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58F07A63-82FF-31B2-54EC-8EDB9246CE82}"/>
                </a:ext>
              </a:extLst>
            </p:cNvPr>
            <p:cNvSpPr/>
            <p:nvPr/>
          </p:nvSpPr>
          <p:spPr>
            <a:xfrm>
              <a:off x="3225351" y="3259932"/>
              <a:ext cx="85930" cy="276864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4D2B2F01-2FA2-7764-BA5E-C7DD8AB19553}"/>
                </a:ext>
              </a:extLst>
            </p:cNvPr>
            <p:cNvSpPr/>
            <p:nvPr/>
          </p:nvSpPr>
          <p:spPr>
            <a:xfrm>
              <a:off x="3139026" y="3295015"/>
              <a:ext cx="85930" cy="276864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0A0E34FA-C2D5-9FBD-3345-3C52ACC4F00A}"/>
                </a:ext>
              </a:extLst>
            </p:cNvPr>
            <p:cNvSpPr/>
            <p:nvPr/>
          </p:nvSpPr>
          <p:spPr>
            <a:xfrm>
              <a:off x="3052780" y="3321844"/>
              <a:ext cx="85930" cy="277990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4A12E6E2-3402-6199-FC1A-AE028B3F606B}"/>
                </a:ext>
              </a:extLst>
            </p:cNvPr>
            <p:cNvSpPr/>
            <p:nvPr/>
          </p:nvSpPr>
          <p:spPr>
            <a:xfrm>
              <a:off x="2966455" y="3343068"/>
              <a:ext cx="85930" cy="275868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D15326D1-289D-5991-2B4F-595E2D209F7A}"/>
                </a:ext>
              </a:extLst>
            </p:cNvPr>
            <p:cNvSpPr/>
            <p:nvPr/>
          </p:nvSpPr>
          <p:spPr>
            <a:xfrm>
              <a:off x="2880209" y="3378652"/>
              <a:ext cx="85930" cy="272310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85F57490-17F9-6838-4400-FB752F981C81}"/>
                </a:ext>
              </a:extLst>
            </p:cNvPr>
            <p:cNvSpPr/>
            <p:nvPr/>
          </p:nvSpPr>
          <p:spPr>
            <a:xfrm>
              <a:off x="2793884" y="3407422"/>
              <a:ext cx="85930" cy="269433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B7CEE06C-02CE-AFF3-337F-8854F34D09D9}"/>
                </a:ext>
              </a:extLst>
            </p:cNvPr>
            <p:cNvSpPr/>
            <p:nvPr/>
          </p:nvSpPr>
          <p:spPr>
            <a:xfrm>
              <a:off x="2707638" y="3437444"/>
              <a:ext cx="85930" cy="264158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3CA2931B-3E8D-D2A5-0333-A838E3162215}"/>
                </a:ext>
              </a:extLst>
            </p:cNvPr>
            <p:cNvSpPr/>
            <p:nvPr/>
          </p:nvSpPr>
          <p:spPr>
            <a:xfrm>
              <a:off x="2621313" y="3467101"/>
              <a:ext cx="85930" cy="257517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CA493059-B2CE-13DD-D59B-3974C49B2A26}"/>
                </a:ext>
              </a:extLst>
            </p:cNvPr>
            <p:cNvSpPr/>
            <p:nvPr/>
          </p:nvSpPr>
          <p:spPr>
            <a:xfrm>
              <a:off x="2535067" y="3499247"/>
              <a:ext cx="85930" cy="249862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56A47980-78D3-4A9F-B121-96CED295528C}"/>
                </a:ext>
              </a:extLst>
            </p:cNvPr>
            <p:cNvSpPr/>
            <p:nvPr/>
          </p:nvSpPr>
          <p:spPr>
            <a:xfrm>
              <a:off x="2448742" y="3527822"/>
              <a:ext cx="85930" cy="239622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93969169-1265-F2CB-02E5-EA0933C8733F}"/>
                </a:ext>
              </a:extLst>
            </p:cNvPr>
            <p:cNvSpPr/>
            <p:nvPr/>
          </p:nvSpPr>
          <p:spPr>
            <a:xfrm>
              <a:off x="2362496" y="3557588"/>
              <a:ext cx="85930" cy="231007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7969D185-1520-10C1-2AC0-030E0DECA068}"/>
                </a:ext>
              </a:extLst>
            </p:cNvPr>
            <p:cNvSpPr/>
            <p:nvPr/>
          </p:nvSpPr>
          <p:spPr>
            <a:xfrm>
              <a:off x="2276171" y="3582591"/>
              <a:ext cx="85930" cy="219325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120817DF-F8DE-0A88-03C8-4602D927B213}"/>
                </a:ext>
              </a:extLst>
            </p:cNvPr>
            <p:cNvSpPr/>
            <p:nvPr/>
          </p:nvSpPr>
          <p:spPr>
            <a:xfrm>
              <a:off x="2189925" y="3613547"/>
              <a:ext cx="85930" cy="204882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CDE2D37C-34F7-2100-0744-A42CD199E032}"/>
                </a:ext>
              </a:extLst>
            </p:cNvPr>
            <p:cNvSpPr/>
            <p:nvPr/>
          </p:nvSpPr>
          <p:spPr>
            <a:xfrm>
              <a:off x="2103600" y="3644504"/>
              <a:ext cx="85930" cy="192047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CF12325D-0C52-8F41-B198-6A9CFAD1311D}"/>
                </a:ext>
              </a:extLst>
            </p:cNvPr>
            <p:cNvSpPr/>
            <p:nvPr/>
          </p:nvSpPr>
          <p:spPr>
            <a:xfrm>
              <a:off x="2017354" y="3673077"/>
              <a:ext cx="85930" cy="175766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3A92CE05-FFC9-F9C7-AE62-AC8686CC2578}"/>
                </a:ext>
              </a:extLst>
            </p:cNvPr>
            <p:cNvSpPr/>
            <p:nvPr/>
          </p:nvSpPr>
          <p:spPr>
            <a:xfrm>
              <a:off x="1931029" y="3701653"/>
              <a:ext cx="85930" cy="159930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F442C2ED-EEC5-7CC0-7601-342A20316504}"/>
                </a:ext>
              </a:extLst>
            </p:cNvPr>
            <p:cNvSpPr/>
            <p:nvPr/>
          </p:nvSpPr>
          <p:spPr>
            <a:xfrm>
              <a:off x="1844783" y="3729038"/>
              <a:ext cx="85930" cy="141327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F2F3EFC4-FA06-09A5-F0E4-5B997FB53978}"/>
                </a:ext>
              </a:extLst>
            </p:cNvPr>
            <p:cNvSpPr/>
            <p:nvPr/>
          </p:nvSpPr>
          <p:spPr>
            <a:xfrm>
              <a:off x="1758458" y="3762376"/>
              <a:ext cx="85930" cy="118943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035554FC-4C1B-2E53-46AF-29F7C7DC4EB6}"/>
                </a:ext>
              </a:extLst>
            </p:cNvPr>
            <p:cNvSpPr/>
            <p:nvPr/>
          </p:nvSpPr>
          <p:spPr>
            <a:xfrm>
              <a:off x="1672212" y="3786188"/>
              <a:ext cx="85930" cy="99536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60B31658-53C9-C42D-8F20-5F69F7C8BEE4}"/>
                </a:ext>
              </a:extLst>
            </p:cNvPr>
            <p:cNvSpPr/>
            <p:nvPr/>
          </p:nvSpPr>
          <p:spPr>
            <a:xfrm>
              <a:off x="1585887" y="3818334"/>
              <a:ext cx="85930" cy="77509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BD8153F4-C6DD-E2A2-A602-FA274980DA04}"/>
                </a:ext>
              </a:extLst>
            </p:cNvPr>
            <p:cNvSpPr/>
            <p:nvPr/>
          </p:nvSpPr>
          <p:spPr>
            <a:xfrm>
              <a:off x="1499641" y="3848101"/>
              <a:ext cx="85930" cy="50720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6EDAD7F6-7EA3-9774-5636-CA0848C10D58}"/>
                </a:ext>
              </a:extLst>
            </p:cNvPr>
            <p:cNvSpPr/>
            <p:nvPr/>
          </p:nvSpPr>
          <p:spPr>
            <a:xfrm>
              <a:off x="1413316" y="3873103"/>
              <a:ext cx="85930" cy="27265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BE9CB3F-4961-45F6-9C9E-67C84DFDFF2E}"/>
              </a:ext>
            </a:extLst>
          </p:cNvPr>
          <p:cNvGrpSpPr/>
          <p:nvPr/>
        </p:nvGrpSpPr>
        <p:grpSpPr>
          <a:xfrm>
            <a:off x="1444241" y="2736554"/>
            <a:ext cx="3421533" cy="3365198"/>
            <a:chOff x="1444241" y="2736554"/>
            <a:chExt cx="3421533" cy="3365198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5952589-3B92-2462-6793-5CE7E73B1FC5}"/>
                </a:ext>
              </a:extLst>
            </p:cNvPr>
            <p:cNvSpPr/>
            <p:nvPr/>
          </p:nvSpPr>
          <p:spPr>
            <a:xfrm>
              <a:off x="4523634" y="2792507"/>
              <a:ext cx="171070" cy="1041754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EE2A6F6C-7E23-D480-AD4D-773B498D5979}"/>
                </a:ext>
              </a:extLst>
            </p:cNvPr>
            <p:cNvSpPr/>
            <p:nvPr/>
          </p:nvSpPr>
          <p:spPr>
            <a:xfrm>
              <a:off x="4352559" y="2855259"/>
              <a:ext cx="171070" cy="143682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EA48BBC-81C2-4C25-37CF-426C8FF45ED4}"/>
                </a:ext>
              </a:extLst>
            </p:cNvPr>
            <p:cNvSpPr/>
            <p:nvPr/>
          </p:nvSpPr>
          <p:spPr>
            <a:xfrm>
              <a:off x="4181489" y="2910541"/>
              <a:ext cx="171070" cy="179457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B5729CA-5E78-FB5D-C06D-2E1DF0FC5D64}"/>
                </a:ext>
              </a:extLst>
            </p:cNvPr>
            <p:cNvSpPr/>
            <p:nvPr/>
          </p:nvSpPr>
          <p:spPr>
            <a:xfrm>
              <a:off x="4010414" y="2970306"/>
              <a:ext cx="171070" cy="209535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0526C148-59E8-BA0E-D955-EFE9D06C4674}"/>
                </a:ext>
              </a:extLst>
            </p:cNvPr>
            <p:cNvSpPr/>
            <p:nvPr/>
          </p:nvSpPr>
          <p:spPr>
            <a:xfrm>
              <a:off x="3839344" y="3022600"/>
              <a:ext cx="171070" cy="235040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2DA373F2-54E3-2818-827D-120AF7E6E8FF}"/>
                </a:ext>
              </a:extLst>
            </p:cNvPr>
            <p:cNvSpPr/>
            <p:nvPr/>
          </p:nvSpPr>
          <p:spPr>
            <a:xfrm>
              <a:off x="3668265" y="3086847"/>
              <a:ext cx="171070" cy="252687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44D2FDF6-A022-17FE-3B5E-48E5007E94A9}"/>
                </a:ext>
              </a:extLst>
            </p:cNvPr>
            <p:cNvSpPr/>
            <p:nvPr/>
          </p:nvSpPr>
          <p:spPr>
            <a:xfrm>
              <a:off x="3497195" y="3142130"/>
              <a:ext cx="171070" cy="268688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2877869B-E46D-AF54-2B6B-B5E5D757B51A}"/>
                </a:ext>
              </a:extLst>
            </p:cNvPr>
            <p:cNvSpPr/>
            <p:nvPr/>
          </p:nvSpPr>
          <p:spPr>
            <a:xfrm>
              <a:off x="3326106" y="3200400"/>
              <a:ext cx="171070" cy="276519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71D5AEEC-0BD4-A5E5-A3DD-78EAC736F8B9}"/>
                </a:ext>
              </a:extLst>
            </p:cNvPr>
            <p:cNvSpPr/>
            <p:nvPr/>
          </p:nvSpPr>
          <p:spPr>
            <a:xfrm>
              <a:off x="3155036" y="3260165"/>
              <a:ext cx="171070" cy="281886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6A7F55C2-A19A-EEC5-D0CD-C50B56B036F2}"/>
                </a:ext>
              </a:extLst>
            </p:cNvPr>
            <p:cNvSpPr/>
            <p:nvPr/>
          </p:nvSpPr>
          <p:spPr>
            <a:xfrm>
              <a:off x="2983947" y="3316942"/>
              <a:ext cx="171070" cy="278481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490257C7-F5E9-7BF2-AFF6-BD703D564212}"/>
                </a:ext>
              </a:extLst>
            </p:cNvPr>
            <p:cNvSpPr/>
            <p:nvPr/>
          </p:nvSpPr>
          <p:spPr>
            <a:xfrm>
              <a:off x="2812877" y="3370729"/>
              <a:ext cx="171070" cy="273102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03939828-2E87-ECC0-B8F4-4282F71332EE}"/>
                </a:ext>
              </a:extLst>
            </p:cNvPr>
            <p:cNvSpPr/>
            <p:nvPr/>
          </p:nvSpPr>
          <p:spPr>
            <a:xfrm>
              <a:off x="2641788" y="3429000"/>
              <a:ext cx="171070" cy="265002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31585DAB-0C40-12E2-1164-31360D507973}"/>
                </a:ext>
              </a:extLst>
            </p:cNvPr>
            <p:cNvSpPr/>
            <p:nvPr/>
          </p:nvSpPr>
          <p:spPr>
            <a:xfrm>
              <a:off x="2470718" y="3491753"/>
              <a:ext cx="171070" cy="252245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79840EF9-57F3-F852-876E-D8D309A62329}"/>
                </a:ext>
              </a:extLst>
            </p:cNvPr>
            <p:cNvSpPr/>
            <p:nvPr/>
          </p:nvSpPr>
          <p:spPr>
            <a:xfrm>
              <a:off x="2299629" y="3547035"/>
              <a:ext cx="171070" cy="233301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9FDB1D9-9D81-9D92-E54E-017E3D9C463A}"/>
                </a:ext>
              </a:extLst>
            </p:cNvPr>
            <p:cNvSpPr/>
            <p:nvPr/>
          </p:nvSpPr>
          <p:spPr>
            <a:xfrm>
              <a:off x="2128559" y="3605306"/>
              <a:ext cx="171070" cy="2100747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C54057A6-244F-193E-50B1-EEC0A1007F03}"/>
                </a:ext>
              </a:extLst>
            </p:cNvPr>
            <p:cNvSpPr/>
            <p:nvPr/>
          </p:nvSpPr>
          <p:spPr>
            <a:xfrm>
              <a:off x="1957470" y="3663577"/>
              <a:ext cx="171070" cy="181292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B5904658-5D55-7C09-8D11-6944E78D3B0D}"/>
                </a:ext>
              </a:extLst>
            </p:cNvPr>
            <p:cNvSpPr/>
            <p:nvPr/>
          </p:nvSpPr>
          <p:spPr>
            <a:xfrm>
              <a:off x="1786400" y="3718859"/>
              <a:ext cx="171070" cy="1473458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4B367BC2-7FE2-6566-F817-840B049DAE09}"/>
                </a:ext>
              </a:extLst>
            </p:cNvPr>
            <p:cNvSpPr/>
            <p:nvPr/>
          </p:nvSpPr>
          <p:spPr>
            <a:xfrm>
              <a:off x="1615311" y="3780119"/>
              <a:ext cx="171070" cy="1070432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E2B3A05D-11CB-9A67-EDF2-F0C7571EBA63}"/>
                </a:ext>
              </a:extLst>
            </p:cNvPr>
            <p:cNvSpPr/>
            <p:nvPr/>
          </p:nvSpPr>
          <p:spPr>
            <a:xfrm>
              <a:off x="1444241" y="3834261"/>
              <a:ext cx="171070" cy="56406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B30F9A14-DED7-62BC-D562-28FA6C180760}"/>
                </a:ext>
              </a:extLst>
            </p:cNvPr>
            <p:cNvSpPr/>
            <p:nvPr/>
          </p:nvSpPr>
          <p:spPr>
            <a:xfrm>
              <a:off x="4694704" y="2736554"/>
              <a:ext cx="171070" cy="56524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2EB61F2-9561-6AA4-5A6B-116ECE7B542C}"/>
              </a:ext>
            </a:extLst>
          </p:cNvPr>
          <p:cNvGrpSpPr/>
          <p:nvPr/>
        </p:nvGrpSpPr>
        <p:grpSpPr>
          <a:xfrm>
            <a:off x="1444308" y="2739628"/>
            <a:ext cx="3421470" cy="3362122"/>
            <a:chOff x="1444308" y="2739628"/>
            <a:chExt cx="3421470" cy="3362122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0DC83A93-185C-B230-622E-E5229B7673C8}"/>
                </a:ext>
              </a:extLst>
            </p:cNvPr>
            <p:cNvSpPr/>
            <p:nvPr/>
          </p:nvSpPr>
          <p:spPr>
            <a:xfrm>
              <a:off x="4523631" y="2739628"/>
              <a:ext cx="342147" cy="113405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0137534E-C3DE-190C-B7C6-7BCF0189BA69}"/>
                </a:ext>
              </a:extLst>
            </p:cNvPr>
            <p:cNvSpPr/>
            <p:nvPr/>
          </p:nvSpPr>
          <p:spPr>
            <a:xfrm>
              <a:off x="4181484" y="2850356"/>
              <a:ext cx="342147" cy="182028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C40559F2-D730-71DE-821D-6B2CB3E142A1}"/>
                </a:ext>
              </a:extLst>
            </p:cNvPr>
            <p:cNvSpPr/>
            <p:nvPr/>
          </p:nvSpPr>
          <p:spPr>
            <a:xfrm>
              <a:off x="3839337" y="2967039"/>
              <a:ext cx="342147" cy="2375106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25DA69FE-F981-F34E-17A5-AD53C06F6119}"/>
                </a:ext>
              </a:extLst>
            </p:cNvPr>
            <p:cNvSpPr/>
            <p:nvPr/>
          </p:nvSpPr>
          <p:spPr>
            <a:xfrm>
              <a:off x="3497190" y="3082528"/>
              <a:ext cx="342147" cy="2716533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0A7546DE-4AA7-BEED-7954-886F913F2AF2}"/>
                </a:ext>
              </a:extLst>
            </p:cNvPr>
            <p:cNvSpPr/>
            <p:nvPr/>
          </p:nvSpPr>
          <p:spPr>
            <a:xfrm>
              <a:off x="3155043" y="3198019"/>
              <a:ext cx="342147" cy="287571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8FE0F38-1DD4-7D85-D5FE-B1424674BCF2}"/>
                </a:ext>
              </a:extLst>
            </p:cNvPr>
            <p:cNvSpPr/>
            <p:nvPr/>
          </p:nvSpPr>
          <p:spPr>
            <a:xfrm>
              <a:off x="2812896" y="3313509"/>
              <a:ext cx="342147" cy="2788241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78CF0F45-5CB7-D21E-22FD-189AD99C48F2}"/>
                </a:ext>
              </a:extLst>
            </p:cNvPr>
            <p:cNvSpPr/>
            <p:nvPr/>
          </p:nvSpPr>
          <p:spPr>
            <a:xfrm>
              <a:off x="2470749" y="3428999"/>
              <a:ext cx="342147" cy="264473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44EE1F86-9C93-6C8E-5B4F-7042C5751847}"/>
                </a:ext>
              </a:extLst>
            </p:cNvPr>
            <p:cNvSpPr/>
            <p:nvPr/>
          </p:nvSpPr>
          <p:spPr>
            <a:xfrm>
              <a:off x="2128602" y="3545681"/>
              <a:ext cx="342147" cy="2327669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44B9AE56-FEF4-B04E-6956-B7CB3C06EEC0}"/>
                </a:ext>
              </a:extLst>
            </p:cNvPr>
            <p:cNvSpPr/>
            <p:nvPr/>
          </p:nvSpPr>
          <p:spPr>
            <a:xfrm>
              <a:off x="1786455" y="3661172"/>
              <a:ext cx="342147" cy="1795285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20E08D3A-8F39-06A5-0B85-87AFCAB9A104}"/>
                </a:ext>
              </a:extLst>
            </p:cNvPr>
            <p:cNvSpPr/>
            <p:nvPr/>
          </p:nvSpPr>
          <p:spPr>
            <a:xfrm>
              <a:off x="1444308" y="3777854"/>
              <a:ext cx="342147" cy="1022170"/>
            </a:xfrm>
            <a:prstGeom prst="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5993E9D-5738-62C0-C7D3-4E94CED6711E}"/>
              </a:ext>
            </a:extLst>
          </p:cNvPr>
          <p:cNvSpPr/>
          <p:nvPr/>
        </p:nvSpPr>
        <p:spPr>
          <a:xfrm>
            <a:off x="1444307" y="3662363"/>
            <a:ext cx="684293" cy="1794095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EA9CB5E-B412-FF84-5474-6C31A453BBD6}"/>
              </a:ext>
            </a:extLst>
          </p:cNvPr>
          <p:cNvSpPr/>
          <p:nvPr/>
        </p:nvSpPr>
        <p:spPr>
          <a:xfrm>
            <a:off x="2128600" y="3429000"/>
            <a:ext cx="684293" cy="2641113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B0ACFAB-D6F2-2A86-182A-44A7D1ABC6A3}"/>
              </a:ext>
            </a:extLst>
          </p:cNvPr>
          <p:cNvSpPr/>
          <p:nvPr/>
        </p:nvSpPr>
        <p:spPr>
          <a:xfrm>
            <a:off x="2812895" y="3198020"/>
            <a:ext cx="684293" cy="2906484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B9CF893-7A9E-8324-5CA0-6F022287ED51}"/>
              </a:ext>
            </a:extLst>
          </p:cNvPr>
          <p:cNvSpPr/>
          <p:nvPr/>
        </p:nvSpPr>
        <p:spPr>
          <a:xfrm>
            <a:off x="3497190" y="2965847"/>
            <a:ext cx="684293" cy="2864261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06F1BF1-B104-6A25-410D-C074C990C3B9}"/>
              </a:ext>
            </a:extLst>
          </p:cNvPr>
          <p:cNvSpPr/>
          <p:nvPr/>
        </p:nvSpPr>
        <p:spPr>
          <a:xfrm>
            <a:off x="4181484" y="2738333"/>
            <a:ext cx="684293" cy="1972108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BEC1C037-9733-CFFB-19B3-BAC419043037}"/>
              </a:ext>
            </a:extLst>
          </p:cNvPr>
          <p:cNvSpPr/>
          <p:nvPr/>
        </p:nvSpPr>
        <p:spPr>
          <a:xfrm>
            <a:off x="855048" y="2054085"/>
            <a:ext cx="4192307" cy="4047666"/>
          </a:xfrm>
          <a:custGeom>
            <a:avLst/>
            <a:gdLst>
              <a:gd name="connsiteX0" fmla="*/ 0 w 4966138"/>
              <a:gd name="connsiteY0" fmla="*/ 0 h 3394847"/>
              <a:gd name="connsiteX1" fmla="*/ 2511973 w 4966138"/>
              <a:gd name="connsiteY1" fmla="*/ 3394842 h 3394847"/>
              <a:gd name="connsiteX2" fmla="*/ 4966138 w 4966138"/>
              <a:gd name="connsiteY2" fmla="*/ 21021 h 3394847"/>
              <a:gd name="connsiteX0" fmla="*/ 0 w 4885928"/>
              <a:gd name="connsiteY0" fmla="*/ 0 h 3410889"/>
              <a:gd name="connsiteX1" fmla="*/ 2431763 w 4885928"/>
              <a:gd name="connsiteY1" fmla="*/ 3410884 h 3410889"/>
              <a:gd name="connsiteX2" fmla="*/ 4885928 w 4885928"/>
              <a:gd name="connsiteY2" fmla="*/ 37063 h 3410889"/>
              <a:gd name="connsiteX0" fmla="*/ 0 w 4922023"/>
              <a:gd name="connsiteY0" fmla="*/ 0 h 3410889"/>
              <a:gd name="connsiteX1" fmla="*/ 2467858 w 4922023"/>
              <a:gd name="connsiteY1" fmla="*/ 3410884 h 3410889"/>
              <a:gd name="connsiteX2" fmla="*/ 4922023 w 4922023"/>
              <a:gd name="connsiteY2" fmla="*/ 37063 h 3410889"/>
              <a:gd name="connsiteX0" fmla="*/ 0 w 4922023"/>
              <a:gd name="connsiteY0" fmla="*/ 0 h 3402868"/>
              <a:gd name="connsiteX1" fmla="*/ 2511974 w 4922023"/>
              <a:gd name="connsiteY1" fmla="*/ 3402863 h 3402868"/>
              <a:gd name="connsiteX2" fmla="*/ 4922023 w 4922023"/>
              <a:gd name="connsiteY2" fmla="*/ 37063 h 3402868"/>
              <a:gd name="connsiteX0" fmla="*/ 0 w 4922023"/>
              <a:gd name="connsiteY0" fmla="*/ 0 h 3386825"/>
              <a:gd name="connsiteX1" fmla="*/ 2507963 w 4922023"/>
              <a:gd name="connsiteY1" fmla="*/ 3386820 h 3386825"/>
              <a:gd name="connsiteX2" fmla="*/ 4922023 w 4922023"/>
              <a:gd name="connsiteY2" fmla="*/ 37063 h 3386825"/>
              <a:gd name="connsiteX0" fmla="*/ 0 w 4986191"/>
              <a:gd name="connsiteY0" fmla="*/ 19084 h 3405909"/>
              <a:gd name="connsiteX1" fmla="*/ 2507963 w 4986191"/>
              <a:gd name="connsiteY1" fmla="*/ 3405904 h 3405909"/>
              <a:gd name="connsiteX2" fmla="*/ 4986191 w 4986191"/>
              <a:gd name="connsiteY2" fmla="*/ 0 h 3405909"/>
              <a:gd name="connsiteX0" fmla="*/ 0 w 4986191"/>
              <a:gd name="connsiteY0" fmla="*/ 19084 h 3405909"/>
              <a:gd name="connsiteX1" fmla="*/ 2507963 w 4986191"/>
              <a:gd name="connsiteY1" fmla="*/ 3405904 h 3405909"/>
              <a:gd name="connsiteX2" fmla="*/ 4986191 w 4986191"/>
              <a:gd name="connsiteY2" fmla="*/ 0 h 3405909"/>
              <a:gd name="connsiteX0" fmla="*/ 0 w 4969361"/>
              <a:gd name="connsiteY0" fmla="*/ 0 h 3386825"/>
              <a:gd name="connsiteX1" fmla="*/ 2507963 w 4969361"/>
              <a:gd name="connsiteY1" fmla="*/ 3386820 h 3386825"/>
              <a:gd name="connsiteX2" fmla="*/ 4969361 w 4969361"/>
              <a:gd name="connsiteY2" fmla="*/ 6160 h 3386825"/>
              <a:gd name="connsiteX0" fmla="*/ 0 w 4969361"/>
              <a:gd name="connsiteY0" fmla="*/ 0 h 3386826"/>
              <a:gd name="connsiteX1" fmla="*/ 2507963 w 4969361"/>
              <a:gd name="connsiteY1" fmla="*/ 3386820 h 3386826"/>
              <a:gd name="connsiteX2" fmla="*/ 4969361 w 4969361"/>
              <a:gd name="connsiteY2" fmla="*/ 6160 h 338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69361" h="3386826">
                <a:moveTo>
                  <a:pt x="0" y="0"/>
                </a:moveTo>
                <a:cubicBezTo>
                  <a:pt x="973551" y="2473183"/>
                  <a:pt x="1680273" y="3383317"/>
                  <a:pt x="2507963" y="3386820"/>
                </a:cubicBezTo>
                <a:cubicBezTo>
                  <a:pt x="3335653" y="3390324"/>
                  <a:pt x="4245880" y="2059460"/>
                  <a:pt x="4969361" y="616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21928AC-6D71-3A38-CB45-13CEF7209873}"/>
              </a:ext>
            </a:extLst>
          </p:cNvPr>
          <p:cNvCxnSpPr/>
          <p:nvPr/>
        </p:nvCxnSpPr>
        <p:spPr>
          <a:xfrm flipH="1">
            <a:off x="607626" y="2518913"/>
            <a:ext cx="4940061" cy="16735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タイトル 3">
            <a:extLst>
              <a:ext uri="{FF2B5EF4-FFF2-40B4-BE49-F238E27FC236}">
                <a16:creationId xmlns:a16="http://schemas.microsoft.com/office/drawing/2014/main" id="{18DF9717-0925-A28C-5CD3-A92A5EFD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曲線に囲まれた面積</a:t>
            </a:r>
            <a:r>
              <a:rPr lang="ja-JP" altLang="en-US"/>
              <a:t>（</a:t>
            </a:r>
            <a:r>
              <a:rPr lang="en-US" altLang="ja-JP"/>
              <a:t>Newton ver.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A5E21C-BF96-A5A9-C706-E120C7DE9A4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27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BF427D8-BBFD-158C-FA92-CD71F2AEE4A7}"/>
              </a:ext>
            </a:extLst>
          </p:cNvPr>
          <p:cNvSpPr txBox="1"/>
          <p:nvPr/>
        </p:nvSpPr>
        <p:spPr>
          <a:xfrm>
            <a:off x="4359862" y="5562246"/>
            <a:ext cx="1961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y </a:t>
            </a:r>
            <a:r>
              <a:rPr kumimoji="1" lang="en-US" altLang="ja-JP" sz="4000">
                <a:latin typeface="+mj-lt"/>
                <a:sym typeface="BKM-cmmi10" panose="020B0501010101010101" pitchFamily="34" charset="2"/>
              </a:rPr>
              <a:t>= </a:t>
            </a:r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ax</a:t>
            </a:r>
            <a:r>
              <a:rPr kumimoji="1" lang="en-US" altLang="ja-JP" sz="4000" baseline="30000">
                <a:latin typeface="+mj-lt"/>
                <a:sym typeface="BKM-cmmi10" panose="020B0501010101010101" pitchFamily="34" charset="2"/>
              </a:rPr>
              <a:t>2</a:t>
            </a:r>
            <a:endParaRPr kumimoji="1" lang="ja-JP" altLang="en-US" sz="4000" baseline="30000">
              <a:latin typeface="+mj-lt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410F1FA-EB16-781E-47F7-9EBBB09D2879}"/>
              </a:ext>
            </a:extLst>
          </p:cNvPr>
          <p:cNvSpPr txBox="1"/>
          <p:nvPr/>
        </p:nvSpPr>
        <p:spPr>
          <a:xfrm>
            <a:off x="4921749" y="2647789"/>
            <a:ext cx="1961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y </a:t>
            </a:r>
            <a:r>
              <a:rPr kumimoji="1" lang="en-US" altLang="ja-JP" sz="4000">
                <a:latin typeface="+mj-lt"/>
                <a:sym typeface="BKM-cmmi10" panose="020B0501010101010101" pitchFamily="34" charset="2"/>
              </a:rPr>
              <a:t>= </a:t>
            </a:r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ax</a:t>
            </a:r>
            <a:endParaRPr kumimoji="1" lang="ja-JP" altLang="en-US" sz="4000" baseline="30000">
              <a:latin typeface="+mj-lt"/>
            </a:endParaRPr>
          </a:p>
        </p:txBody>
      </p:sp>
      <p:sp>
        <p:nvSpPr>
          <p:cNvPr id="18" name="テキスト プレースホルダー 1">
            <a:extLst>
              <a:ext uri="{FF2B5EF4-FFF2-40B4-BE49-F238E27FC236}">
                <a16:creationId xmlns:a16="http://schemas.microsoft.com/office/drawing/2014/main" id="{F2866701-325D-CE76-3263-22063EBFF17B}"/>
              </a:ext>
            </a:extLst>
          </p:cNvPr>
          <p:cNvSpPr txBox="1">
            <a:spLocks/>
          </p:cNvSpPr>
          <p:nvPr/>
        </p:nvSpPr>
        <p:spPr>
          <a:xfrm>
            <a:off x="6574673" y="1606867"/>
            <a:ext cx="5608864" cy="4942102"/>
          </a:xfrm>
          <a:prstGeom prst="rect">
            <a:avLst/>
          </a:prstGeom>
        </p:spPr>
        <p:txBody>
          <a:bodyPr anchor="t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長方形の面積で近似</a:t>
            </a:r>
            <a:endParaRPr lang="en-US" altLang="ja-JP" i="1" dirty="0">
              <a:latin typeface="+mj-lt"/>
              <a:ea typeface="CMU Classical Serif" panose="02000603000000000000" pitchFamily="2" charset="0"/>
              <a:cs typeface="CMU Classical Serif" panose="02000603000000000000" pitchFamily="2" charset="0"/>
            </a:endParaRP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幅を小さくし曲線に沿った長方形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を作る．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無限によるパラドクス</a:t>
            </a:r>
          </a:p>
        </p:txBody>
      </p:sp>
    </p:spTree>
    <p:extLst>
      <p:ext uri="{BB962C8B-B14F-4D97-AF65-F5344CB8AC3E}">
        <p14:creationId xmlns:p14="http://schemas.microsoft.com/office/powerpoint/2010/main" val="395989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16" grpId="0" animBg="1"/>
      <p:bldP spid="16" grpId="1" animBg="1"/>
      <p:bldP spid="15" grpId="0" animBg="1"/>
      <p:bldP spid="15" grpId="1" animBg="1"/>
      <p:bldP spid="14" grpId="0" animBg="1"/>
      <p:bldP spid="14" grpId="1" animBg="1"/>
      <p:bldP spid="13" grpId="0" animBg="1"/>
      <p:bldP spid="13" grpId="1" animBg="1"/>
      <p:bldP spid="2" grpId="0" animBg="1"/>
      <p:bldP spid="2" grpId="1" animBg="1"/>
      <p:bldP spid="9" grpId="0" animBg="1"/>
      <p:bldP spid="10" grpId="0"/>
      <p:bldP spid="10" grpId="1"/>
      <p:bldP spid="11" grpId="0"/>
      <p:bldP spid="11" grpId="1"/>
      <p:bldP spid="18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3F7A69-CE13-7A35-4D92-F0E792CF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AC5DAE6-BC57-8107-5BDB-2A919610C4D6}"/>
              </a:ext>
            </a:extLst>
          </p:cNvPr>
          <p:cNvGrpSpPr/>
          <p:nvPr/>
        </p:nvGrpSpPr>
        <p:grpSpPr>
          <a:xfrm>
            <a:off x="607626" y="2054085"/>
            <a:ext cx="4940061" cy="4047666"/>
            <a:chOff x="607626" y="2054085"/>
            <a:chExt cx="4940061" cy="4047666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1E95BE1B-C5D8-5A6E-74AC-18CEE8136602}"/>
                </a:ext>
              </a:extLst>
            </p:cNvPr>
            <p:cNvGrpSpPr/>
            <p:nvPr/>
          </p:nvGrpSpPr>
          <p:grpSpPr>
            <a:xfrm>
              <a:off x="1444308" y="2739628"/>
              <a:ext cx="3421470" cy="3362122"/>
              <a:chOff x="1444308" y="2739628"/>
              <a:chExt cx="3421470" cy="3362122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4EC8ED9C-ED98-BBEF-B18D-077B765128B8}"/>
                  </a:ext>
                </a:extLst>
              </p:cNvPr>
              <p:cNvSpPr/>
              <p:nvPr/>
            </p:nvSpPr>
            <p:spPr>
              <a:xfrm>
                <a:off x="4523631" y="2739628"/>
                <a:ext cx="342147" cy="113405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00119F33-88BA-D6DE-4E4A-7D29A1A1BA12}"/>
                  </a:ext>
                </a:extLst>
              </p:cNvPr>
              <p:cNvSpPr/>
              <p:nvPr/>
            </p:nvSpPr>
            <p:spPr>
              <a:xfrm>
                <a:off x="4181484" y="2850356"/>
                <a:ext cx="342147" cy="1820283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4A2A57BB-7968-47AE-A0CA-DF301EEB7BA3}"/>
                  </a:ext>
                </a:extLst>
              </p:cNvPr>
              <p:cNvSpPr/>
              <p:nvPr/>
            </p:nvSpPr>
            <p:spPr>
              <a:xfrm>
                <a:off x="3839337" y="2967039"/>
                <a:ext cx="342147" cy="2375106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9042D4CB-B194-FDD0-BBA4-B7EB1987F44A}"/>
                  </a:ext>
                </a:extLst>
              </p:cNvPr>
              <p:cNvSpPr/>
              <p:nvPr/>
            </p:nvSpPr>
            <p:spPr>
              <a:xfrm>
                <a:off x="3497190" y="3082528"/>
                <a:ext cx="342147" cy="2716533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1EFFF705-9F6F-E893-3F20-C9EE5B33A3C2}"/>
                  </a:ext>
                </a:extLst>
              </p:cNvPr>
              <p:cNvSpPr/>
              <p:nvPr/>
            </p:nvSpPr>
            <p:spPr>
              <a:xfrm>
                <a:off x="3155043" y="3198019"/>
                <a:ext cx="342147" cy="2875715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B2D0F0AA-3E08-8CE2-D272-62347BFF1A60}"/>
                  </a:ext>
                </a:extLst>
              </p:cNvPr>
              <p:cNvSpPr/>
              <p:nvPr/>
            </p:nvSpPr>
            <p:spPr>
              <a:xfrm>
                <a:off x="2812896" y="3313509"/>
                <a:ext cx="342147" cy="278824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33B3199A-7BC3-31FB-43B2-72A4A2EA8B36}"/>
                  </a:ext>
                </a:extLst>
              </p:cNvPr>
              <p:cNvSpPr/>
              <p:nvPr/>
            </p:nvSpPr>
            <p:spPr>
              <a:xfrm>
                <a:off x="2470749" y="3428999"/>
                <a:ext cx="342147" cy="2644735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A107CDC5-A497-BA0B-E7C1-22A8D80C5D63}"/>
                  </a:ext>
                </a:extLst>
              </p:cNvPr>
              <p:cNvSpPr/>
              <p:nvPr/>
            </p:nvSpPr>
            <p:spPr>
              <a:xfrm>
                <a:off x="2128602" y="3545681"/>
                <a:ext cx="342147" cy="2327669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466C992C-7332-AC58-5F96-141104A85950}"/>
                  </a:ext>
                </a:extLst>
              </p:cNvPr>
              <p:cNvSpPr/>
              <p:nvPr/>
            </p:nvSpPr>
            <p:spPr>
              <a:xfrm>
                <a:off x="1786455" y="3661172"/>
                <a:ext cx="342147" cy="1795285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4D60A531-9558-4F92-9055-75C18A6B27F0}"/>
                  </a:ext>
                </a:extLst>
              </p:cNvPr>
              <p:cNvSpPr/>
              <p:nvPr/>
            </p:nvSpPr>
            <p:spPr>
              <a:xfrm>
                <a:off x="1444308" y="3777854"/>
                <a:ext cx="342147" cy="1022170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6A536057-770D-DDF8-A146-1D543F7152DD}"/>
                </a:ext>
              </a:extLst>
            </p:cNvPr>
            <p:cNvSpPr/>
            <p:nvPr/>
          </p:nvSpPr>
          <p:spPr>
            <a:xfrm>
              <a:off x="855048" y="2054085"/>
              <a:ext cx="4192307" cy="4047666"/>
            </a:xfrm>
            <a:custGeom>
              <a:avLst/>
              <a:gdLst>
                <a:gd name="connsiteX0" fmla="*/ 0 w 4966138"/>
                <a:gd name="connsiteY0" fmla="*/ 0 h 3394847"/>
                <a:gd name="connsiteX1" fmla="*/ 2511973 w 4966138"/>
                <a:gd name="connsiteY1" fmla="*/ 3394842 h 3394847"/>
                <a:gd name="connsiteX2" fmla="*/ 4966138 w 4966138"/>
                <a:gd name="connsiteY2" fmla="*/ 21021 h 3394847"/>
                <a:gd name="connsiteX0" fmla="*/ 0 w 4885928"/>
                <a:gd name="connsiteY0" fmla="*/ 0 h 3410889"/>
                <a:gd name="connsiteX1" fmla="*/ 2431763 w 4885928"/>
                <a:gd name="connsiteY1" fmla="*/ 3410884 h 3410889"/>
                <a:gd name="connsiteX2" fmla="*/ 4885928 w 4885928"/>
                <a:gd name="connsiteY2" fmla="*/ 37063 h 3410889"/>
                <a:gd name="connsiteX0" fmla="*/ 0 w 4922023"/>
                <a:gd name="connsiteY0" fmla="*/ 0 h 3410889"/>
                <a:gd name="connsiteX1" fmla="*/ 2467858 w 4922023"/>
                <a:gd name="connsiteY1" fmla="*/ 3410884 h 3410889"/>
                <a:gd name="connsiteX2" fmla="*/ 4922023 w 4922023"/>
                <a:gd name="connsiteY2" fmla="*/ 37063 h 3410889"/>
                <a:gd name="connsiteX0" fmla="*/ 0 w 4922023"/>
                <a:gd name="connsiteY0" fmla="*/ 0 h 3402868"/>
                <a:gd name="connsiteX1" fmla="*/ 2511974 w 4922023"/>
                <a:gd name="connsiteY1" fmla="*/ 3402863 h 3402868"/>
                <a:gd name="connsiteX2" fmla="*/ 4922023 w 4922023"/>
                <a:gd name="connsiteY2" fmla="*/ 37063 h 3402868"/>
                <a:gd name="connsiteX0" fmla="*/ 0 w 4922023"/>
                <a:gd name="connsiteY0" fmla="*/ 0 h 3386825"/>
                <a:gd name="connsiteX1" fmla="*/ 2507963 w 4922023"/>
                <a:gd name="connsiteY1" fmla="*/ 3386820 h 3386825"/>
                <a:gd name="connsiteX2" fmla="*/ 4922023 w 4922023"/>
                <a:gd name="connsiteY2" fmla="*/ 37063 h 3386825"/>
                <a:gd name="connsiteX0" fmla="*/ 0 w 4986191"/>
                <a:gd name="connsiteY0" fmla="*/ 19084 h 3405909"/>
                <a:gd name="connsiteX1" fmla="*/ 2507963 w 4986191"/>
                <a:gd name="connsiteY1" fmla="*/ 3405904 h 3405909"/>
                <a:gd name="connsiteX2" fmla="*/ 4986191 w 4986191"/>
                <a:gd name="connsiteY2" fmla="*/ 0 h 3405909"/>
                <a:gd name="connsiteX0" fmla="*/ 0 w 4986191"/>
                <a:gd name="connsiteY0" fmla="*/ 19084 h 3405909"/>
                <a:gd name="connsiteX1" fmla="*/ 2507963 w 4986191"/>
                <a:gd name="connsiteY1" fmla="*/ 3405904 h 3405909"/>
                <a:gd name="connsiteX2" fmla="*/ 4986191 w 4986191"/>
                <a:gd name="connsiteY2" fmla="*/ 0 h 3405909"/>
                <a:gd name="connsiteX0" fmla="*/ 0 w 4969361"/>
                <a:gd name="connsiteY0" fmla="*/ 0 h 3386825"/>
                <a:gd name="connsiteX1" fmla="*/ 2507963 w 4969361"/>
                <a:gd name="connsiteY1" fmla="*/ 3386820 h 3386825"/>
                <a:gd name="connsiteX2" fmla="*/ 4969361 w 4969361"/>
                <a:gd name="connsiteY2" fmla="*/ 6160 h 3386825"/>
                <a:gd name="connsiteX0" fmla="*/ 0 w 4969361"/>
                <a:gd name="connsiteY0" fmla="*/ 0 h 3386826"/>
                <a:gd name="connsiteX1" fmla="*/ 2507963 w 4969361"/>
                <a:gd name="connsiteY1" fmla="*/ 3386820 h 3386826"/>
                <a:gd name="connsiteX2" fmla="*/ 4969361 w 4969361"/>
                <a:gd name="connsiteY2" fmla="*/ 6160 h 338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69361" h="3386826">
                  <a:moveTo>
                    <a:pt x="0" y="0"/>
                  </a:moveTo>
                  <a:cubicBezTo>
                    <a:pt x="973551" y="2473183"/>
                    <a:pt x="1680273" y="3383317"/>
                    <a:pt x="2507963" y="3386820"/>
                  </a:cubicBezTo>
                  <a:cubicBezTo>
                    <a:pt x="3335653" y="3390324"/>
                    <a:pt x="4245880" y="2059460"/>
                    <a:pt x="4969361" y="6160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AE97C0D3-08A1-239D-0BF9-152A75260380}"/>
                </a:ext>
              </a:extLst>
            </p:cNvPr>
            <p:cNvCxnSpPr/>
            <p:nvPr/>
          </p:nvCxnSpPr>
          <p:spPr>
            <a:xfrm flipH="1">
              <a:off x="607626" y="2518913"/>
              <a:ext cx="4940061" cy="16735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タイトル 3">
            <a:extLst>
              <a:ext uri="{FF2B5EF4-FFF2-40B4-BE49-F238E27FC236}">
                <a16:creationId xmlns:a16="http://schemas.microsoft.com/office/drawing/2014/main" id="{FEC765EC-A009-A126-C5F5-54C08F15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曲線に囲まれた面積</a:t>
            </a:r>
            <a:r>
              <a:rPr lang="ja-JP" altLang="en-US"/>
              <a:t>（</a:t>
            </a:r>
            <a:r>
              <a:rPr lang="en-US" altLang="ja-JP"/>
              <a:t>Newton ver.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39873F-A56B-289A-A023-5B8138FD9AF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28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DC3D3B-B383-0FE0-3944-152688964F8B}"/>
              </a:ext>
            </a:extLst>
          </p:cNvPr>
          <p:cNvSpPr txBox="1"/>
          <p:nvPr/>
        </p:nvSpPr>
        <p:spPr>
          <a:xfrm>
            <a:off x="4359862" y="5562246"/>
            <a:ext cx="1961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i="1" dirty="0">
                <a:latin typeface="+mj-lt"/>
                <a:sym typeface="BKM-cmmi10" panose="020B0501010101010101" pitchFamily="34" charset="2"/>
              </a:rPr>
              <a:t>y </a:t>
            </a:r>
            <a:r>
              <a:rPr kumimoji="1" lang="en-US" altLang="ja-JP" sz="4000" dirty="0">
                <a:latin typeface="+mj-lt"/>
                <a:sym typeface="BKM-cmmi10" panose="020B0501010101010101" pitchFamily="34" charset="2"/>
              </a:rPr>
              <a:t>= </a:t>
            </a:r>
            <a:r>
              <a:rPr kumimoji="1" lang="en-US" altLang="ja-JP" sz="4000" i="1" dirty="0">
                <a:latin typeface="+mj-lt"/>
                <a:sym typeface="BKM-cmmi10" panose="020B0501010101010101" pitchFamily="34" charset="2"/>
              </a:rPr>
              <a:t>ax</a:t>
            </a:r>
            <a:r>
              <a:rPr kumimoji="1" lang="en-US" altLang="ja-JP" sz="4000" baseline="30000" dirty="0">
                <a:latin typeface="+mj-lt"/>
                <a:sym typeface="BKM-cmmi10" panose="020B0501010101010101" pitchFamily="34" charset="2"/>
              </a:rPr>
              <a:t>2</a:t>
            </a:r>
            <a:endParaRPr kumimoji="1" lang="ja-JP" altLang="en-US" sz="4000" baseline="30000" dirty="0">
              <a:latin typeface="+mj-lt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BAC639-E879-DBE4-5C7B-225309CCB503}"/>
              </a:ext>
            </a:extLst>
          </p:cNvPr>
          <p:cNvSpPr txBox="1"/>
          <p:nvPr/>
        </p:nvSpPr>
        <p:spPr>
          <a:xfrm>
            <a:off x="4921749" y="2647789"/>
            <a:ext cx="1961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y </a:t>
            </a:r>
            <a:r>
              <a:rPr kumimoji="1" lang="en-US" altLang="ja-JP" sz="4000">
                <a:latin typeface="+mj-lt"/>
                <a:sym typeface="BKM-cmmi10" panose="020B0501010101010101" pitchFamily="34" charset="2"/>
              </a:rPr>
              <a:t>= </a:t>
            </a:r>
            <a:r>
              <a:rPr kumimoji="1" lang="en-US" altLang="ja-JP" sz="4000" i="1">
                <a:latin typeface="+mj-lt"/>
                <a:sym typeface="BKM-cmmi10" panose="020B0501010101010101" pitchFamily="34" charset="2"/>
              </a:rPr>
              <a:t>ax</a:t>
            </a:r>
            <a:endParaRPr kumimoji="1" lang="ja-JP" altLang="en-US" sz="4000" baseline="30000">
              <a:latin typeface="+mj-lt"/>
            </a:endParaRPr>
          </a:p>
        </p:txBody>
      </p:sp>
      <p:sp>
        <p:nvSpPr>
          <p:cNvPr id="18" name="テキスト プレースホルダー 1">
            <a:extLst>
              <a:ext uri="{FF2B5EF4-FFF2-40B4-BE49-F238E27FC236}">
                <a16:creationId xmlns:a16="http://schemas.microsoft.com/office/drawing/2014/main" id="{0B37E63F-B0F0-340B-0B0F-792F516A3C98}"/>
              </a:ext>
            </a:extLst>
          </p:cNvPr>
          <p:cNvSpPr txBox="1">
            <a:spLocks/>
          </p:cNvSpPr>
          <p:nvPr/>
        </p:nvSpPr>
        <p:spPr>
          <a:xfrm>
            <a:off x="6574673" y="1606867"/>
            <a:ext cx="5608864" cy="4942102"/>
          </a:xfrm>
          <a:prstGeom prst="rect">
            <a:avLst/>
          </a:prstGeom>
        </p:spPr>
        <p:txBody>
          <a:bodyPr anchor="t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/>
              <a:t>長方形の面積で近似</a:t>
            </a:r>
            <a:endParaRPr lang="en-US" altLang="ja-JP" i="1">
              <a:latin typeface="+mj-lt"/>
              <a:ea typeface="CMU Classical Serif" panose="02000603000000000000" pitchFamily="2" charset="0"/>
              <a:cs typeface="CMU Classical Serif" panose="02000603000000000000" pitchFamily="2" charset="0"/>
            </a:endParaRP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/>
              <a:t>幅を小さくし曲線に沿った長方形</a:t>
            </a:r>
            <a:r>
              <a:rPr lang="ja-JP" altLang="en-US">
                <a:latin typeface="+mn-ea"/>
                <a:cs typeface="CMU Serif" panose="02000603000000000000" pitchFamily="2" charset="0"/>
              </a:rPr>
              <a:t>を作る．</a:t>
            </a:r>
            <a:endParaRPr lang="en-US" altLang="ja-JP">
              <a:latin typeface="+mn-ea"/>
              <a:cs typeface="CMU Serif" panose="02000603000000000000" pitchFamily="2" charset="0"/>
            </a:endParaRP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>
                <a:latin typeface="+mn-ea"/>
                <a:cs typeface="CMU Serif" panose="02000603000000000000" pitchFamily="2" charset="0"/>
              </a:rPr>
              <a:t>無限によるパラドクス</a:t>
            </a:r>
          </a:p>
        </p:txBody>
      </p:sp>
    </p:spTree>
    <p:extLst>
      <p:ext uri="{BB962C8B-B14F-4D97-AF65-F5344CB8AC3E}">
        <p14:creationId xmlns:p14="http://schemas.microsoft.com/office/powerpoint/2010/main" val="3573774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6942-0E3E-7548-8EC4-0280409D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1050288-E365-86BF-642E-1D8333F2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歴史的な背景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75F1FE-2368-2112-E565-F27A21385B1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29</a:t>
            </a:fld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E32B846A-AEB7-C4A7-FD12-43EB5BA75D42}"/>
              </a:ext>
            </a:extLst>
          </p:cNvPr>
          <p:cNvSpPr/>
          <p:nvPr/>
        </p:nvSpPr>
        <p:spPr>
          <a:xfrm>
            <a:off x="5698271" y="3545615"/>
            <a:ext cx="669500" cy="669500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47C9413-31CE-B6B3-10CF-448032775D75}"/>
              </a:ext>
            </a:extLst>
          </p:cNvPr>
          <p:cNvSpPr/>
          <p:nvPr/>
        </p:nvSpPr>
        <p:spPr>
          <a:xfrm>
            <a:off x="-744540" y="5192342"/>
            <a:ext cx="285082" cy="285082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CA335910-3187-C379-9535-CD6559A59C78}"/>
              </a:ext>
            </a:extLst>
          </p:cNvPr>
          <p:cNvSpPr/>
          <p:nvPr/>
        </p:nvSpPr>
        <p:spPr>
          <a:xfrm>
            <a:off x="4814084" y="-504836"/>
            <a:ext cx="285082" cy="285082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F58631F-042A-E650-2B1E-A296B2F70E5C}"/>
              </a:ext>
            </a:extLst>
          </p:cNvPr>
          <p:cNvSpPr/>
          <p:nvPr/>
        </p:nvSpPr>
        <p:spPr>
          <a:xfrm>
            <a:off x="13258232" y="3013176"/>
            <a:ext cx="285082" cy="285082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9C12047-A476-41EC-9DDA-A7672107DC88}"/>
              </a:ext>
            </a:extLst>
          </p:cNvPr>
          <p:cNvSpPr/>
          <p:nvPr/>
        </p:nvSpPr>
        <p:spPr>
          <a:xfrm>
            <a:off x="1074684" y="-1524462"/>
            <a:ext cx="285082" cy="285082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CDFA915-A77F-A78D-9E55-3A5C97BEEBAE}"/>
              </a:ext>
            </a:extLst>
          </p:cNvPr>
          <p:cNvSpPr/>
          <p:nvPr/>
        </p:nvSpPr>
        <p:spPr>
          <a:xfrm>
            <a:off x="12973150" y="6856219"/>
            <a:ext cx="285082" cy="285082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69A6B365-1A8A-EEF2-3D7C-01CDCFCB953B}"/>
              </a:ext>
            </a:extLst>
          </p:cNvPr>
          <p:cNvSpPr/>
          <p:nvPr/>
        </p:nvSpPr>
        <p:spPr>
          <a:xfrm>
            <a:off x="-2104773" y="857799"/>
            <a:ext cx="285082" cy="285082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1">
            <a:extLst>
              <a:ext uri="{FF2B5EF4-FFF2-40B4-BE49-F238E27FC236}">
                <a16:creationId xmlns:a16="http://schemas.microsoft.com/office/drawing/2014/main" id="{2EB8C25F-0D94-DB3D-A81B-A8BA4D1DA0E2}"/>
              </a:ext>
            </a:extLst>
          </p:cNvPr>
          <p:cNvSpPr txBox="1">
            <a:spLocks/>
          </p:cNvSpPr>
          <p:nvPr/>
        </p:nvSpPr>
        <p:spPr>
          <a:xfrm>
            <a:off x="5427704" y="1606867"/>
            <a:ext cx="6764296" cy="5249352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記録されていた彗星は</a:t>
            </a:r>
            <a:r>
              <a:rPr lang="en-US" altLang="ja-JP" dirty="0"/>
              <a:t>24</a:t>
            </a:r>
            <a:r>
              <a:rPr lang="ja-JP" altLang="en-US" dirty="0"/>
              <a:t>個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そのうち</a:t>
            </a:r>
            <a:r>
              <a:rPr lang="en-US" altLang="ja-JP" dirty="0">
                <a:latin typeface="+mn-ea"/>
                <a:cs typeface="CMU Serif" panose="02000603000000000000" pitchFamily="2" charset="0"/>
              </a:rPr>
              <a:t>1531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，</a:t>
            </a:r>
            <a:r>
              <a:rPr lang="en-US" altLang="ja-JP" dirty="0">
                <a:latin typeface="+mn-ea"/>
                <a:cs typeface="CMU Serif" panose="02000603000000000000" pitchFamily="2" charset="0"/>
              </a:rPr>
              <a:t>1607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，</a:t>
            </a:r>
            <a:r>
              <a:rPr lang="en-US" altLang="ja-JP" dirty="0">
                <a:latin typeface="+mn-ea"/>
                <a:cs typeface="CMU Serif" panose="02000603000000000000" pitchFamily="2" charset="0"/>
              </a:rPr>
              <a:t>1682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年が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同じ軌道？</a:t>
            </a:r>
            <a:endParaRPr lang="en-US" altLang="ja-JP" dirty="0">
              <a:solidFill>
                <a:schemeClr val="accent6"/>
              </a:solidFill>
              <a:latin typeface="+mn-ea"/>
              <a:cs typeface="CMU Serif" panose="02000603000000000000" pitchFamily="2" charset="0"/>
            </a:endParaRPr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>
                <a:latin typeface="+mn-ea"/>
                <a:cs typeface="CMU Serif" panose="02000603000000000000" pitchFamily="2" charset="0"/>
              </a:rPr>
              <a:t>ハレーが</a:t>
            </a:r>
            <a:r>
              <a:rPr lang="en-US" altLang="ja-JP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1758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年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に彗星が戻ってくることを</a:t>
            </a:r>
            <a:r>
              <a:rPr lang="ja-JP" altLang="en-US" dirty="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予言</a:t>
            </a:r>
            <a:r>
              <a:rPr lang="ja-JP" altLang="en-US" dirty="0">
                <a:latin typeface="+mn-ea"/>
                <a:cs typeface="CMU Serif" panose="02000603000000000000" pitchFamily="2" charset="0"/>
              </a:rPr>
              <a:t>．</a:t>
            </a:r>
            <a:endParaRPr lang="en-US" altLang="ja-JP" dirty="0">
              <a:latin typeface="+mn-ea"/>
              <a:cs typeface="CMU Serif" panose="02000603000000000000" pitchFamily="2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0D4657D-4C0C-1EF1-773C-F3A63266A4E4}"/>
              </a:ext>
            </a:extLst>
          </p:cNvPr>
          <p:cNvSpPr/>
          <p:nvPr/>
        </p:nvSpPr>
        <p:spPr>
          <a:xfrm rot="20017509">
            <a:off x="1145594" y="3158714"/>
            <a:ext cx="1334731" cy="5405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dirty="0"/>
              <a:t>1531</a:t>
            </a:r>
            <a:endParaRPr kumimoji="1" lang="ja-JP" altLang="en-US" sz="36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9DF73BE-9968-2879-4154-4E77B28C69D2}"/>
              </a:ext>
            </a:extLst>
          </p:cNvPr>
          <p:cNvSpPr/>
          <p:nvPr/>
        </p:nvSpPr>
        <p:spPr>
          <a:xfrm rot="20017509">
            <a:off x="1169929" y="3158714"/>
            <a:ext cx="1334731" cy="5405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dirty="0"/>
              <a:t>1607</a:t>
            </a:r>
            <a:endParaRPr kumimoji="1" lang="ja-JP" altLang="en-US" sz="36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46E81C2-4988-22DF-4C89-3C042A20F15E}"/>
              </a:ext>
            </a:extLst>
          </p:cNvPr>
          <p:cNvSpPr/>
          <p:nvPr/>
        </p:nvSpPr>
        <p:spPr>
          <a:xfrm rot="20017509">
            <a:off x="1172562" y="3158713"/>
            <a:ext cx="1334731" cy="5405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dirty="0"/>
              <a:t>1682</a:t>
            </a:r>
            <a:endParaRPr kumimoji="1" lang="ja-JP" altLang="en-US" sz="36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E8BC7B31-9C6B-E7B6-B8C5-3F69C17C3791}"/>
              </a:ext>
            </a:extLst>
          </p:cNvPr>
          <p:cNvSpPr/>
          <p:nvPr/>
        </p:nvSpPr>
        <p:spPr>
          <a:xfrm>
            <a:off x="5142621" y="2605294"/>
            <a:ext cx="285082" cy="285082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82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C 0.11966 -0.00023 0.21784 0.09561 0.21784 0.21227 C 0.21784 0.3301 0.11966 0.42431 4.16667E-7 0.42523 C -0.12005 0.42477 -0.21862 0.32894 -0.2181 0.21111 C -0.21901 0.09491 -0.12057 -3.33333E-6 4.16667E-7 -3.33333E-6 Z " pathEditMode="relative" rAng="0" ptsTypes="AAAAA">
                                      <p:cBhvr>
                                        <p:cTn id="13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44444E-6 C 0.27318 -0.35394 0.56328 -0.48172 0.64375 -0.28357 C 0.725 -0.08519 0.56615 0.36365 0.29297 0.71805 C 0.01875 1.07222 -0.27213 1.20046 -0.35221 1.00023 C -0.4345 0.80601 -0.27565 0.35509 -8.33333E-7 4.44444E-6 Z " pathEditMode="relative" rAng="19440000" ptsTypes="AAAAA">
                                      <p:cBhvr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09" y="3592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path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4.58333E-6 -4.98733E-18 C 0.30612 0.25301 0.5095 0.64213 0.45143 0.86296 C 0.39296 1.08542 0.09557 1.05602 -0.21068 0.8037 C -0.51784 0.54861 -0.72201 0.1588 -0.6625 -0.06273 C -0.60704 -0.28472 -0.30808 -0.25579 4.58333E-6 -4.98733E-18 Z " pathEditMode="relative" rAng="1500000" ptsTypes="AAAAA">
                                      <p:cBhvr>
                                        <p:cTn id="1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86" y="4013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1.45833E-6 2.96296E-6 C 0.30469 -0.25533 0.69883 0.08402 0.87461 0.75231 C 1.05104 1.42615 0.94167 2.17477 0.6375 2.43009 C 0.3306 2.68472 -0.06485 2.3456 -0.24037 1.67083 C -0.41758 1.00532 -0.30886 0.25324 1.45833E-6 2.96296E-6 Z " pathEditMode="relative" rAng="20100000" ptsTypes="AAA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10" y="12155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" presetClass="path" presetSubtype="0" accel="50000" decel="5000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4.79167E-6 1.11111E-6 C 0.31393 0.225 0.52825 0.59375 0.47643 0.82083 C 0.42487 1.04792 0.12708 1.04699 -0.18633 0.82222 C -0.50144 0.59676 -0.71641 0.22616 -0.66381 -0.00093 C -0.61459 -0.22778 -0.31537 -0.22732 4.79167E-6 1.11111E-6 Z " pathEditMode="relative" rAng="1320000" ptsTypes="AAAAA">
                                      <p:cBhvr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88" y="41042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path" presetSubtype="0" accel="50000" decel="5000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-1.25E-6 1.11111E-6 C -0.26029 -0.47963 -0.57656 -0.69792 -0.70052 -0.48333 C -0.82669 -0.26736 -0.71289 0.29768 -0.45377 0.77778 C -0.19206 1.25856 0.12383 1.47685 0.24753 1.25903 C 0.37357 1.04861 0.26211 0.48356 -1.25E-6 1.11111E-6 Z " pathEditMode="relative" rAng="13560000" ptsTypes="AAAAA">
                                      <p:cBhvr>
                                        <p:cTn id="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95" y="3888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path" presetSubtype="0" accel="50000" decel="5000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animMotion origin="layout" path="M -2.29167E-6 -3.33333E-6 C -0.13437 0.33982 -0.17695 0.70324 -0.09479 0.80463 C -0.01211 0.90811 0.16393 0.71111 0.29805 0.37223 C 0.43281 0.03079 0.47526 -0.33217 0.39219 -0.43356 C 0.31107 -0.53796 0.13451 -0.34236 -2.29167E-6 -3.33333E-6 Z " pathEditMode="relative" rAng="7500000" ptsTypes="AAAAA">
                                      <p:cBhvr>
                                        <p:cTn id="2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09" y="1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500"/>
                            </p:stCondLst>
                            <p:childTnLst>
                              <p:par>
                                <p:cTn id="2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path" presetSubtype="0" repeatCount="300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C 0.27057 -0.36343 0.55898 -0.49722 0.64375 -0.29584 C 0.72773 -0.09861 0.57682 0.35903 0.30573 0.72129 C 0.03502 1.08403 -0.253 1.21736 -0.33828 1.01736 C -0.42201 0.81805 -0.27084 0.36134 3.54167E-6 1.85185E-6 Z " pathEditMode="relative" rAng="19380000" ptsTypes="AAAAA">
                                      <p:cBhvr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60" y="36065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8" grpId="0" animBg="1"/>
      <p:bldP spid="8" grpId="1" animBg="1"/>
      <p:bldP spid="2" grpId="0" animBg="1"/>
      <p:bldP spid="10" grpId="0" animBg="1"/>
      <p:bldP spid="11" grpId="0" animBg="1"/>
      <p:bldP spid="12" grpId="0" animBg="1"/>
      <p:bldP spid="13" grpId="0" animBg="1"/>
      <p:bldP spid="15" grpId="0" uiExpand="1" build="p"/>
      <p:bldP spid="16" grpId="0"/>
      <p:bldP spid="16" grpId="1"/>
      <p:bldP spid="17" grpId="0"/>
      <p:bldP spid="17" grpId="1"/>
      <p:bldP spid="18" grpId="0"/>
      <p:bldP spid="18" grpId="1"/>
      <p:bldP spid="21" grpId="0" animBg="1"/>
      <p:bldP spid="21" grpId="1" animBg="1"/>
      <p:bldP spid="21" grpId="2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16038EF-BFDB-1723-36AB-2A5225576772}"/>
              </a:ext>
            </a:extLst>
          </p:cNvPr>
          <p:cNvSpPr/>
          <p:nvPr/>
        </p:nvSpPr>
        <p:spPr>
          <a:xfrm>
            <a:off x="607619" y="1514369"/>
            <a:ext cx="11157066" cy="101746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chemeClr val="accent6"/>
                </a:solidFill>
              </a:rPr>
              <a:t>幅を小さくし</a:t>
            </a:r>
            <a:r>
              <a:rPr lang="ja-JP" altLang="en-US" sz="3600" dirty="0"/>
              <a:t>，曲線に沿った長方形を作る．</a:t>
            </a:r>
            <a:endParaRPr kumimoji="1" lang="ja-JP" altLang="en-US" sz="360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C8AF813-3F06-C7F6-AD53-E8B8A133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無限によるパラドクスとは？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78822B-5018-DD06-36A6-C093C96EA30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107973E-4685-1EFE-3E20-33B6EC022D96}"/>
              </a:ext>
            </a:extLst>
          </p:cNvPr>
          <p:cNvSpPr/>
          <p:nvPr/>
        </p:nvSpPr>
        <p:spPr>
          <a:xfrm>
            <a:off x="1380196" y="2899741"/>
            <a:ext cx="1321783" cy="2906484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45A82F1-43E2-F620-F7E4-38EF66957729}"/>
              </a:ext>
            </a:extLst>
          </p:cNvPr>
          <p:cNvGrpSpPr/>
          <p:nvPr/>
        </p:nvGrpSpPr>
        <p:grpSpPr>
          <a:xfrm>
            <a:off x="2769337" y="2899741"/>
            <a:ext cx="477078" cy="2906484"/>
            <a:chOff x="2769337" y="2899741"/>
            <a:chExt cx="477078" cy="2906484"/>
          </a:xfrm>
        </p:grpSpPr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3D821443-6A19-F66B-2121-8E67EEE71A8B}"/>
                </a:ext>
              </a:extLst>
            </p:cNvPr>
            <p:cNvCxnSpPr>
              <a:cxnSpLocks/>
            </p:cNvCxnSpPr>
            <p:nvPr/>
          </p:nvCxnSpPr>
          <p:spPr>
            <a:xfrm>
              <a:off x="3007876" y="2899741"/>
              <a:ext cx="0" cy="290648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A9057DF-7284-C635-19FA-AC7B642A3E20}"/>
                </a:ext>
              </a:extLst>
            </p:cNvPr>
            <p:cNvSpPr txBox="1"/>
            <p:nvPr/>
          </p:nvSpPr>
          <p:spPr>
            <a:xfrm>
              <a:off x="2769337" y="4122150"/>
              <a:ext cx="47707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>
                  <a:latin typeface="+mj-lt"/>
                </a:rPr>
                <a:t>h</a:t>
              </a:r>
              <a:endParaRPr kumimoji="1" lang="ja-JP" altLang="en-US" i="1" dirty="0">
                <a:latin typeface="+mj-lt"/>
              </a:endParaRP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782D51A-0B1B-7237-B973-AC633B951D7E}"/>
              </a:ext>
            </a:extLst>
          </p:cNvPr>
          <p:cNvGrpSpPr/>
          <p:nvPr/>
        </p:nvGrpSpPr>
        <p:grpSpPr>
          <a:xfrm>
            <a:off x="1380196" y="5943300"/>
            <a:ext cx="1321783" cy="461665"/>
            <a:chOff x="1380196" y="5943300"/>
            <a:chExt cx="1321783" cy="461665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95FA453C-A3E5-805E-6206-CC680B1B5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0196" y="6174133"/>
              <a:ext cx="132178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7F38A98-C456-7821-4E99-7A09B0E962DD}"/>
                </a:ext>
              </a:extLst>
            </p:cNvPr>
            <p:cNvSpPr txBox="1"/>
            <p:nvPr/>
          </p:nvSpPr>
          <p:spPr>
            <a:xfrm>
              <a:off x="1738079" y="5943300"/>
              <a:ext cx="60601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 dirty="0" err="1">
                  <a:latin typeface="+mj-lt"/>
                </a:rPr>
                <a:t>Δx</a:t>
              </a:r>
              <a:endParaRPr kumimoji="1" lang="ja-JP" altLang="en-US" i="1" dirty="0">
                <a:latin typeface="+mj-lt"/>
              </a:endParaRPr>
            </a:p>
          </p:txBody>
        </p:sp>
      </p:grpSp>
      <p:sp>
        <p:nvSpPr>
          <p:cNvPr id="20" name="テキスト プレースホルダー 1">
            <a:extLst>
              <a:ext uri="{FF2B5EF4-FFF2-40B4-BE49-F238E27FC236}">
                <a16:creationId xmlns:a16="http://schemas.microsoft.com/office/drawing/2014/main" id="{3354ED94-95EF-4CE9-14DF-F5C9598D9294}"/>
              </a:ext>
            </a:extLst>
          </p:cNvPr>
          <p:cNvSpPr txBox="1">
            <a:spLocks/>
          </p:cNvSpPr>
          <p:nvPr/>
        </p:nvSpPr>
        <p:spPr>
          <a:xfrm>
            <a:off x="4039066" y="2783637"/>
            <a:ext cx="7725625" cy="3454789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3900" indent="-723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en-US" altLang="ja-JP" dirty="0" err="1">
                <a:solidFill>
                  <a:schemeClr val="accent6"/>
                </a:solidFill>
              </a:rPr>
              <a:t>Δx</a:t>
            </a:r>
            <a:r>
              <a:rPr lang="en-US" altLang="ja-JP" dirty="0">
                <a:solidFill>
                  <a:schemeClr val="accent6"/>
                </a:solidFill>
              </a:rPr>
              <a:t> </a:t>
            </a:r>
            <a:r>
              <a:rPr lang="ja-JP" altLang="en-US" dirty="0">
                <a:latin typeface="+mj-lt"/>
              </a:rPr>
              <a:t>を</a:t>
            </a:r>
            <a:r>
              <a:rPr lang="ja-JP" altLang="en-US" dirty="0">
                <a:solidFill>
                  <a:schemeClr val="accent6"/>
                </a:solidFill>
                <a:latin typeface="+mj-lt"/>
              </a:rPr>
              <a:t>無限小量</a:t>
            </a:r>
            <a:r>
              <a:rPr lang="ja-JP" altLang="en-US" dirty="0">
                <a:latin typeface="+mj-lt"/>
              </a:rPr>
              <a:t>とした．</a:t>
            </a:r>
            <a:endParaRPr lang="en-US" altLang="ja-JP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ja-JP" sz="2800" dirty="0">
                <a:latin typeface="+mj-lt"/>
              </a:rPr>
              <a:t>		</a:t>
            </a:r>
            <a:r>
              <a:rPr lang="ja-JP" altLang="en-US" sz="2800" dirty="0"/>
              <a:t>→ </a:t>
            </a:r>
            <a:r>
              <a:rPr lang="en-US" altLang="ja-JP" sz="2800" dirty="0"/>
              <a:t>0</a:t>
            </a:r>
            <a:r>
              <a:rPr lang="ja-JP" altLang="en-US" sz="2800" dirty="0"/>
              <a:t>ではないけど，</a:t>
            </a:r>
            <a:r>
              <a:rPr lang="en-US" altLang="ja-JP" sz="2800" dirty="0"/>
              <a:t>0</a:t>
            </a:r>
            <a:r>
              <a:rPr lang="ja-JP" altLang="en-US" sz="2800" dirty="0"/>
              <a:t>と見なしてよい数</a:t>
            </a:r>
            <a:endParaRPr lang="en-US" altLang="ja-JP" sz="2800" dirty="0"/>
          </a:p>
          <a:p>
            <a:pPr marL="717550" indent="-7175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en-US" altLang="ja-JP" dirty="0" err="1">
                <a:solidFill>
                  <a:schemeClr val="accent6"/>
                </a:solidFill>
              </a:rPr>
              <a:t>Δx</a:t>
            </a:r>
            <a:r>
              <a:rPr lang="en-US" altLang="ja-JP" dirty="0">
                <a:solidFill>
                  <a:schemeClr val="accent6"/>
                </a:solidFill>
              </a:rPr>
              <a:t> = 0</a:t>
            </a:r>
            <a:r>
              <a:rPr lang="ja-JP" altLang="en-US" dirty="0">
                <a:solidFill>
                  <a:schemeClr val="accent6"/>
                </a:solidFill>
              </a:rPr>
              <a:t> </a:t>
            </a:r>
            <a:r>
              <a:rPr lang="ja-JP" altLang="en-US" dirty="0"/>
              <a:t>または</a:t>
            </a:r>
            <a:r>
              <a:rPr lang="en-US" altLang="ja-JP" dirty="0"/>
              <a:t> </a:t>
            </a:r>
            <a:r>
              <a:rPr lang="en-US" altLang="ja-JP" dirty="0" err="1">
                <a:solidFill>
                  <a:schemeClr val="accent6"/>
                </a:solidFill>
              </a:rPr>
              <a:t>Δx</a:t>
            </a:r>
            <a:r>
              <a:rPr lang="en-US" altLang="ja-JP" dirty="0">
                <a:solidFill>
                  <a:schemeClr val="accent6"/>
                </a:solidFill>
              </a:rPr>
              <a:t> </a:t>
            </a:r>
            <a:r>
              <a:rPr lang="ja-JP" altLang="en-US" dirty="0">
                <a:solidFill>
                  <a:schemeClr val="accent6"/>
                </a:solidFill>
              </a:rPr>
              <a:t>≠ </a:t>
            </a:r>
            <a:r>
              <a:rPr lang="en-US" altLang="ja-JP" dirty="0">
                <a:solidFill>
                  <a:schemeClr val="accent6"/>
                </a:solidFill>
              </a:rPr>
              <a:t>0 </a:t>
            </a:r>
            <a:r>
              <a:rPr lang="ja-JP" altLang="en-US" dirty="0"/>
              <a:t>のどちらか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6457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20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6B502ADB-AF47-A521-948A-7CE52341C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 = 2 </a:t>
            </a:r>
            <a:r>
              <a:rPr kumimoji="1" lang="ja-JP" altLang="en-US" dirty="0"/>
              <a:t>の証明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062891-9EDD-6E1F-08F3-935B26951E6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31</a:t>
            </a:fld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3FA60F9-C24A-8D98-78D8-6DC701C1C20F}"/>
              </a:ext>
            </a:extLst>
          </p:cNvPr>
          <p:cNvSpPr/>
          <p:nvPr/>
        </p:nvSpPr>
        <p:spPr>
          <a:xfrm>
            <a:off x="2156603" y="3328438"/>
            <a:ext cx="3151517" cy="8095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/>
              <a:t>1 </a:t>
            </a:r>
            <a:r>
              <a:rPr kumimoji="1" lang="ja-JP" altLang="en-US" sz="4000" dirty="0"/>
              <a:t>≠</a:t>
            </a:r>
            <a:r>
              <a:rPr kumimoji="1" lang="en-US" altLang="ja-JP" sz="4000" dirty="0"/>
              <a:t> 2</a:t>
            </a:r>
            <a:endParaRPr kumimoji="1" lang="ja-JP" altLang="en-US" sz="40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F1DA84F-6334-6AB2-D86E-FEBE74B15DA5}"/>
              </a:ext>
            </a:extLst>
          </p:cNvPr>
          <p:cNvSpPr/>
          <p:nvPr/>
        </p:nvSpPr>
        <p:spPr>
          <a:xfrm>
            <a:off x="6399811" y="3328438"/>
            <a:ext cx="3151517" cy="8095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/>
              <a:t>1 = 2</a:t>
            </a:r>
            <a:endParaRPr kumimoji="1" lang="ja-JP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プレースホルダー 1">
                <a:extLst>
                  <a:ext uri="{FF2B5EF4-FFF2-40B4-BE49-F238E27FC236}">
                    <a16:creationId xmlns:a16="http://schemas.microsoft.com/office/drawing/2014/main" id="{B3C9F619-0004-651B-91F5-530FE72D2B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9811" y="4379465"/>
                <a:ext cx="5112643" cy="2255352"/>
              </a:xfrm>
              <a:prstGeom prst="rect">
                <a:avLst/>
              </a:prstGeom>
            </p:spPr>
            <p:txBody>
              <a:bodyPr anchor="t"/>
              <a:lstStyle>
                <a:lvl1pPr marL="0" indent="0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kumimoji="1"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5325" indent="-190510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kumimoji="1"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2038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kumimoji="1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6853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kumimoji="1"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69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kumimoji="1"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76484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kumimoji="1"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81299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kumimoji="1"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86114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kumimoji="1"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90930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kumimoji="1"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ja-JP" sz="2400" dirty="0">
                    <a:cs typeface="CMU Serif" panose="02000603000000000000" pitchFamily="2" charset="0"/>
                  </a:rPr>
                  <a:t>Δx = 0 </a:t>
                </a:r>
                <a:r>
                  <a:rPr lang="ja-JP" altLang="en-US" sz="2400" dirty="0">
                    <a:latin typeface="+mn-ea"/>
                    <a:cs typeface="CMU Serif" panose="02000603000000000000" pitchFamily="2" charset="0"/>
                  </a:rPr>
                  <a:t>のとき，</a:t>
                </a:r>
                <a:r>
                  <a:rPr lang="en-US" altLang="ja-JP" sz="2400" dirty="0">
                    <a:cs typeface="CMU Serif" panose="02000603000000000000" pitchFamily="2" charset="0"/>
                  </a:rPr>
                  <a:t>1 × </a:t>
                </a:r>
                <a:r>
                  <a:rPr lang="en-US" altLang="ja-JP" sz="2400" dirty="0" err="1">
                    <a:cs typeface="CMU Serif" panose="02000603000000000000" pitchFamily="2" charset="0"/>
                  </a:rPr>
                  <a:t>Δx</a:t>
                </a:r>
                <a:r>
                  <a:rPr lang="en-US" altLang="ja-JP" sz="2400" dirty="0">
                    <a:cs typeface="CMU Serif" panose="02000603000000000000" pitchFamily="2" charset="0"/>
                  </a:rPr>
                  <a:t> = 2 ×</a:t>
                </a:r>
                <a:r>
                  <a:rPr lang="ja-JP" altLang="en-US" sz="2400" dirty="0">
                    <a:cs typeface="CMU Serif" panose="02000603000000000000" pitchFamily="2" charset="0"/>
                  </a:rPr>
                  <a:t> </a:t>
                </a:r>
                <a:r>
                  <a:rPr lang="en-US" altLang="ja-JP" sz="2400" dirty="0" err="1">
                    <a:cs typeface="CMU Serif" panose="02000603000000000000" pitchFamily="2" charset="0"/>
                  </a:rPr>
                  <a:t>Δx</a:t>
                </a:r>
                <a:endParaRPr lang="en-US" altLang="ja-JP" sz="2400" dirty="0"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ja-JP" sz="2400" dirty="0" err="1">
                    <a:cs typeface="CMU Serif" panose="02000603000000000000" pitchFamily="2" charset="0"/>
                  </a:rPr>
                  <a:t>Δx</a:t>
                </a:r>
                <a:r>
                  <a:rPr lang="en-US" altLang="ja-JP" sz="2400" dirty="0">
                    <a:cs typeface="CMU Serif" panose="02000603000000000000" pitchFamily="2" charset="0"/>
                  </a:rPr>
                  <a:t> </a:t>
                </a:r>
                <a:r>
                  <a:rPr lang="ja-JP" altLang="en-US" sz="2400" dirty="0">
                    <a:cs typeface="CMU Serif" panose="02000603000000000000" pitchFamily="2" charset="0"/>
                  </a:rPr>
                  <a:t>≠ </a:t>
                </a:r>
                <a:r>
                  <a:rPr lang="en-US" altLang="ja-JP" sz="2400" dirty="0">
                    <a:cs typeface="CMU Serif" panose="02000603000000000000" pitchFamily="2" charset="0"/>
                  </a:rPr>
                  <a:t>0 </a:t>
                </a:r>
                <a:r>
                  <a:rPr lang="ja-JP" altLang="en-US" sz="2400" dirty="0">
                    <a:latin typeface="+mn-ea"/>
                    <a:cs typeface="CMU Serif" panose="02000603000000000000" pitchFamily="2" charset="0"/>
                  </a:rPr>
                  <a:t>のとき，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ja-JP" sz="2400" b="0" i="0" smtClean="0">
                            <a:cs typeface="CMU Serif" panose="02000603000000000000" pitchFamily="2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ja-JP" sz="2400" i="0">
                            <a:cs typeface="CMU Serif" panose="02000603000000000000" pitchFamily="2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ja-JP" sz="2400" i="0">
                            <a:cs typeface="CMU Serif" panose="02000603000000000000" pitchFamily="2" charset="0"/>
                          </a:rPr>
                          <m:t>Δx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ja-JP" sz="2400" i="0">
                            <a:cs typeface="CMU Serif" panose="02000603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ja-JP" sz="2400" b="0" i="0" smtClean="0">
                            <a:cs typeface="CMU Serif" panose="02000603000000000000" pitchFamily="2" charset="0"/>
                          </a:rPr>
                          <m:t>x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ja-JP" sz="2400" b="0" i="0" smtClean="0">
                        <a:cs typeface="CMU Serif" panose="02000603000000000000" pitchFamily="2" charset="0"/>
                      </a:rPr>
                      <m:t>= 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ja-JP" sz="2400" b="0" i="0" smtClean="0">
                            <a:cs typeface="CMU Serif" panose="02000603000000000000" pitchFamily="2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ja-JP" sz="2400" i="0">
                            <a:cs typeface="CMU Serif" panose="02000603000000000000" pitchFamily="2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ja-JP" sz="2400" i="0" smtClean="0">
                            <a:cs typeface="CMU Serif" panose="02000603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ja-JP" sz="2400" b="0" i="0" smtClean="0">
                            <a:cs typeface="CMU Serif" panose="02000603000000000000" pitchFamily="2" charset="0"/>
                          </a:rPr>
                          <m:t>x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ja-JP" sz="2400" i="0">
                            <a:cs typeface="CMU Serif" panose="02000603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ja-JP" sz="2400" b="0" i="0" smtClean="0">
                            <a:cs typeface="CMU Serif" panose="02000603000000000000" pitchFamily="2" charset="0"/>
                          </a:rPr>
                          <m:t>x</m:t>
                        </m:r>
                      </m:den>
                    </m:f>
                  </m:oMath>
                </a14:m>
                <a:endParaRPr lang="en-US" altLang="ja-JP" sz="2400" dirty="0"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ja-JP" sz="2400" dirty="0" err="1">
                    <a:cs typeface="CMU Serif" panose="02000603000000000000" pitchFamily="2" charset="0"/>
                  </a:rPr>
                  <a:t>Δx</a:t>
                </a:r>
                <a:r>
                  <a:rPr lang="en-US" altLang="ja-JP" sz="2400" dirty="0">
                    <a:cs typeface="CMU Serif" panose="02000603000000000000" pitchFamily="2" charset="0"/>
                  </a:rPr>
                  <a:t> </a:t>
                </a:r>
                <a:r>
                  <a:rPr lang="ja-JP" altLang="en-US" sz="2400" dirty="0">
                    <a:cs typeface="CMU Serif" panose="02000603000000000000" pitchFamily="2" charset="0"/>
                  </a:rPr>
                  <a:t>を約分すると，</a:t>
                </a:r>
                <a:r>
                  <a:rPr lang="en-US" altLang="ja-JP" sz="2400" dirty="0">
                    <a:cs typeface="CMU Serif" panose="02000603000000000000" pitchFamily="2" charset="0"/>
                  </a:rPr>
                  <a:t>1 = 2 </a:t>
                </a:r>
                <a:r>
                  <a:rPr lang="ja-JP" altLang="en-US" sz="2400" baseline="-25000" dirty="0">
                    <a:cs typeface="CMU Serif" panose="02000603000000000000" pitchFamily="2" charset="0"/>
                  </a:rPr>
                  <a:t>■</a:t>
                </a:r>
              </a:p>
            </p:txBody>
          </p:sp>
        </mc:Choice>
        <mc:Fallback xmlns="">
          <p:sp>
            <p:nvSpPr>
              <p:cNvPr id="19" name="テキスト プレースホルダー 1">
                <a:extLst>
                  <a:ext uri="{FF2B5EF4-FFF2-40B4-BE49-F238E27FC236}">
                    <a16:creationId xmlns:a16="http://schemas.microsoft.com/office/drawing/2014/main" id="{B3C9F619-0004-651B-91F5-530FE72D2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811" y="4379465"/>
                <a:ext cx="5112643" cy="2255352"/>
              </a:xfrm>
              <a:prstGeom prst="rect">
                <a:avLst/>
              </a:prstGeom>
              <a:blipFill>
                <a:blip r:embed="rId2"/>
                <a:stretch>
                  <a:fillRect l="-1907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テキスト プレースホルダー 1">
            <a:extLst>
              <a:ext uri="{FF2B5EF4-FFF2-40B4-BE49-F238E27FC236}">
                <a16:creationId xmlns:a16="http://schemas.microsoft.com/office/drawing/2014/main" id="{F009026C-21C9-4E4C-7D4A-BA33602953F2}"/>
              </a:ext>
            </a:extLst>
          </p:cNvPr>
          <p:cNvSpPr txBox="1">
            <a:spLocks/>
          </p:cNvSpPr>
          <p:nvPr/>
        </p:nvSpPr>
        <p:spPr>
          <a:xfrm>
            <a:off x="2156603" y="4379465"/>
            <a:ext cx="3151517" cy="1451180"/>
          </a:xfrm>
          <a:prstGeom prst="rect">
            <a:avLst/>
          </a:prstGeom>
        </p:spPr>
        <p:txBody>
          <a:bodyPr anchor="t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ja-JP" altLang="en-US" baseline="-25000" dirty="0">
                <a:cs typeface="CMU Serif" panose="02000603000000000000" pitchFamily="2" charset="0"/>
              </a:rPr>
              <a:t>大前提として，</a:t>
            </a:r>
            <a:endParaRPr lang="en-US" altLang="ja-JP" baseline="-25000" dirty="0">
              <a:cs typeface="CMU Serif" panose="02000603000000000000" pitchFamily="2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ja-JP" baseline="-25000" dirty="0">
                <a:cs typeface="CMU Serif" panose="02000603000000000000" pitchFamily="2" charset="0"/>
              </a:rPr>
              <a:t>1 </a:t>
            </a:r>
            <a:r>
              <a:rPr lang="ja-JP" altLang="en-US" baseline="-25000" dirty="0">
                <a:cs typeface="CMU Serif" panose="02000603000000000000" pitchFamily="2" charset="0"/>
              </a:rPr>
              <a:t>と </a:t>
            </a:r>
            <a:r>
              <a:rPr lang="en-US" altLang="ja-JP" baseline="-25000" dirty="0">
                <a:cs typeface="CMU Serif" panose="02000603000000000000" pitchFamily="2" charset="0"/>
              </a:rPr>
              <a:t>2 </a:t>
            </a:r>
            <a:r>
              <a:rPr lang="ja-JP" altLang="en-US" baseline="-25000" dirty="0">
                <a:cs typeface="CMU Serif" panose="02000603000000000000" pitchFamily="2" charset="0"/>
              </a:rPr>
              <a:t>は等しくない．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33EA268E-59DF-D126-CF55-8576615CFB12}"/>
              </a:ext>
            </a:extLst>
          </p:cNvPr>
          <p:cNvGrpSpPr/>
          <p:nvPr/>
        </p:nvGrpSpPr>
        <p:grpSpPr>
          <a:xfrm>
            <a:off x="3732362" y="2391034"/>
            <a:ext cx="2363638" cy="937404"/>
            <a:chOff x="3732362" y="2391034"/>
            <a:chExt cx="2363638" cy="937404"/>
          </a:xfrm>
        </p:grpSpPr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212D98F1-34E2-6F98-543D-9B10F4CFA61A}"/>
                </a:ext>
              </a:extLst>
            </p:cNvPr>
            <p:cNvCxnSpPr>
              <a:cxnSpLocks/>
              <a:stCxn id="2" idx="2"/>
              <a:endCxn id="12" idx="0"/>
            </p:cNvCxnSpPr>
            <p:nvPr/>
          </p:nvCxnSpPr>
          <p:spPr>
            <a:xfrm flipH="1">
              <a:off x="3732362" y="2391034"/>
              <a:ext cx="2363638" cy="93740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0F9A1B8-5C88-5C9A-9A79-66D9AE244065}"/>
                </a:ext>
              </a:extLst>
            </p:cNvPr>
            <p:cNvSpPr txBox="1"/>
            <p:nvPr/>
          </p:nvSpPr>
          <p:spPr>
            <a:xfrm>
              <a:off x="4764381" y="2598126"/>
              <a:ext cx="54373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 dirty="0"/>
                <a:t>偽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4520A65A-BADA-EFB4-B108-24A102E699C4}"/>
              </a:ext>
            </a:extLst>
          </p:cNvPr>
          <p:cNvGrpSpPr/>
          <p:nvPr/>
        </p:nvGrpSpPr>
        <p:grpSpPr>
          <a:xfrm>
            <a:off x="6096000" y="2391034"/>
            <a:ext cx="1879570" cy="937404"/>
            <a:chOff x="6096000" y="2391034"/>
            <a:chExt cx="1879570" cy="937404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10A5D3AF-18A9-E77C-0092-7A5EB2837F6A}"/>
                </a:ext>
              </a:extLst>
            </p:cNvPr>
            <p:cNvCxnSpPr>
              <a:cxnSpLocks/>
              <a:stCxn id="2" idx="2"/>
              <a:endCxn id="15" idx="0"/>
            </p:cNvCxnSpPr>
            <p:nvPr/>
          </p:nvCxnSpPr>
          <p:spPr>
            <a:xfrm>
              <a:off x="6096000" y="2391034"/>
              <a:ext cx="1879570" cy="93740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D7ECB3EF-CACE-E71B-BC99-43A27E1DFD26}"/>
                </a:ext>
              </a:extLst>
            </p:cNvPr>
            <p:cNvSpPr txBox="1"/>
            <p:nvPr/>
          </p:nvSpPr>
          <p:spPr>
            <a:xfrm>
              <a:off x="6763915" y="2598126"/>
              <a:ext cx="54373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 dirty="0"/>
                <a:t>真</a:t>
              </a:r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8DACF3-6787-F1A3-845D-CE067AA0F88D}"/>
              </a:ext>
            </a:extLst>
          </p:cNvPr>
          <p:cNvSpPr/>
          <p:nvPr/>
        </p:nvSpPr>
        <p:spPr>
          <a:xfrm>
            <a:off x="4520241" y="1581506"/>
            <a:ext cx="3151517" cy="809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/>
              <a:t>1 = 2</a:t>
            </a:r>
            <a:endParaRPr kumimoji="1" lang="ja-JP" altLang="en-US" sz="40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8106A42-CDAF-3722-AB53-658037CBA85C}"/>
              </a:ext>
            </a:extLst>
          </p:cNvPr>
          <p:cNvSpPr/>
          <p:nvPr/>
        </p:nvSpPr>
        <p:spPr>
          <a:xfrm>
            <a:off x="983687" y="3328438"/>
            <a:ext cx="10224623" cy="14717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chemeClr val="accent6"/>
                </a:solidFill>
              </a:rPr>
              <a:t>論理的な矛盾</a:t>
            </a:r>
            <a:r>
              <a:rPr kumimoji="1" lang="ja-JP" altLang="en-US" sz="3600" dirty="0"/>
              <a:t>が生じている！</a:t>
            </a:r>
          </a:p>
        </p:txBody>
      </p:sp>
    </p:spTree>
    <p:extLst>
      <p:ext uri="{BB962C8B-B14F-4D97-AF65-F5344CB8AC3E}">
        <p14:creationId xmlns:p14="http://schemas.microsoft.com/office/powerpoint/2010/main" val="25453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9" grpId="0" uiExpand="1" build="p"/>
      <p:bldP spid="21" grpId="0" uiExpand="1"/>
      <p:bldP spid="2" grpId="0" animBg="1"/>
      <p:bldP spid="27" grpId="0" animBg="1"/>
    </p:bldLst>
  </p:timing>
</p:sld>
</file>

<file path=ppt/theme/theme1.xml><?xml version="1.0" encoding="utf-8"?>
<a:theme xmlns:a="http://schemas.openxmlformats.org/drawingml/2006/main" name="v2_Templat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36EC0"/>
      </a:accent6>
      <a:hlink>
        <a:srgbClr val="0563C1"/>
      </a:hlink>
      <a:folHlink>
        <a:srgbClr val="954F72"/>
      </a:folHlink>
    </a:clrScheme>
    <a:fontScheme name="V1">
      <a:majorFont>
        <a:latin typeface="CMU Serif"/>
        <a:ea typeface="Noto Sans JP Medium"/>
        <a:cs typeface=""/>
      </a:majorFont>
      <a:minorFont>
        <a:latin typeface="Pretendard ExtraBold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2_Template" id="{E7783FFD-4434-402E-B6CD-8C5ECE0DEDC1}" vid="{AE5B49FE-91B6-45E4-B59D-FE511226859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Props1.xml><?xml version="1.0" encoding="utf-8"?>
<ds:datastoreItem xmlns:ds="http://schemas.openxmlformats.org/officeDocument/2006/customXml" ds:itemID="{E6E82F6B-97B3-4EE3-A797-A2AB1E1AF34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52ab04-0ae3-4d00-bda6-702fdc5fffab"/>
    <ds:schemaRef ds:uri="a9997899-e6ea-448c-9370-6665c1cb1ca9"/>
  </ds:schemaRefs>
</ds:datastoreItem>
</file>

<file path=customXml/itemProps2.xml><?xml version="1.0" encoding="utf-8"?>
<ds:datastoreItem xmlns:ds="http://schemas.openxmlformats.org/officeDocument/2006/customXml" ds:itemID="{551BC847-82FD-4133-AC89-B7EEEDBFF6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8103BD-56D6-4207-B87E-FF19B0F8B945}">
  <ds:schemaRefs>
    <ds:schemaRef ds:uri="http://schemas.microsoft.com/office/2006/metadata/properties"/>
    <ds:schemaRef ds:uri="http://www.w3.org/2000/xmlns/"/>
    <ds:schemaRef ds:uri="4952ab04-0ae3-4d00-bda6-702fdc5fffab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v2_Template</Template>
  <TotalTime>584</TotalTime>
  <Words>1240</Words>
  <Application>Microsoft Office PowerPoint</Application>
  <PresentationFormat>ワイド画面</PresentationFormat>
  <Paragraphs>247</Paragraphs>
  <Slides>31</Slides>
  <Notes>0</Notes>
  <HiddenSlides>1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2" baseType="lpstr">
      <vt:lpstr>v2_Template</vt:lpstr>
      <vt:lpstr>PowerPoint プレゼンテーション</vt:lpstr>
      <vt:lpstr>数学史 ～微分積分の歴史～</vt:lpstr>
      <vt:lpstr>アルキメデス （B.C. 287-212年）</vt:lpstr>
      <vt:lpstr>てこの原理</vt:lpstr>
      <vt:lpstr>円の面積</vt:lpstr>
      <vt:lpstr>曲線に囲まれた面積</vt:lpstr>
      <vt:lpstr>ある規則とは？</vt:lpstr>
      <vt:lpstr>ある規則とは？</vt:lpstr>
      <vt:lpstr>ある規則とは？</vt:lpstr>
      <vt:lpstr>ある規則とは？</vt:lpstr>
      <vt:lpstr>ある規則とは？</vt:lpstr>
      <vt:lpstr>ある規則とは？</vt:lpstr>
      <vt:lpstr>二次曲線函数</vt:lpstr>
      <vt:lpstr>王様の命令</vt:lpstr>
      <vt:lpstr>アルキメデスの原理</vt:lpstr>
      <vt:lpstr>アルキメデスの原理</vt:lpstr>
      <vt:lpstr>ツェノン （B.C. 490-430年）</vt:lpstr>
      <vt:lpstr>パラドクス</vt:lpstr>
      <vt:lpstr>古代ギリシャ人の考え方</vt:lpstr>
      <vt:lpstr>PowerPoint プレゼンテーション</vt:lpstr>
      <vt:lpstr>ルネ・デカルト （A.Ｄ. 1596-1650年）</vt:lpstr>
      <vt:lpstr>PowerPoint プレゼンテーション</vt:lpstr>
      <vt:lpstr>デカルトが発見した法則</vt:lpstr>
      <vt:lpstr>アイザック・ニュートン （A.Ｄ. 1642-1727年）</vt:lpstr>
      <vt:lpstr>リンゴが木から落ちる</vt:lpstr>
      <vt:lpstr>まだ分からないこと</vt:lpstr>
      <vt:lpstr>曲線に囲まれた面積（Newton ver.）</vt:lpstr>
      <vt:lpstr>曲線に囲まれた面積（Newton ver.）</vt:lpstr>
      <vt:lpstr>歴史的な背景</vt:lpstr>
      <vt:lpstr>無限によるパラドクスとは？</vt:lpstr>
      <vt:lpstr>1 = 2 の証明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テラヤユウキ</cp:lastModifiedBy>
  <cp:revision>4</cp:revision>
  <dcterms:created xsi:type="dcterms:W3CDTF">2024-12-23T03:52:23Z</dcterms:created>
  <dcterms:modified xsi:type="dcterms:W3CDTF">2025-07-15T13:14:50Z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