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09" r:id="rId5"/>
    <p:sldId id="469" r:id="rId6"/>
    <p:sldId id="330" r:id="rId7"/>
    <p:sldId id="471" r:id="rId8"/>
    <p:sldId id="472" r:id="rId9"/>
    <p:sldId id="507" r:id="rId10"/>
    <p:sldId id="331" r:id="rId11"/>
    <p:sldId id="508" r:id="rId12"/>
    <p:sldId id="393" r:id="rId13"/>
    <p:sldId id="262" r:id="rId14"/>
    <p:sldId id="371" r:id="rId15"/>
    <p:sldId id="473" r:id="rId16"/>
    <p:sldId id="500" r:id="rId17"/>
    <p:sldId id="372" r:id="rId18"/>
    <p:sldId id="474" r:id="rId19"/>
    <p:sldId id="499" r:id="rId20"/>
    <p:sldId id="373" r:id="rId21"/>
    <p:sldId id="475" r:id="rId22"/>
    <p:sldId id="498" r:id="rId23"/>
    <p:sldId id="374" r:id="rId24"/>
    <p:sldId id="476" r:id="rId25"/>
    <p:sldId id="497" r:id="rId26"/>
    <p:sldId id="375" r:id="rId27"/>
    <p:sldId id="477" r:id="rId28"/>
    <p:sldId id="496" r:id="rId29"/>
    <p:sldId id="272" r:id="rId30"/>
    <p:sldId id="334" r:id="rId31"/>
  </p:sldIdLst>
  <p:sldSz cx="9906000" cy="6858000" type="A4"/>
  <p:notesSz cx="7104063" cy="10234613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4667" autoAdjust="0"/>
  </p:normalViewPr>
  <p:slideViewPr>
    <p:cSldViewPr snapToGrid="0">
      <p:cViewPr varScale="1">
        <p:scale>
          <a:sx n="107" d="100"/>
          <a:sy n="107" d="100"/>
        </p:scale>
        <p:origin x="1272" y="102"/>
      </p:cViewPr>
      <p:guideLst>
        <p:guide orient="horz" pos="1440"/>
        <p:guide pos="15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37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91D68A4-3080-DB10-A46F-97BFD0CC26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2F2363-DFEA-7A2B-2CE6-E1AA8701A9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CBB43-E31D-44A0-A53C-703516A088F9}" type="datetimeFigureOut">
              <a:rPr kumimoji="1" lang="ja-JP" altLang="en-US" smtClean="0"/>
              <a:t>2025/8/9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B16FE3-5221-238E-D460-2DAC269E49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B5AC95-9C93-152E-BE48-A43D7E86BE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34-BF4B-405D-8914-167741DAB7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8310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5249E7-E526-41BC-878D-DBB27AF3BCB6}" type="datetimeFigureOut">
              <a:rPr kumimoji="1" lang="ja-JP" altLang="en-US" smtClean="0"/>
              <a:t>2025/8/9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E39443-4C2A-4AA4-9DFB-12BD22F5BB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7324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262" y="948258"/>
            <a:ext cx="5241925" cy="21547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5" y="4629151"/>
            <a:ext cx="536575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8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54026" y="4008967"/>
            <a:ext cx="9458854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5588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5743" y="677338"/>
            <a:ext cx="2483379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7415741" y="12192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1" y="2647876"/>
            <a:ext cx="111475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774691" y="5193467"/>
            <a:ext cx="91313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4691" y="4064718"/>
            <a:ext cx="913131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774691" y="5195583"/>
            <a:ext cx="9131310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8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 dirty="0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94231" y="864129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7" y="873076"/>
            <a:ext cx="938207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0" y="864129"/>
            <a:ext cx="2238723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0" dirty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7" y="2954992"/>
            <a:ext cx="938206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6067" y="5045379"/>
            <a:ext cx="938205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238724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906000" cy="118533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231" y="2952750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231" y="5041371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195131"/>
            <a:ext cx="9906000" cy="533622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385887"/>
            <a:ext cx="9906000" cy="2145471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 userDrawn="1"/>
        </p:nvCxnSpPr>
        <p:spPr>
          <a:xfrm>
            <a:off x="529698" y="4385887"/>
            <a:ext cx="88466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53000" y="1195131"/>
            <a:ext cx="4953000" cy="5661084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843505" cy="719689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732177"/>
            <a:ext cx="9906000" cy="424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80147" y="2430882"/>
            <a:ext cx="3745706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66" r:id="rId4"/>
    <p:sldLayoutId id="2147483672" r:id="rId5"/>
    <p:sldLayoutId id="2147483673" r:id="rId6"/>
    <p:sldLayoutId id="2147483668" r:id="rId7"/>
    <p:sldLayoutId id="2147483667" r:id="rId8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&#12450;&#12452;&#12470;&#12483;&#12463;&#12539;&#12491;&#12517;&#12540;&#12488;&#12531;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&#12450;&#12452;&#12470;&#12483;&#12463;&#12539;&#12491;&#12517;&#12540;&#12488;&#12531;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D4B088ED-C7C4-EECA-3056-42424C4B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7882"/>
            <a:ext cx="5104180" cy="1227200"/>
          </a:xfrm>
        </p:spPr>
        <p:txBody>
          <a:bodyPr anchor="ctr"/>
          <a:lstStyle/>
          <a:p>
            <a:pPr algn="ctr"/>
            <a:r>
              <a:rPr lang="ja-JP" altLang="en-US" dirty="0"/>
              <a:t>アイザック・ニュートン</a:t>
            </a:r>
            <a:br>
              <a:rPr kumimoji="1" lang="en-US" altLang="ja-JP" dirty="0"/>
            </a:br>
            <a:r>
              <a:rPr lang="ja-JP" altLang="en-US" sz="2800" dirty="0"/>
              <a:t>（</a:t>
            </a:r>
            <a:r>
              <a:rPr lang="en-US" altLang="ja-JP" sz="2800" dirty="0"/>
              <a:t>A.</a:t>
            </a:r>
            <a:r>
              <a:rPr lang="ja-JP" altLang="en-US" sz="2800" dirty="0"/>
              <a:t>Ｄ</a:t>
            </a:r>
            <a:r>
              <a:rPr lang="en-US" altLang="ja-JP" sz="2800" dirty="0"/>
              <a:t>. 1642-1727</a:t>
            </a:r>
            <a:r>
              <a:rPr lang="ja-JP" altLang="en-US" sz="2800" dirty="0"/>
              <a:t>年）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8EB7F94-9E4C-B9FF-8A6E-5B33C4382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8"/>
          <a:stretch/>
        </p:blipFill>
        <p:spPr>
          <a:xfrm>
            <a:off x="5126317" y="604571"/>
            <a:ext cx="4199509" cy="5636817"/>
          </a:xfrm>
          <a:prstGeom prst="rect">
            <a:avLst/>
          </a:prstGeom>
        </p:spPr>
      </p:pic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A0B5EA80-CE50-E44C-AA89-1FF9AE98B64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0" y="6490233"/>
            <a:ext cx="9906000" cy="365986"/>
          </a:xfrm>
          <a:prstGeom prst="rect">
            <a:avLst/>
          </a:prstGeom>
        </p:spPr>
        <p:txBody>
          <a:bodyPr anchor="b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aseline="30000" dirty="0">
                <a:latin typeface="+mj-lt"/>
              </a:rPr>
              <a:t>[9] </a:t>
            </a:r>
            <a:r>
              <a:rPr lang="en-US" altLang="ja-JP" sz="1400" dirty="0">
                <a:latin typeface="+mj-lt"/>
                <a:hlinkClick r:id="rId3"/>
              </a:rPr>
              <a:t>https://ja.wikipedia.org/wiki/</a:t>
            </a:r>
            <a:r>
              <a:rPr lang="ja-JP" altLang="en-US" sz="1400" dirty="0">
                <a:latin typeface="+mj-lt"/>
                <a:hlinkClick r:id="rId3"/>
              </a:rPr>
              <a:t>アイザック・ニュートン</a:t>
            </a:r>
            <a:endParaRPr lang="en-US" altLang="ja-JP" sz="1400" dirty="0">
              <a:latin typeface="+mj-lt"/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E44770B9-0D10-3773-5A5C-831262AE184F}"/>
              </a:ext>
            </a:extLst>
          </p:cNvPr>
          <p:cNvSpPr/>
          <p:nvPr/>
        </p:nvSpPr>
        <p:spPr>
          <a:xfrm>
            <a:off x="488524" y="3568507"/>
            <a:ext cx="4127131" cy="2111611"/>
          </a:xfrm>
          <a:prstGeom prst="wedgeRoundRectCallout">
            <a:avLst>
              <a:gd name="adj1" fmla="val 100703"/>
              <a:gd name="adj2" fmla="val -6277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地球がリンゴを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accent6"/>
                </a:solidFill>
              </a:rPr>
              <a:t>引っ張っている</a:t>
            </a:r>
            <a:r>
              <a:rPr kumimoji="1" lang="ja-JP" altLang="en-US" sz="3200" dirty="0">
                <a:solidFill>
                  <a:schemeClr val="tx1"/>
                </a:solidFill>
              </a:rPr>
              <a:t>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（万有引力の法則）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F9CBBF40-4D87-0879-B3B7-DB43513DB85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971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D0B6B-4A3A-E581-1530-941CCE15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098DB65-495D-BF86-940D-A3086EAA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7882"/>
            <a:ext cx="5104180" cy="1227200"/>
          </a:xfrm>
        </p:spPr>
        <p:txBody>
          <a:bodyPr anchor="ctr"/>
          <a:lstStyle/>
          <a:p>
            <a:pPr algn="ctr"/>
            <a:r>
              <a:rPr lang="ja-JP" altLang="en-US" dirty="0"/>
              <a:t>アイザック・ニュートン</a:t>
            </a:r>
            <a:br>
              <a:rPr kumimoji="1" lang="en-US" altLang="ja-JP" dirty="0"/>
            </a:br>
            <a:r>
              <a:rPr lang="ja-JP" altLang="en-US" sz="2800" dirty="0"/>
              <a:t>（</a:t>
            </a:r>
            <a:r>
              <a:rPr lang="en-US" altLang="ja-JP" sz="2800" dirty="0"/>
              <a:t>A.</a:t>
            </a:r>
            <a:r>
              <a:rPr lang="ja-JP" altLang="en-US" sz="2800" dirty="0"/>
              <a:t>Ｄ</a:t>
            </a:r>
            <a:r>
              <a:rPr lang="en-US" altLang="ja-JP" sz="2800" dirty="0"/>
              <a:t>. 1642-1727</a:t>
            </a:r>
            <a:r>
              <a:rPr lang="ja-JP" altLang="en-US" sz="2800" dirty="0"/>
              <a:t>年）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FF7BD5A-723E-54B4-9CA9-96F57F55F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8"/>
          <a:stretch/>
        </p:blipFill>
        <p:spPr>
          <a:xfrm>
            <a:off x="5126317" y="604571"/>
            <a:ext cx="4199509" cy="5636817"/>
          </a:xfrm>
          <a:prstGeom prst="rect">
            <a:avLst/>
          </a:prstGeom>
        </p:spPr>
      </p:pic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D13F80CD-7F29-4D45-E000-107A0DE3D8E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0" y="6490233"/>
            <a:ext cx="9906000" cy="365986"/>
          </a:xfrm>
          <a:prstGeom prst="rect">
            <a:avLst/>
          </a:prstGeom>
        </p:spPr>
        <p:txBody>
          <a:bodyPr anchor="b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aseline="30000" dirty="0">
                <a:latin typeface="+mj-lt"/>
              </a:rPr>
              <a:t>[9] </a:t>
            </a:r>
            <a:r>
              <a:rPr lang="en-US" altLang="ja-JP" sz="1400" dirty="0">
                <a:latin typeface="+mj-lt"/>
                <a:hlinkClick r:id="rId3"/>
              </a:rPr>
              <a:t>https://ja.wikipedia.org/wiki/</a:t>
            </a:r>
            <a:r>
              <a:rPr lang="ja-JP" altLang="en-US" sz="1400" dirty="0">
                <a:latin typeface="+mj-lt"/>
                <a:hlinkClick r:id="rId3"/>
              </a:rPr>
              <a:t>アイザック・ニュートン</a:t>
            </a:r>
            <a:endParaRPr lang="en-US" altLang="ja-JP" sz="1400" dirty="0">
              <a:latin typeface="+mj-lt"/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A63AAD30-D812-68AC-C18C-C5A2C2252DEF}"/>
              </a:ext>
            </a:extLst>
          </p:cNvPr>
          <p:cNvSpPr/>
          <p:nvPr/>
        </p:nvSpPr>
        <p:spPr>
          <a:xfrm>
            <a:off x="488524" y="3568507"/>
            <a:ext cx="4127131" cy="2111611"/>
          </a:xfrm>
          <a:prstGeom prst="wedgeRoundRectCallout">
            <a:avLst>
              <a:gd name="adj1" fmla="val 100703"/>
              <a:gd name="adj2" fmla="val -6277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地球がリンゴを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accent6"/>
                </a:solidFill>
              </a:rPr>
              <a:t>引っ張っている</a:t>
            </a:r>
            <a:r>
              <a:rPr kumimoji="1" lang="ja-JP" altLang="en-US" sz="3200" dirty="0">
                <a:solidFill>
                  <a:schemeClr val="tx1"/>
                </a:solidFill>
              </a:rPr>
              <a:t>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（万有引力の法則）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10276200-B04D-34D9-CC3C-413BD6E9DC1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8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813FFAFD-23C2-928C-C108-C8B1E8664B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46940" y="5327435"/>
            <a:ext cx="4031835" cy="392415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2000" dirty="0"/>
              <a:t>地球がリンゴを引っ張っている．</a:t>
            </a:r>
          </a:p>
        </p:txBody>
      </p:sp>
      <p:sp>
        <p:nvSpPr>
          <p:cNvPr id="13" name="思考の吹き出し: 雲形 12">
            <a:extLst>
              <a:ext uri="{FF2B5EF4-FFF2-40B4-BE49-F238E27FC236}">
                <a16:creationId xmlns:a16="http://schemas.microsoft.com/office/drawing/2014/main" id="{3A9599B2-3084-1745-47A4-807416F184A0}"/>
              </a:ext>
            </a:extLst>
          </p:cNvPr>
          <p:cNvSpPr/>
          <p:nvPr/>
        </p:nvSpPr>
        <p:spPr>
          <a:xfrm>
            <a:off x="5594024" y="2036861"/>
            <a:ext cx="4031835" cy="2922480"/>
          </a:xfrm>
          <a:prstGeom prst="cloudCallout">
            <a:avLst>
              <a:gd name="adj1" fmla="val -67267"/>
              <a:gd name="adj2" fmla="val 2624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975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68D224B-EE67-D410-D704-D98CD537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リンゴが木から落ちる</a:t>
            </a:r>
          </a:p>
        </p:txBody>
      </p:sp>
      <p:pic>
        <p:nvPicPr>
          <p:cNvPr id="1030" name="Picture 6" descr="地球のイラスト（惑星）">
            <a:extLst>
              <a:ext uri="{FF2B5EF4-FFF2-40B4-BE49-F238E27FC236}">
                <a16:creationId xmlns:a16="http://schemas.microsoft.com/office/drawing/2014/main" id="{74627BCD-5559-152B-677B-98A14D47E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067" y="3688865"/>
            <a:ext cx="1089361" cy="10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重力を発見したニュートンのイラスト">
            <a:extLst>
              <a:ext uri="{FF2B5EF4-FFF2-40B4-BE49-F238E27FC236}">
                <a16:creationId xmlns:a16="http://schemas.microsoft.com/office/drawing/2014/main" id="{E9B7A024-C78B-E1D1-2E38-4DA259A2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027" y="4105730"/>
            <a:ext cx="1557975" cy="166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いろいろな木のイラスト「木の実」">
            <a:extLst>
              <a:ext uri="{FF2B5EF4-FFF2-40B4-BE49-F238E27FC236}">
                <a16:creationId xmlns:a16="http://schemas.microsoft.com/office/drawing/2014/main" id="{9A471782-EF14-F8EA-3FAF-85D8F8CFD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4" y="1989988"/>
            <a:ext cx="3313111" cy="407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りんごのイラスト（フルーツ）">
            <a:extLst>
              <a:ext uri="{FF2B5EF4-FFF2-40B4-BE49-F238E27FC236}">
                <a16:creationId xmlns:a16="http://schemas.microsoft.com/office/drawing/2014/main" id="{3EE11AB9-B0B7-9D87-0F19-BA407BC7A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29" y="3361356"/>
            <a:ext cx="443308" cy="46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8298244-0A27-6719-EFD8-88A3832A21DB}"/>
              </a:ext>
            </a:extLst>
          </p:cNvPr>
          <p:cNvGrpSpPr/>
          <p:nvPr/>
        </p:nvGrpSpPr>
        <p:grpSpPr>
          <a:xfrm>
            <a:off x="4359097" y="3197129"/>
            <a:ext cx="691056" cy="1055519"/>
            <a:chOff x="5021061" y="2315584"/>
            <a:chExt cx="850531" cy="12991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ECAC32B4-3F8F-FBD5-9BA7-4FC5BBD85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842035">
              <a:off x="5334386" y="2437184"/>
              <a:ext cx="537206" cy="11775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49C57881-9281-D9FA-EA45-379B44047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506211">
              <a:off x="5021061" y="2315584"/>
              <a:ext cx="537207" cy="1177500"/>
            </a:xfrm>
            <a:prstGeom prst="rect">
              <a:avLst/>
            </a:prstGeom>
          </p:spPr>
        </p:pic>
      </p:grpSp>
      <p:pic>
        <p:nvPicPr>
          <p:cNvPr id="9" name="Picture 4" descr="りんごのイラスト（フルーツ）">
            <a:extLst>
              <a:ext uri="{FF2B5EF4-FFF2-40B4-BE49-F238E27FC236}">
                <a16:creationId xmlns:a16="http://schemas.microsoft.com/office/drawing/2014/main" id="{DC77B04D-66F8-39C5-FB21-243EBFA89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420" y="2391898"/>
            <a:ext cx="388602" cy="40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83B0BD2-C33A-8C59-CBA8-015F634204E6}"/>
              </a:ext>
            </a:extLst>
          </p:cNvPr>
          <p:cNvCxnSpPr>
            <a:cxnSpLocks/>
          </p:cNvCxnSpPr>
          <p:nvPr/>
        </p:nvCxnSpPr>
        <p:spPr>
          <a:xfrm>
            <a:off x="7705719" y="2603504"/>
            <a:ext cx="0" cy="11076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B5B81B49-AF14-930C-9C1C-12A45F0AFCF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22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-4.375E-6 0.30278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-7.40741E-7 L -4.61538E-6 0.13611 " pathEditMode="relative" rAng="0" ptsTypes="AA">
                                      <p:cBhvr>
                                        <p:cTn id="40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0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D4C7DE-D8BC-0D39-ED93-98F4382E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9F51D06-A255-58BC-4145-D5F433C8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リンゴが木から落ちる</a:t>
            </a:r>
          </a:p>
        </p:txBody>
      </p:sp>
      <p:sp>
        <p:nvSpPr>
          <p:cNvPr id="5" name="思考の吹き出し: 雲形 4">
            <a:extLst>
              <a:ext uri="{FF2B5EF4-FFF2-40B4-BE49-F238E27FC236}">
                <a16:creationId xmlns:a16="http://schemas.microsoft.com/office/drawing/2014/main" id="{8BA68710-B486-5457-CD25-9449687BB1F7}"/>
              </a:ext>
            </a:extLst>
          </p:cNvPr>
          <p:cNvSpPr/>
          <p:nvPr/>
        </p:nvSpPr>
        <p:spPr>
          <a:xfrm>
            <a:off x="5594024" y="2036861"/>
            <a:ext cx="4031835" cy="2922480"/>
          </a:xfrm>
          <a:prstGeom prst="cloudCallout">
            <a:avLst>
              <a:gd name="adj1" fmla="val -67267"/>
              <a:gd name="adj2" fmla="val 2624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975"/>
          </a:p>
        </p:txBody>
      </p:sp>
      <p:pic>
        <p:nvPicPr>
          <p:cNvPr id="10" name="Picture 6" descr="地球のイラスト（惑星）">
            <a:extLst>
              <a:ext uri="{FF2B5EF4-FFF2-40B4-BE49-F238E27FC236}">
                <a16:creationId xmlns:a16="http://schemas.microsoft.com/office/drawing/2014/main" id="{67639CAC-52FA-4AAE-15BA-2A3369A9C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067" y="3688865"/>
            <a:ext cx="1089361" cy="10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重力を発見したニュートンのイラスト">
            <a:extLst>
              <a:ext uri="{FF2B5EF4-FFF2-40B4-BE49-F238E27FC236}">
                <a16:creationId xmlns:a16="http://schemas.microsoft.com/office/drawing/2014/main" id="{6C8F7159-DB5C-855C-92E3-F695FF17A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027" y="4105730"/>
            <a:ext cx="1557975" cy="166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いろいろな木のイラスト「木の実」">
            <a:extLst>
              <a:ext uri="{FF2B5EF4-FFF2-40B4-BE49-F238E27FC236}">
                <a16:creationId xmlns:a16="http://schemas.microsoft.com/office/drawing/2014/main" id="{1004C778-D967-C7D1-4305-BDBB1BA84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4" y="1989988"/>
            <a:ext cx="3313111" cy="407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りんごのイラスト（フルーツ）">
            <a:extLst>
              <a:ext uri="{FF2B5EF4-FFF2-40B4-BE49-F238E27FC236}">
                <a16:creationId xmlns:a16="http://schemas.microsoft.com/office/drawing/2014/main" id="{350728B8-0990-4915-8E46-16FA9867B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29" y="3361356"/>
            <a:ext cx="443308" cy="46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りんごのイラスト（フルーツ）">
            <a:extLst>
              <a:ext uri="{FF2B5EF4-FFF2-40B4-BE49-F238E27FC236}">
                <a16:creationId xmlns:a16="http://schemas.microsoft.com/office/drawing/2014/main" id="{C149BBCA-9037-F32A-5465-204D4D8C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420" y="2391898"/>
            <a:ext cx="388602" cy="40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AC97F62E-07D6-4377-E5C5-37685149081D}"/>
              </a:ext>
            </a:extLst>
          </p:cNvPr>
          <p:cNvCxnSpPr/>
          <p:nvPr/>
        </p:nvCxnSpPr>
        <p:spPr>
          <a:xfrm>
            <a:off x="7705719" y="2603504"/>
            <a:ext cx="0" cy="11076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B78B78E5-C241-F926-FE13-51D21C1ACBB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431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7D5CFC-7578-318A-0AB6-D26914E1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7408B48-2AD6-535C-E366-50B58ACE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リンゴが木から落ちる</a:t>
            </a:r>
          </a:p>
        </p:txBody>
      </p:sp>
      <p:sp>
        <p:nvSpPr>
          <p:cNvPr id="2" name="テキスト プレースホルダー 16">
            <a:extLst>
              <a:ext uri="{FF2B5EF4-FFF2-40B4-BE49-F238E27FC236}">
                <a16:creationId xmlns:a16="http://schemas.microsoft.com/office/drawing/2014/main" id="{1A21F27D-DCB4-5FB3-1EBA-124402D5BA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46940" y="5327435"/>
            <a:ext cx="4031835" cy="392415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2000" dirty="0"/>
              <a:t>地球がリンゴを引っ張っている．</a:t>
            </a:r>
          </a:p>
        </p:txBody>
      </p:sp>
      <p:sp>
        <p:nvSpPr>
          <p:cNvPr id="3" name="思考の吹き出し: 雲形 2">
            <a:extLst>
              <a:ext uri="{FF2B5EF4-FFF2-40B4-BE49-F238E27FC236}">
                <a16:creationId xmlns:a16="http://schemas.microsoft.com/office/drawing/2014/main" id="{BB7ADE9D-44F5-412B-5385-2DF8D1D43AFE}"/>
              </a:ext>
            </a:extLst>
          </p:cNvPr>
          <p:cNvSpPr/>
          <p:nvPr/>
        </p:nvSpPr>
        <p:spPr>
          <a:xfrm>
            <a:off x="5594024" y="2036861"/>
            <a:ext cx="4031835" cy="2922480"/>
          </a:xfrm>
          <a:prstGeom prst="cloudCallout">
            <a:avLst>
              <a:gd name="adj1" fmla="val -67267"/>
              <a:gd name="adj2" fmla="val 2624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975"/>
          </a:p>
        </p:txBody>
      </p:sp>
      <p:pic>
        <p:nvPicPr>
          <p:cNvPr id="5" name="Picture 6" descr="地球のイラスト（惑星）">
            <a:extLst>
              <a:ext uri="{FF2B5EF4-FFF2-40B4-BE49-F238E27FC236}">
                <a16:creationId xmlns:a16="http://schemas.microsoft.com/office/drawing/2014/main" id="{8790F6CF-E537-967F-2D88-C8C71625E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067" y="3688865"/>
            <a:ext cx="1089361" cy="10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重力を発見したニュートンのイラスト">
            <a:extLst>
              <a:ext uri="{FF2B5EF4-FFF2-40B4-BE49-F238E27FC236}">
                <a16:creationId xmlns:a16="http://schemas.microsoft.com/office/drawing/2014/main" id="{6C644FC4-DF0F-E1AC-CB31-D402CC7A9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027" y="4105730"/>
            <a:ext cx="1557975" cy="166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いろいろな木のイラスト「木の実」">
            <a:extLst>
              <a:ext uri="{FF2B5EF4-FFF2-40B4-BE49-F238E27FC236}">
                <a16:creationId xmlns:a16="http://schemas.microsoft.com/office/drawing/2014/main" id="{9B3C0F13-D16F-1BE7-5A7B-84E741C8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4" y="1989988"/>
            <a:ext cx="3313111" cy="407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りんごのイラスト（フルーツ）">
            <a:extLst>
              <a:ext uri="{FF2B5EF4-FFF2-40B4-BE49-F238E27FC236}">
                <a16:creationId xmlns:a16="http://schemas.microsoft.com/office/drawing/2014/main" id="{9575ECA0-FC3D-E152-79C8-CFBA6E7D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285" y="3344343"/>
            <a:ext cx="388602" cy="40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りんごのイラスト（フルーツ）">
            <a:extLst>
              <a:ext uri="{FF2B5EF4-FFF2-40B4-BE49-F238E27FC236}">
                <a16:creationId xmlns:a16="http://schemas.microsoft.com/office/drawing/2014/main" id="{313CAD82-F5A9-1129-04FE-A96B1A2F8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29" y="5443533"/>
            <a:ext cx="443308" cy="46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613CE0A-0B37-B266-10EF-6C89CA0494D0}"/>
              </a:ext>
            </a:extLst>
          </p:cNvPr>
          <p:cNvGrpSpPr/>
          <p:nvPr/>
        </p:nvGrpSpPr>
        <p:grpSpPr>
          <a:xfrm>
            <a:off x="4359097" y="3197129"/>
            <a:ext cx="691056" cy="1055519"/>
            <a:chOff x="5021061" y="2315584"/>
            <a:chExt cx="850531" cy="1299100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EB730D59-1508-65D0-9BAB-52C58517C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842035">
              <a:off x="5334386" y="2437184"/>
              <a:ext cx="537206" cy="1177500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2BEFE57F-25FD-0312-AA00-B58F013CF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506211">
              <a:off x="5021061" y="2315584"/>
              <a:ext cx="537207" cy="1177500"/>
            </a:xfrm>
            <a:prstGeom prst="rect">
              <a:avLst/>
            </a:prstGeom>
          </p:spPr>
        </p:pic>
      </p:grpSp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51A25701-D463-B194-DA3F-CDCDD33813C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1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A15BBC-D253-7F80-AE69-E14B3A07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ABEEED2-6AAB-64C0-1DD6-C7B85C73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リンゴが木から落ちる</a:t>
            </a:r>
          </a:p>
        </p:txBody>
      </p:sp>
      <p:sp>
        <p:nvSpPr>
          <p:cNvPr id="2" name="テキスト プレースホルダー 16">
            <a:extLst>
              <a:ext uri="{FF2B5EF4-FFF2-40B4-BE49-F238E27FC236}">
                <a16:creationId xmlns:a16="http://schemas.microsoft.com/office/drawing/2014/main" id="{49EE2D0B-4DDD-389B-C073-CD785C331E4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46940" y="5327435"/>
            <a:ext cx="4031835" cy="392415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2000" dirty="0"/>
              <a:t>地球がリンゴを引っ張っている．</a:t>
            </a:r>
          </a:p>
        </p:txBody>
      </p:sp>
      <p:sp>
        <p:nvSpPr>
          <p:cNvPr id="3" name="思考の吹き出し: 雲形 2">
            <a:extLst>
              <a:ext uri="{FF2B5EF4-FFF2-40B4-BE49-F238E27FC236}">
                <a16:creationId xmlns:a16="http://schemas.microsoft.com/office/drawing/2014/main" id="{6609D6CA-B7EB-6675-27AB-E2D8975BF1DB}"/>
              </a:ext>
            </a:extLst>
          </p:cNvPr>
          <p:cNvSpPr/>
          <p:nvPr/>
        </p:nvSpPr>
        <p:spPr>
          <a:xfrm>
            <a:off x="5594024" y="2036861"/>
            <a:ext cx="4031835" cy="2922480"/>
          </a:xfrm>
          <a:prstGeom prst="cloudCallout">
            <a:avLst>
              <a:gd name="adj1" fmla="val -67267"/>
              <a:gd name="adj2" fmla="val 2624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975"/>
          </a:p>
        </p:txBody>
      </p:sp>
      <p:pic>
        <p:nvPicPr>
          <p:cNvPr id="5" name="Picture 6" descr="地球のイラスト（惑星）">
            <a:extLst>
              <a:ext uri="{FF2B5EF4-FFF2-40B4-BE49-F238E27FC236}">
                <a16:creationId xmlns:a16="http://schemas.microsoft.com/office/drawing/2014/main" id="{DB48C7E6-35D1-D772-753D-1033825F1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067" y="3688865"/>
            <a:ext cx="1089361" cy="10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重力を発見したニュートンのイラスト">
            <a:extLst>
              <a:ext uri="{FF2B5EF4-FFF2-40B4-BE49-F238E27FC236}">
                <a16:creationId xmlns:a16="http://schemas.microsoft.com/office/drawing/2014/main" id="{3CD2C980-6F49-E023-A4A1-168A43E4B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027" y="4105730"/>
            <a:ext cx="1557975" cy="166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いろいろな木のイラスト「木の実」">
            <a:extLst>
              <a:ext uri="{FF2B5EF4-FFF2-40B4-BE49-F238E27FC236}">
                <a16:creationId xmlns:a16="http://schemas.microsoft.com/office/drawing/2014/main" id="{1954FA36-3B9F-51D5-141A-27A03FA91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4" y="1989988"/>
            <a:ext cx="3313111" cy="407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りんごのイラスト（フルーツ）">
            <a:extLst>
              <a:ext uri="{FF2B5EF4-FFF2-40B4-BE49-F238E27FC236}">
                <a16:creationId xmlns:a16="http://schemas.microsoft.com/office/drawing/2014/main" id="{57FCAA22-5397-AE7D-3E70-60680D2E9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285" y="3344343"/>
            <a:ext cx="388602" cy="40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りんごのイラスト（フルーツ）">
            <a:extLst>
              <a:ext uri="{FF2B5EF4-FFF2-40B4-BE49-F238E27FC236}">
                <a16:creationId xmlns:a16="http://schemas.microsoft.com/office/drawing/2014/main" id="{2C93997C-9F77-CAB9-B000-8B3F309BD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29" y="5443533"/>
            <a:ext cx="443308" cy="46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48F714F-20B8-774F-002D-091A426EFD53}"/>
              </a:ext>
            </a:extLst>
          </p:cNvPr>
          <p:cNvGrpSpPr/>
          <p:nvPr/>
        </p:nvGrpSpPr>
        <p:grpSpPr>
          <a:xfrm>
            <a:off x="4359097" y="3197129"/>
            <a:ext cx="691056" cy="1055519"/>
            <a:chOff x="5021061" y="2315584"/>
            <a:chExt cx="850531" cy="1299100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16F0D641-4C8B-4A0B-B850-39182554D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842035">
              <a:off x="5334386" y="2437184"/>
              <a:ext cx="537206" cy="1177500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ECE537D3-818D-0360-7364-225CFF988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506211">
              <a:off x="5021061" y="2315584"/>
              <a:ext cx="537207" cy="1177500"/>
            </a:xfrm>
            <a:prstGeom prst="rect">
              <a:avLst/>
            </a:prstGeom>
          </p:spPr>
        </p:pic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C62D5AD-D6A1-8CFC-CF47-0335A25B2839}"/>
              </a:ext>
            </a:extLst>
          </p:cNvPr>
          <p:cNvSpPr/>
          <p:nvPr/>
        </p:nvSpPr>
        <p:spPr>
          <a:xfrm>
            <a:off x="5189292" y="5207727"/>
            <a:ext cx="4589054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958D60B6-E2E0-AFF1-D7CA-62AD6A15C30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93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6824-59FC-EBBD-C846-E78E4BE1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B9D3B1-F4B6-60D9-B393-C86A2567C92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力の大きさの単位は，</a:t>
            </a:r>
            <a:r>
              <a:rPr lang="ja-JP" altLang="en-US" dirty="0">
                <a:solidFill>
                  <a:schemeClr val="accent6"/>
                </a:solidFill>
              </a:rPr>
              <a:t>ニュートン</a:t>
            </a:r>
            <a:r>
              <a:rPr lang="en-US" altLang="ja-JP" dirty="0">
                <a:solidFill>
                  <a:schemeClr val="accent6"/>
                </a:solidFill>
              </a:rPr>
              <a:t> [N]</a:t>
            </a:r>
            <a:r>
              <a:rPr lang="en-US" altLang="ja-JP" dirty="0"/>
              <a:t> </a:t>
            </a:r>
            <a:r>
              <a:rPr lang="ja-JP" altLang="en-US" dirty="0"/>
              <a:t>である．</a:t>
            </a:r>
            <a:endParaRPr lang="en-US" altLang="ja-JP" dirty="0"/>
          </a:p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dirty="0"/>
              <a:t>1 N</a:t>
            </a:r>
            <a:r>
              <a:rPr lang="ja-JP" altLang="en-US" dirty="0"/>
              <a:t>とは，</a:t>
            </a:r>
            <a:r>
              <a:rPr lang="en-US" altLang="ja-JP" dirty="0">
                <a:solidFill>
                  <a:schemeClr val="accent6"/>
                </a:solidFill>
              </a:rPr>
              <a:t>100 g</a:t>
            </a:r>
            <a:r>
              <a:rPr lang="ja-JP" altLang="en-US" dirty="0">
                <a:solidFill>
                  <a:schemeClr val="accent6"/>
                </a:solidFill>
              </a:rPr>
              <a:t>にはたらく力の大きさ</a:t>
            </a:r>
            <a:r>
              <a:rPr lang="ja-JP" altLang="en-US" dirty="0"/>
              <a:t>とほぼ等しい．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01B2540-CD12-70D2-E82E-26F9496A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力の大きさはニュートン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020424D9-3238-BAA1-B0DA-E2F456BA0B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36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310399-0C1C-1090-B38E-940AF595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0733D3-A68A-2AE2-DDB2-F90B02BC91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力の大きさの単位は，</a:t>
            </a:r>
            <a:r>
              <a:rPr lang="ja-JP" altLang="en-US" dirty="0">
                <a:solidFill>
                  <a:schemeClr val="accent6"/>
                </a:solidFill>
              </a:rPr>
              <a:t>ニュートン</a:t>
            </a:r>
            <a:r>
              <a:rPr lang="en-US" altLang="ja-JP" dirty="0">
                <a:solidFill>
                  <a:schemeClr val="accent6"/>
                </a:solidFill>
              </a:rPr>
              <a:t> [N]</a:t>
            </a:r>
            <a:r>
              <a:rPr lang="en-US" altLang="ja-JP" dirty="0"/>
              <a:t> </a:t>
            </a:r>
            <a:r>
              <a:rPr lang="ja-JP" altLang="en-US" dirty="0"/>
              <a:t>である．</a:t>
            </a:r>
            <a:endParaRPr lang="en-US" altLang="ja-JP" dirty="0"/>
          </a:p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dirty="0"/>
              <a:t>1 N</a:t>
            </a:r>
            <a:r>
              <a:rPr lang="ja-JP" altLang="en-US" dirty="0"/>
              <a:t>とは，</a:t>
            </a:r>
            <a:r>
              <a:rPr lang="en-US" altLang="ja-JP" dirty="0">
                <a:solidFill>
                  <a:schemeClr val="accent6"/>
                </a:solidFill>
              </a:rPr>
              <a:t>100 g</a:t>
            </a:r>
            <a:r>
              <a:rPr lang="ja-JP" altLang="en-US" dirty="0">
                <a:solidFill>
                  <a:schemeClr val="accent6"/>
                </a:solidFill>
              </a:rPr>
              <a:t>にはたらく力の大きさ</a:t>
            </a:r>
            <a:r>
              <a:rPr lang="ja-JP" altLang="en-US" dirty="0"/>
              <a:t>とほぼ等しい．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6DC687-DF81-7079-35EA-8516327C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力の大きさはニュートン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DBACED-4222-9B7A-2111-C24FE6F8BB7B}"/>
              </a:ext>
            </a:extLst>
          </p:cNvPr>
          <p:cNvSpPr/>
          <p:nvPr/>
        </p:nvSpPr>
        <p:spPr>
          <a:xfrm>
            <a:off x="7390710" y="1545053"/>
            <a:ext cx="2381939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267B269-8F43-A5EB-EE15-338E3C798095}"/>
              </a:ext>
            </a:extLst>
          </p:cNvPr>
          <p:cNvSpPr/>
          <p:nvPr/>
        </p:nvSpPr>
        <p:spPr>
          <a:xfrm>
            <a:off x="656535" y="2834544"/>
            <a:ext cx="2848665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0EC3559-A7DD-93BA-A091-6F6F048D9388}"/>
              </a:ext>
            </a:extLst>
          </p:cNvPr>
          <p:cNvSpPr/>
          <p:nvPr/>
        </p:nvSpPr>
        <p:spPr>
          <a:xfrm>
            <a:off x="656535" y="5352760"/>
            <a:ext cx="2848665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EE7F81F-2CA9-9967-5C6D-E3594BB57463}"/>
              </a:ext>
            </a:extLst>
          </p:cNvPr>
          <p:cNvSpPr/>
          <p:nvPr/>
        </p:nvSpPr>
        <p:spPr>
          <a:xfrm>
            <a:off x="3528667" y="4146701"/>
            <a:ext cx="6243982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C66907C6-AAE3-6A02-CA3B-4B486BC3D0F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75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9CA9F9-6433-9392-C23B-1A5C66BB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復習問題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C1604A-C13B-D54A-A69C-A1BC8D08C7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949202"/>
            <a:ext cx="3981450" cy="581025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ja-JP" altLang="en-US" sz="4000" dirty="0">
                <a:solidFill>
                  <a:schemeClr val="accent6"/>
                </a:solidFill>
              </a:rPr>
              <a:t>復習問題</a:t>
            </a:r>
            <a:r>
              <a:rPr lang="ja-JP" altLang="en-US" sz="4000" dirty="0"/>
              <a:t>です．</a:t>
            </a:r>
            <a:endParaRPr lang="en-US" altLang="ja-JP" sz="4000" dirty="0"/>
          </a:p>
          <a:p>
            <a:pPr>
              <a:lnSpc>
                <a:spcPct val="150000"/>
              </a:lnSpc>
            </a:pPr>
            <a:r>
              <a:rPr kumimoji="1" lang="ja-JP" altLang="en-US" sz="4000" dirty="0"/>
              <a:t>右の</a:t>
            </a:r>
            <a:r>
              <a:rPr kumimoji="1" lang="en-US" altLang="ja-JP" sz="4000" dirty="0"/>
              <a:t>QR</a:t>
            </a:r>
            <a:r>
              <a:rPr kumimoji="1" lang="ja-JP" altLang="en-US" sz="4000" dirty="0"/>
              <a:t>コードから各自回答して下さい．</a:t>
            </a:r>
            <a:endParaRPr kumimoji="1" lang="en-US" altLang="ja-JP" sz="4000" dirty="0"/>
          </a:p>
          <a:p>
            <a:pPr>
              <a:lnSpc>
                <a:spcPct val="150000"/>
              </a:lnSpc>
            </a:pPr>
            <a:r>
              <a:rPr lang="ja-JP" altLang="en-US" sz="4000" dirty="0"/>
              <a:t>制限時間：</a:t>
            </a:r>
            <a:r>
              <a:rPr lang="en-US" altLang="ja-JP" sz="4000" dirty="0">
                <a:solidFill>
                  <a:schemeClr val="accent6"/>
                </a:solidFill>
              </a:rPr>
              <a:t>3</a:t>
            </a:r>
            <a:r>
              <a:rPr lang="ja-JP" altLang="en-US" sz="4000" dirty="0">
                <a:solidFill>
                  <a:schemeClr val="accent6"/>
                </a:solidFill>
              </a:rPr>
              <a:t>分</a:t>
            </a:r>
            <a:endParaRPr kumimoji="1" lang="ja-JP" altLang="en-US" sz="4000" dirty="0">
              <a:solidFill>
                <a:schemeClr val="accent6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B53A804-53B1-09E9-C5B1-2DFC4A27D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949202"/>
            <a:ext cx="5810250" cy="5810250"/>
          </a:xfrm>
          <a:prstGeom prst="rect">
            <a:avLst/>
          </a:prstGeom>
        </p:spPr>
      </p:pic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C526AB21-CDBE-723C-E6B4-41719C26DC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08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8" name="アドイン 7" title="Forms">
                <a:extLst>
                  <a:ext uri="{FF2B5EF4-FFF2-40B4-BE49-F238E27FC236}">
                    <a16:creationId xmlns:a16="http://schemas.microsoft.com/office/drawing/2014/main" id="{F8F73D6C-79DD-65BD-4815-1E41D7B431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0184641"/>
                  </p:ext>
                </p:extLst>
              </p:nvPr>
            </p:nvGraphicFramePr>
            <p:xfrm>
              <a:off x="0" y="719689"/>
              <a:ext cx="9906000" cy="613830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アドイン 7" title="Forms">
                <a:extLst>
                  <a:ext uri="{FF2B5EF4-FFF2-40B4-BE49-F238E27FC236}">
                    <a16:creationId xmlns:a16="http://schemas.microsoft.com/office/drawing/2014/main" id="{F8F73D6C-79DD-65BD-4815-1E41D7B431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19689"/>
                <a:ext cx="9906000" cy="613830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タイトル 2">
            <a:extLst>
              <a:ext uri="{FF2B5EF4-FFF2-40B4-BE49-F238E27FC236}">
                <a16:creationId xmlns:a16="http://schemas.microsoft.com/office/drawing/2014/main" id="{931F278A-083E-E33F-2A1E-7CE1BB1C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00B0F0"/>
                </a:solidFill>
              </a:rPr>
              <a:t>復習問題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96E8F23B-DE77-704A-DE77-6574159D875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43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6E2CB-6D82-C235-A296-125CEF3A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FF4496C-AF1B-F982-FC65-B2C55CA444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0"/>
            <a:ext cx="9906000" cy="3671381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力は</a:t>
            </a:r>
            <a:r>
              <a:rPr lang="ja-JP" altLang="en-US" dirty="0">
                <a:solidFill>
                  <a:schemeClr val="accent6"/>
                </a:solidFill>
              </a:rPr>
              <a:t>物体に</a:t>
            </a:r>
            <a:r>
              <a:rPr lang="ja-JP" altLang="en-US" dirty="0"/>
              <a:t>どのような「はたらき」をするか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CF836CA-D3D9-AC89-B8BF-AC98D7D4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77F6E2-CDEA-4B95-FE36-EC76CEA8C0FC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形を変える，動きを変える，支える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1E7BDEE4-5FB2-69CE-56D9-237AAF4DAB8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81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15B3E7-53AA-3694-C8DA-25504723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FB73566-D7DE-9261-6D17-C841052944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0"/>
            <a:ext cx="9906000" cy="3671381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力は</a:t>
            </a:r>
            <a:r>
              <a:rPr lang="ja-JP" altLang="en-US" dirty="0">
                <a:solidFill>
                  <a:schemeClr val="accent6"/>
                </a:solidFill>
              </a:rPr>
              <a:t>物体に</a:t>
            </a:r>
            <a:r>
              <a:rPr lang="ja-JP" altLang="en-US" dirty="0"/>
              <a:t>どのような「はたらき」をするか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88CA45B-E4D3-AAD8-FA77-A2230BE3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818A4D-EBF1-CCDE-B560-3CCCB95139FD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形を変える，動きを変える，支える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8C7FD77F-D270-A6CD-D387-8264788BBF6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449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2201AE-5347-F310-E341-44DD4E8F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C5B1C1-10BD-6406-81F8-AAAB0D1AF29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0"/>
            <a:ext cx="9906000" cy="3671381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力は</a:t>
            </a:r>
            <a:r>
              <a:rPr lang="ja-JP" altLang="en-US" dirty="0">
                <a:solidFill>
                  <a:schemeClr val="accent6"/>
                </a:solidFill>
              </a:rPr>
              <a:t>物体に</a:t>
            </a:r>
            <a:r>
              <a:rPr lang="ja-JP" altLang="en-US" dirty="0"/>
              <a:t>どのような「はたらき」をするか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424ABEC-82C2-ADAD-26DB-962B5354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0F72929-CE63-0F21-0DEE-AB3FF45C1A54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B16BA043-556D-2703-FFE5-085EB4A6F66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12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5046-2805-D4B9-346E-0C5BC9CF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7BE23CD-C740-DD45-8B53-A7BDA3A592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1"/>
            <a:ext cx="9906000" cy="3671381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>
                <a:solidFill>
                  <a:schemeClr val="accent6"/>
                </a:solidFill>
              </a:rPr>
              <a:t>物体間の接触以外</a:t>
            </a:r>
            <a:r>
              <a:rPr lang="ja-JP" altLang="en-US" dirty="0"/>
              <a:t>で力が「はたらく」ことはあるか答えよ．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F592285-7EDE-8E3B-1365-3C10BDF2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E25DBB1-8E2D-0F96-9353-5C6BBBC12B0B}"/>
              </a:ext>
            </a:extLst>
          </p:cNvPr>
          <p:cNvSpPr/>
          <p:nvPr/>
        </p:nvSpPr>
        <p:spPr>
          <a:xfrm>
            <a:off x="731221" y="4866512"/>
            <a:ext cx="8443555" cy="10884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ある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0A92517E-343A-B7FB-2372-26C8F539E46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0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FA7430-D8C1-EE37-BC2F-5B7D5EE0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01EC4D1-B802-A1C9-4852-289E022820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1"/>
            <a:ext cx="9906000" cy="3671381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>
                <a:solidFill>
                  <a:schemeClr val="accent6"/>
                </a:solidFill>
              </a:rPr>
              <a:t>物体間の接触以外</a:t>
            </a:r>
            <a:r>
              <a:rPr lang="ja-JP" altLang="en-US" dirty="0"/>
              <a:t>で力が「はたらく」ことはあるか答えよ．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08AE4F9-9A33-A3EF-5323-98A72D98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4702858-EAD3-2E5E-5350-B7E4EC966E55}"/>
              </a:ext>
            </a:extLst>
          </p:cNvPr>
          <p:cNvSpPr/>
          <p:nvPr/>
        </p:nvSpPr>
        <p:spPr>
          <a:xfrm>
            <a:off x="731221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ある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463E44D7-6C60-B807-C718-A0CABE8A28B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772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43CA5C-DE73-E659-FB9B-8390CBD4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78AA827-2C9C-EF98-6167-BA17AE4B26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1"/>
            <a:ext cx="9906000" cy="3671381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>
                <a:solidFill>
                  <a:schemeClr val="accent6"/>
                </a:solidFill>
              </a:rPr>
              <a:t>物体間の接触以外</a:t>
            </a:r>
            <a:r>
              <a:rPr lang="ja-JP" altLang="en-US" dirty="0"/>
              <a:t>で力が「はたらく」ことはあるか答えよ．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718ABCB-4AE2-566D-C96E-159C0138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DAAA020-1119-6E27-A954-172C1F5A91C8}"/>
              </a:ext>
            </a:extLst>
          </p:cNvPr>
          <p:cNvSpPr/>
          <p:nvPr/>
        </p:nvSpPr>
        <p:spPr>
          <a:xfrm>
            <a:off x="731221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16783E5F-C012-1B2C-7E2F-36D2457B3E6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088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3BCD-D41A-8425-766A-25EA8FD6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6CA286C-D650-AD9B-1655-8E429B2323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713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接触しなくともはたらく</a:t>
            </a:r>
            <a:r>
              <a:rPr lang="ja-JP" altLang="en-US" dirty="0">
                <a:solidFill>
                  <a:schemeClr val="accent6"/>
                </a:solidFill>
              </a:rPr>
              <a:t>具体的な力</a:t>
            </a:r>
            <a:r>
              <a:rPr lang="ja-JP" altLang="en-US" dirty="0"/>
              <a:t>は何か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C834C0-777C-883B-48BB-78D4EC79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941E8F8-CF02-D527-54E7-1E90DC16A1CF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万有引力（重力），静電気力，磁力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E48F288B-D56B-0B74-E4E2-084C753ACB6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85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AC1B19-FF31-1656-751F-EB62A74B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F197B4E-54EF-4770-7B96-D076339B260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713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接触しなくともはたらく</a:t>
            </a:r>
            <a:r>
              <a:rPr lang="ja-JP" altLang="en-US" dirty="0">
                <a:solidFill>
                  <a:schemeClr val="accent6"/>
                </a:solidFill>
              </a:rPr>
              <a:t>具体的な力</a:t>
            </a:r>
            <a:r>
              <a:rPr lang="ja-JP" altLang="en-US" dirty="0"/>
              <a:t>は何か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2EE0185-3338-AEC7-C09F-A4141AC7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F43A06-4B67-A3A7-225F-D57C0CB76788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万有引力（重力），静電気力，磁力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7D16E957-10DB-8B88-9EF6-B30A4AA531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950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4C4137-0DE9-0236-E72A-5AE086C4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4A796C2-6D89-F075-6699-DF4FB0BE95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713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接触しなくともはたらく</a:t>
            </a:r>
            <a:r>
              <a:rPr lang="ja-JP" altLang="en-US" dirty="0">
                <a:solidFill>
                  <a:schemeClr val="accent6"/>
                </a:solidFill>
              </a:rPr>
              <a:t>具体的な力</a:t>
            </a:r>
            <a:r>
              <a:rPr lang="ja-JP" altLang="en-US" dirty="0"/>
              <a:t>は何か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CA510D1-5193-64C4-C68C-F6A8555B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AF9F9F5-A129-8157-23FC-783E7B9A83E5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091CE9CB-3E24-F913-E5C2-8C21D3F3701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92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EAC1-DF7A-8291-13E8-501837A2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AAF524-0F41-297F-2316-786C7B756C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713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力がつり合うときの</a:t>
            </a:r>
            <a:r>
              <a:rPr lang="en-US" altLang="ja-JP" dirty="0">
                <a:solidFill>
                  <a:schemeClr val="accent6"/>
                </a:solidFill>
              </a:rPr>
              <a:t>2</a:t>
            </a:r>
            <a:r>
              <a:rPr lang="ja-JP" altLang="en-US" dirty="0">
                <a:solidFill>
                  <a:schemeClr val="accent6"/>
                </a:solidFill>
              </a:rPr>
              <a:t>力の関係</a:t>
            </a:r>
            <a:r>
              <a:rPr lang="ja-JP" altLang="en-US" dirty="0"/>
              <a:t>を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C3EEEC5-9228-BE6E-21AC-39D9779C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19A914-E66B-EEA6-4C42-1D8AA1C2C6EB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一直線上，逆向き，大きさが等しい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B07B8AD4-76C8-FD8A-AA3D-26AE5F0879E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01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5C61A4-3E3A-386D-BEBD-5040A56E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E4A7A4-DE8A-0E9C-00BD-EB7BB48022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713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力がつり合うときの</a:t>
            </a:r>
            <a:r>
              <a:rPr lang="en-US" altLang="ja-JP" dirty="0">
                <a:solidFill>
                  <a:schemeClr val="accent6"/>
                </a:solidFill>
              </a:rPr>
              <a:t>2</a:t>
            </a:r>
            <a:r>
              <a:rPr lang="ja-JP" altLang="en-US" dirty="0">
                <a:solidFill>
                  <a:schemeClr val="accent6"/>
                </a:solidFill>
              </a:rPr>
              <a:t>力の関係</a:t>
            </a:r>
            <a:r>
              <a:rPr lang="ja-JP" altLang="en-US" dirty="0"/>
              <a:t>を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ADBAA52-4F44-DB3D-9C74-2AC8DBF0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78B72A-A8DC-F0A1-A59D-029795890DDB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一直線上，逆向き，大きさが等しい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428C2ED9-EF2C-C0CA-1ABC-FD0F318AF91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152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0530F6-F0F9-08A1-3105-2DF9A6E9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F887A4-4588-6A00-06A3-BFDE559963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71380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力がつり合うときの</a:t>
            </a:r>
            <a:r>
              <a:rPr lang="en-US" altLang="ja-JP" dirty="0">
                <a:solidFill>
                  <a:schemeClr val="accent6"/>
                </a:solidFill>
              </a:rPr>
              <a:t>2</a:t>
            </a:r>
            <a:r>
              <a:rPr lang="ja-JP" altLang="en-US" dirty="0">
                <a:solidFill>
                  <a:schemeClr val="accent6"/>
                </a:solidFill>
              </a:rPr>
              <a:t>力の関係</a:t>
            </a:r>
            <a:r>
              <a:rPr lang="ja-JP" altLang="en-US" dirty="0"/>
              <a:t>を</a:t>
            </a:r>
            <a:r>
              <a:rPr lang="en-US" altLang="ja-JP" dirty="0"/>
              <a:t>1</a:t>
            </a:r>
            <a:r>
              <a:rPr lang="ja-JP" altLang="en-US" dirty="0"/>
              <a:t>つ答えよ．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C97BD3C-C23B-9A13-5100-1C8C7F08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81F57A9-A391-BCC5-95B3-06FCBC45789B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9F2E0F33-5A8C-07CD-FC42-0C45BDFC5BA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874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2EDF-708F-E68C-81F3-01AA3BEA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FC14AA-7DD2-3A89-002A-384D71C907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6630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ガリレオ・ガリレイは「</a:t>
            </a:r>
            <a:r>
              <a:rPr lang="ja-JP" altLang="en-US" dirty="0">
                <a:solidFill>
                  <a:schemeClr val="accent6"/>
                </a:solidFill>
              </a:rPr>
              <a:t>科学の言語は〇〇である</a:t>
            </a:r>
            <a:r>
              <a:rPr lang="ja-JP" altLang="en-US" dirty="0"/>
              <a:t>」と言った．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C5A226B-0B49-2C41-6F13-B62B053A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11859EB-305B-AB0B-F9C8-5A13A69A0AA2}"/>
              </a:ext>
            </a:extLst>
          </p:cNvPr>
          <p:cNvSpPr/>
          <p:nvPr/>
        </p:nvSpPr>
        <p:spPr>
          <a:xfrm>
            <a:off x="731222" y="4861434"/>
            <a:ext cx="8443555" cy="10884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数学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FC746A58-584B-F83F-3F90-82685D4CEFD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653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26C17E-9731-C697-389A-9B19FC19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DC1B33-A731-4949-D813-10C1F01EB2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6630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ガリレオ・ガリレイは「</a:t>
            </a:r>
            <a:r>
              <a:rPr lang="ja-JP" altLang="en-US" dirty="0">
                <a:solidFill>
                  <a:schemeClr val="accent6"/>
                </a:solidFill>
              </a:rPr>
              <a:t>科学の言語は〇〇である</a:t>
            </a:r>
            <a:r>
              <a:rPr lang="ja-JP" altLang="en-US" dirty="0"/>
              <a:t>」と言った．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AD2B1C4-D38D-8302-FD11-75D381AA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148F15A-F4A6-CB09-3219-1606EDF9C056}"/>
              </a:ext>
            </a:extLst>
          </p:cNvPr>
          <p:cNvSpPr/>
          <p:nvPr/>
        </p:nvSpPr>
        <p:spPr>
          <a:xfrm>
            <a:off x="731222" y="4861434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数学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5508A9A8-C16D-F420-5CC0-79AE43F6601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686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286785-B52E-01FC-C631-355351AE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814B39-D467-997A-CCFB-AEDFD39B18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195132"/>
            <a:ext cx="9906000" cy="366630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ガリレオ・ガリレイは「</a:t>
            </a:r>
            <a:r>
              <a:rPr lang="ja-JP" altLang="en-US" dirty="0">
                <a:solidFill>
                  <a:schemeClr val="accent6"/>
                </a:solidFill>
              </a:rPr>
              <a:t>科学の言語は〇〇である</a:t>
            </a:r>
            <a:r>
              <a:rPr lang="ja-JP" altLang="en-US" dirty="0"/>
              <a:t>」と言った．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7CF9CB-0F42-70C5-B532-6294A466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復習課題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4982870-B85A-C3C3-9D00-A874C533D4DF}"/>
              </a:ext>
            </a:extLst>
          </p:cNvPr>
          <p:cNvSpPr/>
          <p:nvPr/>
        </p:nvSpPr>
        <p:spPr>
          <a:xfrm>
            <a:off x="731222" y="4861434"/>
            <a:ext cx="8443555" cy="1088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</a:rPr>
              <a:t>解答</a:t>
            </a:r>
          </a:p>
          <a:p>
            <a:pPr algn="ctr"/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9C2BD112-42FE-4DBF-B9DE-182BDB73AA4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309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7456CC-D1CF-9213-2078-5A9F451ED24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3600" dirty="0"/>
              <a:t>力には物体に対して，</a:t>
            </a:r>
            <a:r>
              <a:rPr lang="ja-JP" altLang="en-US" sz="3600" dirty="0">
                <a:solidFill>
                  <a:schemeClr val="accent6"/>
                </a:solidFill>
              </a:rPr>
              <a:t>形</a:t>
            </a:r>
            <a:r>
              <a:rPr lang="ja-JP" altLang="en-US" sz="3600" dirty="0"/>
              <a:t>を変える，</a:t>
            </a:r>
            <a:r>
              <a:rPr lang="ja-JP" altLang="en-US" sz="3600" dirty="0">
                <a:solidFill>
                  <a:schemeClr val="accent6"/>
                </a:solidFill>
              </a:rPr>
              <a:t>動き</a:t>
            </a:r>
            <a:r>
              <a:rPr lang="ja-JP" altLang="en-US" sz="3600" dirty="0"/>
              <a:t>を変える，</a:t>
            </a:r>
            <a:r>
              <a:rPr lang="ja-JP" altLang="en-US" sz="3600" dirty="0">
                <a:solidFill>
                  <a:schemeClr val="accent6"/>
                </a:solidFill>
              </a:rPr>
              <a:t>支える</a:t>
            </a:r>
            <a:r>
              <a:rPr lang="ja-JP" altLang="en-US" sz="3600" dirty="0"/>
              <a:t>という性質を持つ．</a:t>
            </a:r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3600" dirty="0"/>
              <a:t>力は物体全体を代表として</a:t>
            </a:r>
            <a:r>
              <a:rPr lang="en-US" altLang="ja-JP" sz="3600" dirty="0">
                <a:solidFill>
                  <a:schemeClr val="accent6"/>
                </a:solidFill>
              </a:rPr>
              <a:t>1</a:t>
            </a:r>
            <a:r>
              <a:rPr lang="ja-JP" altLang="en-US" sz="3600" dirty="0">
                <a:solidFill>
                  <a:schemeClr val="accent6"/>
                </a:solidFill>
              </a:rPr>
              <a:t>点に力がはたらいている</a:t>
            </a:r>
            <a:r>
              <a:rPr lang="ja-JP" altLang="en-US" sz="3600" dirty="0"/>
              <a:t>と考え，</a:t>
            </a:r>
            <a:r>
              <a:rPr lang="ja-JP" altLang="en-US" sz="3600" dirty="0">
                <a:solidFill>
                  <a:schemeClr val="accent6"/>
                </a:solidFill>
              </a:rPr>
              <a:t>矢印</a:t>
            </a:r>
            <a:r>
              <a:rPr lang="ja-JP" altLang="en-US" sz="3600" dirty="0"/>
              <a:t>で表現する．</a:t>
            </a:r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3600" dirty="0"/>
              <a:t>力のつり合いの条件として</a:t>
            </a:r>
            <a:r>
              <a:rPr lang="en-US" altLang="ja-JP" sz="3600" dirty="0"/>
              <a:t>2</a:t>
            </a:r>
            <a:r>
              <a:rPr lang="ja-JP" altLang="en-US" sz="3600" dirty="0"/>
              <a:t>力の大きさが</a:t>
            </a:r>
            <a:r>
              <a:rPr lang="ja-JP" altLang="en-US" sz="3600" dirty="0">
                <a:solidFill>
                  <a:schemeClr val="accent6"/>
                </a:solidFill>
              </a:rPr>
              <a:t>等しい</a:t>
            </a:r>
            <a:r>
              <a:rPr lang="ja-JP" altLang="en-US" sz="3600" dirty="0"/>
              <a:t>，向きが</a:t>
            </a:r>
            <a:r>
              <a:rPr lang="ja-JP" altLang="en-US" sz="3600" dirty="0">
                <a:solidFill>
                  <a:schemeClr val="accent6"/>
                </a:solidFill>
              </a:rPr>
              <a:t>逆</a:t>
            </a:r>
            <a:r>
              <a:rPr lang="ja-JP" altLang="en-US" sz="3600" dirty="0"/>
              <a:t>，</a:t>
            </a:r>
            <a:r>
              <a:rPr lang="ja-JP" altLang="en-US" sz="3600" dirty="0">
                <a:solidFill>
                  <a:schemeClr val="accent6"/>
                </a:solidFill>
              </a:rPr>
              <a:t>一直線上</a:t>
            </a:r>
            <a:r>
              <a:rPr lang="ja-JP" altLang="en-US" sz="3600" dirty="0"/>
              <a:t>である．</a:t>
            </a:r>
          </a:p>
          <a:p>
            <a:pPr marL="696551" indent="-696551">
              <a:buFont typeface="Arial" panose="020B0604020202020204" pitchFamily="34" charset="0"/>
              <a:buChar char="•"/>
            </a:pPr>
            <a:r>
              <a:rPr lang="ja-JP" altLang="en-US" sz="3600" dirty="0"/>
              <a:t>力の大きさの単位は，</a:t>
            </a:r>
            <a:r>
              <a:rPr lang="ja-JP" altLang="en-US" sz="3600" dirty="0">
                <a:solidFill>
                  <a:schemeClr val="accent6"/>
                </a:solidFill>
              </a:rPr>
              <a:t>ニュートン</a:t>
            </a:r>
            <a:r>
              <a:rPr lang="en-US" altLang="ja-JP" sz="3600" dirty="0">
                <a:solidFill>
                  <a:schemeClr val="accent6"/>
                </a:solidFill>
              </a:rPr>
              <a:t> [N]</a:t>
            </a:r>
            <a:r>
              <a:rPr lang="en-US" altLang="ja-JP" sz="3600" dirty="0"/>
              <a:t> </a:t>
            </a:r>
            <a:r>
              <a:rPr lang="ja-JP" altLang="en-US" sz="3600" dirty="0"/>
              <a:t>である．</a:t>
            </a:r>
            <a:endParaRPr lang="en-US" altLang="ja-JP" sz="36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DE1B5AB-42D8-D0AA-AE7C-DE3BEAE8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kumimoji="1" lang="ja-JP" altLang="en-US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741410EF-0578-D246-E66C-1B19D61EB9F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2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ED36A1-C554-FBF0-A8F1-8020EE29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終</a:t>
            </a:r>
          </a:p>
        </p:txBody>
      </p:sp>
    </p:spTree>
    <p:extLst>
      <p:ext uri="{BB962C8B-B14F-4D97-AF65-F5344CB8AC3E}">
        <p14:creationId xmlns:p14="http://schemas.microsoft.com/office/powerpoint/2010/main" val="69860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V1">
      <a:majorFont>
        <a:latin typeface="Pretendard JP Medium"/>
        <a:ea typeface="ヒカリ角ゴ Normal Medium"/>
        <a:cs typeface=""/>
      </a:majorFont>
      <a:minorFont>
        <a:latin typeface="Pretendard JP Black"/>
        <a:ea typeface="ヒカリ角ゴ Normal Heavy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0280F33B-D706-4565-98F8-51DFD03F8C13}" vid="{D7991047-7DB5-4FC6-B505-CACDAF3623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7B30CD90-E775-4340-9948-1E20F380F86F}">
  <we:reference id="wa104381526" version="1.0.0.2" store="ja-JP" storeType="OMEX"/>
  <we:alternateReferences>
    <we:reference id="WA104381526" version="1.0.0.2" store="WA104381526" storeType="OMEX"/>
  </we:alternateReferences>
  <we:properties>
    <we:property name="FormID" value="&quot;nRkAosEjxEmgSwxl_i0fIOjLR-mPRGJFqaFmWKzSWiFUMzcyS1VPVzA2QzNMTUEzR1hDS1hIQ0ZMTi4u&quot;"/>
    <we:property name="FormMode" value="&quot;DesignTim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Props1.xml><?xml version="1.0" encoding="utf-8"?>
<ds:datastoreItem xmlns:ds="http://schemas.openxmlformats.org/officeDocument/2006/customXml" ds:itemID="{E556F4D6-31A5-4692-BD03-E6D6534FF5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12A431-86F1-4D8E-AC27-86C6F4A4DCAA}">
  <ds:schemaRefs>
    <ds:schemaRef ds:uri="4952ab04-0ae3-4d00-bda6-702fdc5fffab"/>
    <ds:schemaRef ds:uri="a9997899-e6ea-448c-9370-6665c1cb1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BCF84E-3EFE-4EC9-AB6C-7D53083CF2F0}">
  <ds:schemaRefs>
    <ds:schemaRef ds:uri="4952ab04-0ae3-4d00-bda6-702fdc5fffab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a9997899-e6ea-448c-9370-6665c1cb1ca9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2028</TotalTime>
  <Words>675</Words>
  <Application>Microsoft Office PowerPoint</Application>
  <PresentationFormat>A4 210 x 297 mm</PresentationFormat>
  <Paragraphs>115</Paragraphs>
  <Slides>27</Slides>
  <Notes>0</Notes>
  <HiddenSlides>15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游ゴシック</vt:lpstr>
      <vt:lpstr>Arial</vt:lpstr>
      <vt:lpstr>Wingdings</vt:lpstr>
      <vt:lpstr>Template</vt:lpstr>
      <vt:lpstr>アイザック・ニュートン （A.Ｄ. 1642-1727年）</vt:lpstr>
      <vt:lpstr>アイザック・ニュートン （A.Ｄ. 1642-1727年）</vt:lpstr>
      <vt:lpstr>リンゴが木から落ちる</vt:lpstr>
      <vt:lpstr>リンゴが木から落ちる</vt:lpstr>
      <vt:lpstr>リンゴが木から落ちる</vt:lpstr>
      <vt:lpstr>リンゴが木から落ちる</vt:lpstr>
      <vt:lpstr>力の大きさはニュートン</vt:lpstr>
      <vt:lpstr>力の大きさはニュートン</vt:lpstr>
      <vt:lpstr>復習問題</vt:lpstr>
      <vt:lpstr>復習問題</vt:lpstr>
      <vt:lpstr>復習課題1</vt:lpstr>
      <vt:lpstr>復習課題1</vt:lpstr>
      <vt:lpstr>復習課題1</vt:lpstr>
      <vt:lpstr>復習課題2</vt:lpstr>
      <vt:lpstr>復習課題2</vt:lpstr>
      <vt:lpstr>復習課題2</vt:lpstr>
      <vt:lpstr>復習課題3</vt:lpstr>
      <vt:lpstr>復習課題3</vt:lpstr>
      <vt:lpstr>復習課題3</vt:lpstr>
      <vt:lpstr>復習課題4</vt:lpstr>
      <vt:lpstr>復習課題4</vt:lpstr>
      <vt:lpstr>復習課題4</vt:lpstr>
      <vt:lpstr>復習課題5</vt:lpstr>
      <vt:lpstr>復習課題5</vt:lpstr>
      <vt:lpstr>復習課題5</vt:lpstr>
      <vt:lpstr>まとめ</vt:lpstr>
      <vt:lpstr>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Hojicya</cp:lastModifiedBy>
  <cp:revision>139</cp:revision>
  <cp:lastPrinted>2025-07-26T19:55:07Z</cp:lastPrinted>
  <dcterms:created xsi:type="dcterms:W3CDTF">2025-07-12T17:38:21Z</dcterms:created>
  <dcterms:modified xsi:type="dcterms:W3CDTF">2025-08-08T19:53:12Z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